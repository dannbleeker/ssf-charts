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</p:sldIdLst>
  <p:notesMasterIdLst>
    <p:notesMasterId r:id="rId125"/>
  </p:notesMasterIdLst>
  <p:sldSz cx="12192000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notesMaster" Target="notesMasters/notesMaster1.xml"/><Relationship Id="rId126" Type="http://schemas.openxmlformats.org/officeDocument/2006/relationships/presProps" Target="presProps.xml"/><Relationship Id="rId127" Type="http://schemas.openxmlformats.org/officeDocument/2006/relationships/viewProps" Target="viewProps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tags" Target="../tags/tag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tags" Target="../tags/tag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tags" Target="../tags/tag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tags" Target="../tags/tag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tags" Target="../tags/tag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tags" Target="../tags/tag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tags" Target="../tags/tag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tags" Target="../tags/tag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tags" Target="../tags/tag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tags" Target="../tags/tag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tags" Target="../tags/tag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tags" Target="../tags/tag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tags" Target="../tags/tag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tags" Target="../tags/tag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tags" Target="../tags/tag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tags" Target="../tags/tag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tags" Target="../tags/tag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tags" Target="../tags/tag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tags" Target="../tags/tag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tags" Target="../tags/tag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tags" Target="../tags/tag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tags" Target="../tags/tag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tags" Target="../tags/tag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tags" Target="../tags/tag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tags" Target="../tags/tag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tags" Target="../tags/tag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tags" Target="../tags/tag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tags" Target="../tags/tag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tags" Target="../tags/tag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tags" Target="../tags/tag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tags" Target="../tags/tag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tags" Target="../tags/tag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tags" Target="../tags/tag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tags" Target="../tags/tag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tags" Target="../tags/tag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tags" Target="../tags/tag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tags" Target="../tags/tag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tags" Target="../tags/tag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tags" Target="../tags/tag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tags" Target="../tags/tag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tags" Target="../tags/tag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tags" Target="../tags/tag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tags" Target="../tags/tag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tags" Target="../tags/tag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tags" Target="../tags/tag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tags" Target="../tags/tag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tags" Target="../tags/tag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tags" Target="../tags/tag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tags" Target="../tags/tag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tags" Target="../tags/tag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tags" Target="../tags/tag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tags" Target="../tags/tag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tags" Target="../tags/tag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tags" Target="../tags/tag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tags" Target="../tags/tag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tags" Target="../tags/tag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tags" Target="../tags/tag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tags" Target="../tags/tag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tags" Target="../tags/tag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tags" Target="../tags/tag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tags" Target="../tags/tag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tags" Target="../tags/tag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tags" Target="../tags/tag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tags" Target="../tags/tag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tags" Target="../tags/tag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tags" Target="../tags/tag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tags" Target="../tags/tag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tags" Target="../tags/tag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tags" Target="../tags/tag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tags" Target="../tags/tag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tags" Target="../tags/tag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tags" Target="../tags/tag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tags" Target="../tags/tag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tags" Target="../tags/tag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tags" Target="../tags/tag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tags" Target="../tags/tag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tags" Target="../tags/tag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tags" Target="../tags/tag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tags" Target="../tags/tag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tags" Target="../tags/tag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tags" Target="../tags/tag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tags" Target="../tags/tag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tags" Target="../tags/tag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tags" Target="../tags/tag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tags" Target="../tags/tag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tags" Target="../tags/tag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tags" Target="../tags/tag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3" Type="http://schemas.openxmlformats.org/officeDocument/2006/relationships/tags" Target="../tags/tag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tags" Target="../tags/tag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Relationship Id="rId4" Type="http://schemas.openxmlformats.org/officeDocument/2006/relationships/tags" Target="../tags/tag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tags" Target="../tags/tag1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PowerChart" descr="stacked column chart. 3 data series: Enterprise, SMB, Consumer. 4 categories: 2022, 2023, 2024, 2025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Stacked — Revenue by segment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686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40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9594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89148" y="4411641"/>
              <a:ext cx="863600" cy="69375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38348" y="4663271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89148" y="3962739"/>
              <a:ext cx="863600" cy="44890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38348" y="40919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89148" y="3595455"/>
              <a:ext cx="863600" cy="36728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238348" y="368384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73248" y="3411305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84548" y="4289213"/>
              <a:ext cx="863600" cy="81618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533748" y="460205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84548" y="3758692"/>
              <a:ext cx="863600" cy="53052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533748" y="3928703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84548" y="3411813"/>
              <a:ext cx="863600" cy="34687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533748" y="349000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368648" y="322766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879948" y="4146381"/>
              <a:ext cx="863600" cy="95901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29148" y="45306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879948" y="3513836"/>
              <a:ext cx="863600" cy="63254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829148" y="3734858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879948" y="3126147"/>
              <a:ext cx="863600" cy="38768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829148" y="322474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664048" y="2941997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175348" y="3962739"/>
              <a:ext cx="863600" cy="1142661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7124548" y="4438819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175348" y="3248575"/>
              <a:ext cx="863600" cy="71416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124548" y="351040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175348" y="2799673"/>
              <a:ext cx="863600" cy="44890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7124548" y="2928874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959448" y="261552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113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073248" y="51054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8305648" y="2938399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305648" y="3519932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305648" y="4448344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 flipV="1">
              <a:off x="3720948" y="2405973"/>
              <a:ext cx="3886200" cy="795782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 rot="4680000">
              <a:off x="7481438" y="2355211"/>
              <a:ext cx="127000" cy="127000"/>
            </a:xfrm>
            <a:prstGeom prst="triangle">
              <a:avLst/>
            </a:prstGeom>
            <a:solidFill>
              <a:srgbClr val="0B0B0B"/>
            </a:solidFill>
            <a:ln/>
          </p:spPr>
        </p:sp>
        <p:sp>
          <p:nvSpPr>
            <p:cNvPr id="41" name="Text 39"/>
            <p:cNvSpPr/>
            <p:nvPr/>
          </p:nvSpPr>
          <p:spPr>
            <a:xfrm>
              <a:off x="5092548" y="2202773"/>
              <a:ext cx="1143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+15.2% p.a.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PowerChart" descr="clustered column chart. 2 data series: 2024, 2025. 4 categories: Q1, Q2, Q3, Q4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Clustered — Sales by quarter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7151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86978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26805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312643" y="3425190"/>
              <a:ext cx="453390" cy="168021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3261843" y="4170045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778733" y="3065145"/>
              <a:ext cx="453390" cy="204025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727933" y="3990023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710913" y="3185160"/>
              <a:ext cx="453390" cy="192024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4660113" y="4050030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177003" y="2905125"/>
              <a:ext cx="453390" cy="220027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5126203" y="3910013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109183" y="3305175"/>
              <a:ext cx="453390" cy="180022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6058383" y="4110038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575273" y="2785110"/>
              <a:ext cx="453390" cy="232029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524473" y="3850005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507453" y="2665095"/>
              <a:ext cx="453390" cy="244030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7456653" y="3789998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7973543" y="2305050"/>
              <a:ext cx="453390" cy="280035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7922743" y="3609975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073248" y="5105400"/>
              <a:ext cx="55930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8717128" y="3619500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717128" y="3799523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PowerChart" descr="100% stacked column chart. 3 data series: Retail, Online, Wholesale. 4 categories: 2022, 2023, 2024, 2025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100% — Channel mix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1254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85793" y="5143500"/>
              <a:ext cx="131254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98338" y="5143500"/>
              <a:ext cx="131254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010883" y="5143500"/>
              <a:ext cx="131254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92005" y="3345180"/>
              <a:ext cx="875030" cy="17602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41205" y="4130040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55%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92005" y="2385060"/>
              <a:ext cx="875030" cy="96012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41205" y="2769870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30%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92005" y="1905000"/>
              <a:ext cx="875030" cy="48006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241205" y="2049780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15%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604550" y="3537204"/>
              <a:ext cx="875030" cy="1568196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553750" y="4226052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49%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604550" y="2385060"/>
              <a:ext cx="875030" cy="1152144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553750" y="2865882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36%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604550" y="1905000"/>
              <a:ext cx="875030" cy="48006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553750" y="2049780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15%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917095" y="3697224"/>
              <a:ext cx="875030" cy="1408176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866295" y="4306062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44%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917095" y="2385060"/>
              <a:ext cx="875030" cy="1312164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66295" y="2945892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41%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917095" y="1905000"/>
              <a:ext cx="875030" cy="48006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866295" y="2049780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15%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229640" y="3889248"/>
              <a:ext cx="875030" cy="1216152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178840" y="4402074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38%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229640" y="2385060"/>
              <a:ext cx="875030" cy="1504188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7178840" y="3041904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47%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229640" y="1905000"/>
              <a:ext cx="875030" cy="48006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7178840" y="2049780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15%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073248" y="5105400"/>
              <a:ext cx="52501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8374228" y="2059305"/>
              <a:ext cx="7696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Wholesale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374228" y="3051429"/>
              <a:ext cx="7696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Online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374228" y="4411599"/>
              <a:ext cx="7696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Retail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PowerChart" descr="waterfall chart. 1 data series: Delta. 6 categories: FY23, Volume, Price, Cost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Waterfall — EBITDA bridge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0765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Volume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0798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Price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0831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0864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FX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0897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40464" y="3270504"/>
              <a:ext cx="668867" cy="183489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164264" y="4092702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86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909331" y="3270504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2" name="Shape 10"/>
            <p:cNvSpPr/>
            <p:nvPr/>
          </p:nvSpPr>
          <p:spPr>
            <a:xfrm>
              <a:off x="4243764" y="2971800"/>
              <a:ext cx="668867" cy="29870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4167564" y="3025902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912631" y="2971800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5" name="Shape 13"/>
            <p:cNvSpPr/>
            <p:nvPr/>
          </p:nvSpPr>
          <p:spPr>
            <a:xfrm>
              <a:off x="5247064" y="2779776"/>
              <a:ext cx="668867" cy="19202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5170864" y="2780538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+9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915931" y="2779776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8" name="Shape 16"/>
            <p:cNvSpPr/>
            <p:nvPr/>
          </p:nvSpPr>
          <p:spPr>
            <a:xfrm>
              <a:off x="6250364" y="2779776"/>
              <a:ext cx="668867" cy="256032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6174164" y="2812542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-12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919231" y="3035808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1" name="Shape 19"/>
            <p:cNvSpPr/>
            <p:nvPr/>
          </p:nvSpPr>
          <p:spPr>
            <a:xfrm>
              <a:off x="7253664" y="3035808"/>
              <a:ext cx="668867" cy="85344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7177464" y="2851658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-4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922531" y="3121152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4" name="Shape 22"/>
            <p:cNvSpPr/>
            <p:nvPr/>
          </p:nvSpPr>
          <p:spPr>
            <a:xfrm>
              <a:off x="8256964" y="3121152"/>
              <a:ext cx="668867" cy="1984248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8180764" y="4018026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93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073248" y="5105400"/>
              <a:ext cx="6019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PowerChart" descr="Mekko chart. 3 data series: Enterprise, SMB, Consumer. 3 categories: EMEA, Americas, APAC."/>
          <p:cNvGrpSpPr/>
          <p:nvPr>
            <p:custDataLst>
              <p:tags r:id="rId3"/>
            </p:custDataLst>
          </p:nvPr>
        </p:nvGrpSpPr>
        <p:grpSpPr>
          <a:xfrm>
            <a:off x="3022448" y="1524000"/>
            <a:ext cx="6121400" cy="3797300"/>
            <a:chOff x="3022448" y="1524000"/>
            <a:chExt cx="6121400" cy="3797300"/>
          </a:xfrm>
        </p:grpSpPr>
        <p:sp>
          <p:nvSpPr>
            <p:cNvPr id="2" name="Shape 0"/>
            <p:cNvSpPr/>
            <p:nvPr/>
          </p:nvSpPr>
          <p:spPr>
            <a:xfrm>
              <a:off x="3073248" y="3575050"/>
              <a:ext cx="1632527" cy="153035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3047848" y="4244975"/>
              <a:ext cx="168332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3073248" y="2554817"/>
              <a:ext cx="1632527" cy="102023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3047848" y="2969683"/>
              <a:ext cx="168332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28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073248" y="2044700"/>
              <a:ext cx="1632527" cy="510117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047848" y="2204508"/>
              <a:ext cx="168332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22448" y="1860550"/>
              <a:ext cx="17341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731175" y="3575050"/>
              <a:ext cx="2137833" cy="153035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705775" y="4244975"/>
              <a:ext cx="218863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731175" y="2740314"/>
              <a:ext cx="2137833" cy="834736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705775" y="3062432"/>
              <a:ext cx="218863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731175" y="2044700"/>
              <a:ext cx="2137833" cy="69561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705775" y="2297257"/>
              <a:ext cx="218863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680375" y="1860550"/>
              <a:ext cx="22394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894408" y="4318363"/>
              <a:ext cx="1360439" cy="78703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6869008" y="4616631"/>
              <a:ext cx="141123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894408" y="3356429"/>
              <a:ext cx="1360439" cy="961934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869008" y="3742146"/>
              <a:ext cx="141123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894408" y="2044700"/>
              <a:ext cx="1360439" cy="131172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869008" y="2605314"/>
              <a:ext cx="141123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843608" y="1860550"/>
              <a:ext cx="1462039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Mekko — Revenue by region and segment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060548" y="5143500"/>
              <a:ext cx="16579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 (32%)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718475" y="5143500"/>
              <a:ext cx="21632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 (42%)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881708" y="5143500"/>
              <a:ext cx="1385839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 (27%)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073248" y="51054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8305648" y="2614839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305648" y="3751671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8305648" y="4626156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PowerChart" descr="line chart. 2 data series: Brand A, Brand B. 5 categories: 2021, 2022, 2023, 2024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Line — Gross margin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43053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35052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27051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3479648" y="19050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42164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3416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047848" y="26162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479648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475836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472024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468212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464400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947262" y="315468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 flipV="1">
              <a:off x="3977742" y="3025140"/>
              <a:ext cx="996188" cy="16002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943450" y="299466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 flipV="1">
              <a:off x="4973930" y="2905125"/>
              <a:ext cx="996188" cy="12001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939638" y="2874645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 flipV="1">
              <a:off x="5970118" y="2665095"/>
              <a:ext cx="996188" cy="24003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6935826" y="2634615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 flipV="1">
              <a:off x="6966306" y="2465070"/>
              <a:ext cx="996188" cy="20002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7932014" y="243459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3947262" y="347472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 flipV="1">
              <a:off x="3977742" y="3425190"/>
              <a:ext cx="996188" cy="8001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4943450" y="339471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4973930" y="3425190"/>
              <a:ext cx="996188" cy="4000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5939638" y="343471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 flipV="1">
              <a:off x="5970118" y="3305175"/>
              <a:ext cx="996188" cy="16002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935826" y="327469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 flipV="1">
              <a:off x="6966306" y="3145155"/>
              <a:ext cx="996188" cy="16002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7932014" y="311467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3479648" y="5105400"/>
              <a:ext cx="49809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8511388" y="2379345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A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511388" y="3059430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B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PowerChart" descr="area chart. 2 data series: Mobile, Desktop. 5 categories: 2021, 2022, 2023, 2024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Area — Active users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40386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29718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19050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479648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475836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472024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468212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464400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977742" y="4667042"/>
              <a:ext cx="96913" cy="43835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4068304" y="4643767"/>
              <a:ext cx="96913" cy="461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4158867" y="4620491"/>
              <a:ext cx="96913" cy="48490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4249429" y="4597215"/>
              <a:ext cx="96913" cy="50818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4339992" y="4573940"/>
              <a:ext cx="96913" cy="53146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4430554" y="4550664"/>
              <a:ext cx="96913" cy="55473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4521117" y="4527388"/>
              <a:ext cx="96913" cy="57801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4611679" y="4504113"/>
              <a:ext cx="96913" cy="60128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4702242" y="4480837"/>
              <a:ext cx="96913" cy="62456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4792805" y="4457561"/>
              <a:ext cx="96913" cy="64783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4883367" y="4434286"/>
              <a:ext cx="96913" cy="67111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4973930" y="4410040"/>
              <a:ext cx="96913" cy="69536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5064492" y="4384825"/>
              <a:ext cx="96913" cy="72057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5155055" y="4359610"/>
              <a:ext cx="96913" cy="74579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5245617" y="4334395"/>
              <a:ext cx="96913" cy="77100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5336180" y="4309179"/>
              <a:ext cx="96913" cy="79622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5426742" y="4283964"/>
              <a:ext cx="96913" cy="82143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5517305" y="4258749"/>
              <a:ext cx="96913" cy="84665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5607867" y="4233533"/>
              <a:ext cx="96913" cy="87186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5698430" y="4208318"/>
              <a:ext cx="96913" cy="89708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5788993" y="4183103"/>
              <a:ext cx="96913" cy="92229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5879555" y="4157888"/>
              <a:ext cx="96913" cy="94751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5970118" y="4132971"/>
              <a:ext cx="82980" cy="97242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6046747" y="4108352"/>
              <a:ext cx="82980" cy="99704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6123377" y="4083734"/>
              <a:ext cx="82980" cy="102166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6200007" y="4059115"/>
              <a:ext cx="82980" cy="104628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6276637" y="4034497"/>
              <a:ext cx="82980" cy="107090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6353267" y="4009878"/>
              <a:ext cx="82980" cy="109552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6429897" y="3985260"/>
              <a:ext cx="82980" cy="112014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6506527" y="3960642"/>
              <a:ext cx="82980" cy="114475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6583156" y="3936023"/>
              <a:ext cx="82980" cy="116937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6659786" y="3911405"/>
              <a:ext cx="82980" cy="119399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6736416" y="3886786"/>
              <a:ext cx="82980" cy="121861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6813046" y="3862168"/>
              <a:ext cx="82980" cy="124323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6889676" y="3837549"/>
              <a:ext cx="82980" cy="126785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6966306" y="3812794"/>
              <a:ext cx="89366" cy="129260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7049321" y="3787902"/>
              <a:ext cx="89366" cy="131749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7132337" y="3763010"/>
              <a:ext cx="89366" cy="134239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7215353" y="3738118"/>
              <a:ext cx="89366" cy="136728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7298368" y="3713226"/>
              <a:ext cx="89366" cy="139217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7381384" y="3688334"/>
              <a:ext cx="89366" cy="141706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7464400" y="3663442"/>
              <a:ext cx="89366" cy="144195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7547415" y="3638550"/>
              <a:ext cx="89366" cy="146685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7630431" y="3613658"/>
              <a:ext cx="89366" cy="149174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7713447" y="3588766"/>
              <a:ext cx="89366" cy="151663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7796462" y="3563874"/>
              <a:ext cx="89366" cy="154152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7879478" y="3538982"/>
              <a:ext cx="89366" cy="156641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3977742" y="3919474"/>
              <a:ext cx="89366" cy="74853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4060757" y="3894582"/>
              <a:ext cx="89366" cy="7520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4143773" y="3869690"/>
              <a:ext cx="89366" cy="75565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4226789" y="3844798"/>
              <a:ext cx="89366" cy="75920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4309804" y="3819906"/>
              <a:ext cx="89366" cy="76276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4392820" y="3795014"/>
              <a:ext cx="89366" cy="76631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4475836" y="3770122"/>
              <a:ext cx="89366" cy="76987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4558851" y="3745230"/>
              <a:ext cx="89366" cy="77343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4641867" y="3720338"/>
              <a:ext cx="89366" cy="77698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4724883" y="3695446"/>
              <a:ext cx="89366" cy="78054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4807898" y="3670554"/>
              <a:ext cx="89366" cy="78409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4890914" y="3645662"/>
              <a:ext cx="89366" cy="78765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4973930" y="3621578"/>
              <a:ext cx="96913" cy="78846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5064492" y="3598303"/>
              <a:ext cx="96913" cy="78652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5155055" y="3575027"/>
              <a:ext cx="96913" cy="78458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5245617" y="3551751"/>
              <a:ext cx="96913" cy="78264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5336180" y="3528476"/>
              <a:ext cx="96913" cy="78070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5426742" y="3505200"/>
              <a:ext cx="96913" cy="77876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5517305" y="3481924"/>
              <a:ext cx="96913" cy="77682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5607867" y="3458649"/>
              <a:ext cx="96913" cy="77488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5698430" y="3435373"/>
              <a:ext cx="96913" cy="77294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5788993" y="3412097"/>
              <a:ext cx="96913" cy="77100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5879555" y="3388822"/>
              <a:ext cx="96913" cy="76906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5" name="Shape 83"/>
            <p:cNvSpPr/>
            <p:nvPr/>
          </p:nvSpPr>
          <p:spPr>
            <a:xfrm>
              <a:off x="5970118" y="3366516"/>
              <a:ext cx="82980" cy="76645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6" name="Shape 84"/>
            <p:cNvSpPr/>
            <p:nvPr/>
          </p:nvSpPr>
          <p:spPr>
            <a:xfrm>
              <a:off x="6046747" y="3345180"/>
              <a:ext cx="82980" cy="76317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7" name="Shape 85"/>
            <p:cNvSpPr/>
            <p:nvPr/>
          </p:nvSpPr>
          <p:spPr>
            <a:xfrm>
              <a:off x="6123377" y="3323844"/>
              <a:ext cx="82980" cy="75989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8" name="Shape 86"/>
            <p:cNvSpPr/>
            <p:nvPr/>
          </p:nvSpPr>
          <p:spPr>
            <a:xfrm>
              <a:off x="6200007" y="3302508"/>
              <a:ext cx="82980" cy="75660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9" name="Shape 87"/>
            <p:cNvSpPr/>
            <p:nvPr/>
          </p:nvSpPr>
          <p:spPr>
            <a:xfrm>
              <a:off x="6276637" y="3281172"/>
              <a:ext cx="82980" cy="75332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0" name="Shape 88"/>
            <p:cNvSpPr/>
            <p:nvPr/>
          </p:nvSpPr>
          <p:spPr>
            <a:xfrm>
              <a:off x="6353267" y="3259836"/>
              <a:ext cx="82980" cy="75004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1" name="Shape 89"/>
            <p:cNvSpPr/>
            <p:nvPr/>
          </p:nvSpPr>
          <p:spPr>
            <a:xfrm>
              <a:off x="6429897" y="3238500"/>
              <a:ext cx="82980" cy="74676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2" name="Shape 90"/>
            <p:cNvSpPr/>
            <p:nvPr/>
          </p:nvSpPr>
          <p:spPr>
            <a:xfrm>
              <a:off x="6506527" y="3217164"/>
              <a:ext cx="82980" cy="74347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3" name="Shape 91"/>
            <p:cNvSpPr/>
            <p:nvPr/>
          </p:nvSpPr>
          <p:spPr>
            <a:xfrm>
              <a:off x="6583156" y="3195828"/>
              <a:ext cx="82980" cy="74019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4" name="Shape 92"/>
            <p:cNvSpPr/>
            <p:nvPr/>
          </p:nvSpPr>
          <p:spPr>
            <a:xfrm>
              <a:off x="6659786" y="3174492"/>
              <a:ext cx="82980" cy="73691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5" name="Shape 93"/>
            <p:cNvSpPr/>
            <p:nvPr/>
          </p:nvSpPr>
          <p:spPr>
            <a:xfrm>
              <a:off x="6736416" y="3153156"/>
              <a:ext cx="82980" cy="73363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6" name="Shape 94"/>
            <p:cNvSpPr/>
            <p:nvPr/>
          </p:nvSpPr>
          <p:spPr>
            <a:xfrm>
              <a:off x="6813046" y="3131820"/>
              <a:ext cx="82980" cy="73034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7" name="Shape 95"/>
            <p:cNvSpPr/>
            <p:nvPr/>
          </p:nvSpPr>
          <p:spPr>
            <a:xfrm>
              <a:off x="6889676" y="3110484"/>
              <a:ext cx="82980" cy="72706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8" name="Shape 96"/>
            <p:cNvSpPr/>
            <p:nvPr/>
          </p:nvSpPr>
          <p:spPr>
            <a:xfrm>
              <a:off x="6966306" y="3090926"/>
              <a:ext cx="89366" cy="72186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7049321" y="3073146"/>
              <a:ext cx="89366" cy="71475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0" name="Shape 98"/>
            <p:cNvSpPr/>
            <p:nvPr/>
          </p:nvSpPr>
          <p:spPr>
            <a:xfrm>
              <a:off x="7132337" y="3055366"/>
              <a:ext cx="89366" cy="70764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1" name="Shape 99"/>
            <p:cNvSpPr/>
            <p:nvPr/>
          </p:nvSpPr>
          <p:spPr>
            <a:xfrm>
              <a:off x="7215353" y="3037586"/>
              <a:ext cx="89366" cy="70053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2" name="Shape 100"/>
            <p:cNvSpPr/>
            <p:nvPr/>
          </p:nvSpPr>
          <p:spPr>
            <a:xfrm>
              <a:off x="7298368" y="3019806"/>
              <a:ext cx="89366" cy="69342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3" name="Shape 101"/>
            <p:cNvSpPr/>
            <p:nvPr/>
          </p:nvSpPr>
          <p:spPr>
            <a:xfrm>
              <a:off x="7381384" y="3002026"/>
              <a:ext cx="89366" cy="68630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4" name="Shape 102"/>
            <p:cNvSpPr/>
            <p:nvPr/>
          </p:nvSpPr>
          <p:spPr>
            <a:xfrm>
              <a:off x="7464400" y="2984246"/>
              <a:ext cx="89366" cy="67919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5" name="Shape 103"/>
            <p:cNvSpPr/>
            <p:nvPr/>
          </p:nvSpPr>
          <p:spPr>
            <a:xfrm>
              <a:off x="7547415" y="2966466"/>
              <a:ext cx="89366" cy="67208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6" name="Shape 104"/>
            <p:cNvSpPr/>
            <p:nvPr/>
          </p:nvSpPr>
          <p:spPr>
            <a:xfrm>
              <a:off x="7630431" y="2948686"/>
              <a:ext cx="89366" cy="66497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7" name="Shape 105"/>
            <p:cNvSpPr/>
            <p:nvPr/>
          </p:nvSpPr>
          <p:spPr>
            <a:xfrm>
              <a:off x="7713447" y="2930906"/>
              <a:ext cx="89366" cy="65786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8" name="Shape 106"/>
            <p:cNvSpPr/>
            <p:nvPr/>
          </p:nvSpPr>
          <p:spPr>
            <a:xfrm>
              <a:off x="7796462" y="2913126"/>
              <a:ext cx="89366" cy="65074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9" name="Shape 107"/>
            <p:cNvSpPr/>
            <p:nvPr/>
          </p:nvSpPr>
          <p:spPr>
            <a:xfrm>
              <a:off x="7879478" y="2895346"/>
              <a:ext cx="89366" cy="64363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0" name="Shape 108"/>
            <p:cNvSpPr/>
            <p:nvPr/>
          </p:nvSpPr>
          <p:spPr>
            <a:xfrm>
              <a:off x="3479648" y="5105400"/>
              <a:ext cx="49809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11" name="Text 109"/>
            <p:cNvSpPr/>
            <p:nvPr/>
          </p:nvSpPr>
          <p:spPr>
            <a:xfrm>
              <a:off x="8511388" y="3120771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Desktop</a:t>
              </a:r>
              <a:endParaRPr lang="en-US" sz="1000" dirty="0"/>
            </a:p>
          </p:txBody>
        </p:sp>
        <p:sp>
          <p:nvSpPr>
            <p:cNvPr id="112" name="Text 110"/>
            <p:cNvSpPr/>
            <p:nvPr/>
          </p:nvSpPr>
          <p:spPr>
            <a:xfrm>
              <a:off x="8511388" y="4230243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Mobile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PowerChart" descr="butterfly chart. 2 data series: Women, Men. 5 categories: &lt;30, 30–39, 40–49, 50–59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59200"/>
            <a:chOff x="3047848" y="1524000"/>
            <a:chExt cx="6096000" cy="37592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Butterfly — Headcount by age band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479648" y="1803400"/>
              <a:ext cx="236855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Women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6343498" y="1803400"/>
              <a:ext cx="236855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Men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848198" y="226187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&lt;30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604709" y="2140373"/>
              <a:ext cx="1243489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4604709" y="2261870"/>
              <a:ext cx="124348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420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343498" y="2140373"/>
              <a:ext cx="1125061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6343498" y="2261870"/>
              <a:ext cx="112506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380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848198" y="291211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30–39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042178" y="2790613"/>
              <a:ext cx="1806019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4042178" y="2912110"/>
              <a:ext cx="180601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610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343498" y="2790613"/>
              <a:ext cx="1924447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6343498" y="2912110"/>
              <a:ext cx="192444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650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848198" y="356235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40–49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249426" y="3440853"/>
              <a:ext cx="1598771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4249426" y="3562350"/>
              <a:ext cx="159877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540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343498" y="3440853"/>
              <a:ext cx="1776413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6343498" y="3562350"/>
              <a:ext cx="17764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600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848198" y="421259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50–59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900778" y="4091093"/>
              <a:ext cx="947420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900778" y="4212590"/>
              <a:ext cx="9474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320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343498" y="4091093"/>
              <a:ext cx="1213882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6343498" y="4212590"/>
              <a:ext cx="121388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410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848198" y="486283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60+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492915" y="4741333"/>
              <a:ext cx="355282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5492915" y="4862830"/>
              <a:ext cx="35528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343498" y="4741333"/>
              <a:ext cx="473710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6343498" y="4862830"/>
              <a:ext cx="47371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160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848198" y="20320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343498" y="20320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PowerChart" descr="scatter plot. 3 data series: X, Y, Group. 8 categories: Alpha, Bravo, Core, Delta and 4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99200" cy="3810000"/>
            <a:chOff x="3047848" y="1524000"/>
            <a:chExt cx="62992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Scatter — Price vs. margin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79648" y="452628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44373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392176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38328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79648" y="331724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3228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79648" y="271272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47848" y="26238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479648" y="21082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047848" y="2019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205709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3479648" y="2108200"/>
              <a:ext cx="0" cy="30226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3479648" y="195580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360664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1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239108" y="195580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436610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2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998568" y="195580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512556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3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275938" y="448818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5179860" y="297688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6222848" y="3762756"/>
              <a:ext cx="76200" cy="762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265835" y="2070100"/>
              <a:ext cx="76200" cy="762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7752563" y="4185920"/>
              <a:ext cx="76200" cy="76200"/>
            </a:xfrm>
            <a:prstGeom prst="ellips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8586953" y="2674620"/>
              <a:ext cx="76200" cy="76200"/>
            </a:xfrm>
            <a:prstGeom prst="ellips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5527523" y="4971796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6779108" y="3279140"/>
              <a:ext cx="76200" cy="762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4377538" y="444373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Alpha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5281460" y="293243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Bravo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324448" y="3718306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Core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7119785" y="217170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Delta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7854163" y="4141470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Echo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8056093" y="2630170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Foxtrot</a:t>
              </a:r>
              <a:endParaRPr lang="en-US" sz="10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5629123" y="4927346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Golf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880708" y="323469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Hotel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PowerChart" descr="bubble chart. 4 data series: X, Y, Size, Group. 8 categories: Alpha, Bravo, Core, Delta and 4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99200" cy="3810000"/>
            <a:chOff x="3047848" y="1524000"/>
            <a:chExt cx="62992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Bubble — Market map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79648" y="452628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44373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392176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38328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79648" y="331724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3228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79648" y="271272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47848" y="26238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479648" y="21082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047848" y="2019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205709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3479648" y="2108200"/>
              <a:ext cx="0" cy="30226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3479648" y="195580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360664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1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239108" y="195580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436610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2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998568" y="195580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512556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3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8417950" y="2120688"/>
              <a:ext cx="573498" cy="573498"/>
            </a:xfrm>
            <a:prstGeom prst="ellipse">
              <a:avLst/>
            </a:pr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8417950" y="1949238"/>
              <a:ext cx="57349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910825" y="2288662"/>
              <a:ext cx="405524" cy="405524"/>
            </a:xfrm>
            <a:prstGeom prst="ellipse">
              <a:avLst/>
            </a:pr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910825" y="2033225"/>
              <a:ext cx="40552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8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988914" y="3528822"/>
              <a:ext cx="544068" cy="544068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8385141" y="2472809"/>
              <a:ext cx="479823" cy="479823"/>
            </a:xfrm>
            <a:prstGeom prst="ellips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7578004" y="4011361"/>
              <a:ext cx="425318" cy="425318"/>
            </a:xfrm>
            <a:prstGeom prst="ellips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5036604" y="2833624"/>
              <a:ext cx="362712" cy="362712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6647565" y="3147597"/>
              <a:ext cx="339286" cy="339286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7160561" y="1964825"/>
              <a:ext cx="286749" cy="286749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5454565" y="4898839"/>
              <a:ext cx="222115" cy="222115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4223360" y="4435602"/>
              <a:ext cx="181356" cy="181356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6558382" y="3718306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Core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8372323" y="2978031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Foxtrot</a:t>
              </a:r>
              <a:endParaRPr lang="en-US" sz="10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8028721" y="4141470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Echo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5424716" y="293243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Bravo</a:t>
              </a:r>
              <a:endParaRPr lang="en-US" sz="10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7012251" y="323469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Hotel</a:t>
              </a:r>
              <a:endParaRPr lang="en-US" sz="10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7119785" y="2276975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Delta</a:t>
              </a:r>
              <a:endParaRPr lang="en-US" sz="10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5702080" y="4927346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Golf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4430116" y="444373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Alpha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owerChart" descr="Gantt chart. 3 data series: Start, End, Milestone. 5 categories: Scoping, Design, Build, Test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44590" cy="3733800"/>
            <a:chOff x="3047848" y="1524000"/>
            <a:chExt cx="6244590" cy="37338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Gantt — Programme plan (weeks)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654908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350108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432484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127684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210061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905261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8987638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8682838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47848" y="223647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Scoping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010423" y="2242820"/>
              <a:ext cx="711031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4010423" y="2242820"/>
              <a:ext cx="711031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1–3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047848" y="288671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Design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654908" y="2656840"/>
              <a:ext cx="533273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4721454" y="2893060"/>
              <a:ext cx="1066546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4721454" y="2893060"/>
              <a:ext cx="10665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3–6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707990" y="2901950"/>
              <a:ext cx="160020" cy="160020"/>
            </a:xfrm>
            <a:prstGeom prst="ellipse">
              <a:avLst/>
            </a:prstGeom>
            <a:solidFill>
              <a:srgbClr val="0B0B0B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3047848" y="353695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Build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654908" y="3307080"/>
              <a:ext cx="533273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432484" y="3543300"/>
              <a:ext cx="2133092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5432484" y="3543300"/>
              <a:ext cx="213309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5–11</a:t>
              </a:r>
              <a:endParaRPr lang="en-US" sz="9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3047848" y="418719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Test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654908" y="3957320"/>
              <a:ext cx="533273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7210061" y="4193540"/>
              <a:ext cx="1066546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7210061" y="4193540"/>
              <a:ext cx="10665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10–13</a:t>
              </a:r>
              <a:endParaRPr lang="en-US" sz="9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8196597" y="4202430"/>
              <a:ext cx="160020" cy="160020"/>
            </a:xfrm>
            <a:prstGeom prst="ellipse">
              <a:avLst/>
            </a:prstGeom>
            <a:solidFill>
              <a:srgbClr val="0B0B0B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3047848" y="483743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Rollout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654908" y="4607560"/>
              <a:ext cx="533273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8276607" y="4843780"/>
              <a:ext cx="711031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8276607" y="4843780"/>
              <a:ext cx="711031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13–15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8907628" y="4852670"/>
              <a:ext cx="160020" cy="160020"/>
            </a:xfrm>
            <a:prstGeom prst="ellipse">
              <a:avLst/>
            </a:prstGeom>
            <a:solidFill>
              <a:srgbClr val="0B0B0B"/>
            </a:solidFill>
            <a:ln/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PowerChart" descr="combination chart. 3 data series: Product, Services, Margin %. 4 categories: 2022, 2023, 2024, 2025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Combo — Revenue and margin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0293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73262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06231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94863" y="3881120"/>
              <a:ext cx="886460" cy="122428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44063" y="4398010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94863" y="3330194"/>
              <a:ext cx="886460" cy="550926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44063" y="3510407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73248" y="3146044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624553" y="3697478"/>
              <a:ext cx="886460" cy="1407922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4573753" y="4306189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46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624553" y="3024124"/>
              <a:ext cx="886460" cy="673354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573753" y="3265551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402938" y="2839974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68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954243" y="3513836"/>
              <a:ext cx="886460" cy="1591564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903443" y="4214368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954243" y="2687447"/>
              <a:ext cx="886460" cy="826389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903443" y="3005392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27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732628" y="2503297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79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283933" y="3268980"/>
              <a:ext cx="886460" cy="18364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233133" y="4091940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283933" y="2258949"/>
              <a:ext cx="886460" cy="101003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7233133" y="2668715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33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062318" y="2074799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93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073248" y="5105400"/>
              <a:ext cx="531876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3707613" y="4126103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3357093" y="394703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 flipV="1">
              <a:off x="3738093" y="4064762"/>
              <a:ext cx="1329690" cy="91821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5037303" y="4034282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4686783" y="3855212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 flipV="1">
              <a:off x="5067783" y="3942334"/>
              <a:ext cx="1329690" cy="122428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6366993" y="3911854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6016473" y="3732784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 flipV="1">
              <a:off x="6397473" y="3728085"/>
              <a:ext cx="1329690" cy="214249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7696683" y="3697605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7346163" y="3518535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8442808" y="2678240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8442808" y="3642360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Margin %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8442808" y="4101465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Product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PowerChart" descr="pie chart. 1 data series: Revenue. 4 categories: EMEA, Americas, APAC, Other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530600"/>
            <a:chOff x="3047848" y="1524000"/>
            <a:chExt cx="6096000" cy="35306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Pie — Revenue split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1485900" y="0"/>
                  </a:moveTo>
                  <a:lnTo>
                    <a:pt x="1637972" y="7802"/>
                  </a:lnTo>
                  <a:lnTo>
                    <a:pt x="1788447" y="31127"/>
                  </a:lnTo>
                  <a:lnTo>
                    <a:pt x="1935745" y="69730"/>
                  </a:lnTo>
                  <a:lnTo>
                    <a:pt x="2078318" y="123204"/>
                  </a:lnTo>
                  <a:lnTo>
                    <a:pt x="2214670" y="190990"/>
                  </a:lnTo>
                  <a:lnTo>
                    <a:pt x="2343369" y="272374"/>
                  </a:lnTo>
                  <a:lnTo>
                    <a:pt x="2463063" y="366502"/>
                  </a:lnTo>
                  <a:lnTo>
                    <a:pt x="2572495" y="472386"/>
                  </a:lnTo>
                  <a:lnTo>
                    <a:pt x="2670516" y="588914"/>
                  </a:lnTo>
                  <a:lnTo>
                    <a:pt x="2756096" y="714861"/>
                  </a:lnTo>
                  <a:lnTo>
                    <a:pt x="2828337" y="848906"/>
                  </a:lnTo>
                  <a:lnTo>
                    <a:pt x="2886480" y="989640"/>
                  </a:lnTo>
                  <a:lnTo>
                    <a:pt x="2929915" y="1135586"/>
                  </a:lnTo>
                  <a:lnTo>
                    <a:pt x="2958185" y="1285211"/>
                  </a:lnTo>
                  <a:lnTo>
                    <a:pt x="2970993" y="1436943"/>
                  </a:lnTo>
                  <a:lnTo>
                    <a:pt x="2968206" y="1589189"/>
                  </a:lnTo>
                  <a:lnTo>
                    <a:pt x="2949851" y="1740351"/>
                  </a:lnTo>
                  <a:lnTo>
                    <a:pt x="2916123" y="1888841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530589" y="2917318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 29%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2916123" y="1888841"/>
                  </a:moveTo>
                  <a:lnTo>
                    <a:pt x="2868374" y="2030569"/>
                  </a:lnTo>
                  <a:lnTo>
                    <a:pt x="2806621" y="2166779"/>
                  </a:lnTo>
                  <a:lnTo>
                    <a:pt x="2731488" y="2296092"/>
                  </a:lnTo>
                  <a:lnTo>
                    <a:pt x="2643736" y="2417197"/>
                  </a:lnTo>
                  <a:lnTo>
                    <a:pt x="2544256" y="2528868"/>
                  </a:lnTo>
                  <a:lnTo>
                    <a:pt x="2434054" y="2629973"/>
                  </a:lnTo>
                  <a:lnTo>
                    <a:pt x="2314247" y="2719488"/>
                  </a:lnTo>
                  <a:lnTo>
                    <a:pt x="2186049" y="2796507"/>
                  </a:lnTo>
                  <a:lnTo>
                    <a:pt x="2050757" y="2860249"/>
                  </a:lnTo>
                  <a:lnTo>
                    <a:pt x="1909744" y="2910068"/>
                  </a:lnTo>
                  <a:lnTo>
                    <a:pt x="1764437" y="2945460"/>
                  </a:lnTo>
                  <a:lnTo>
                    <a:pt x="1616308" y="2966066"/>
                  </a:lnTo>
                  <a:lnTo>
                    <a:pt x="1466858" y="2971678"/>
                  </a:lnTo>
                  <a:lnTo>
                    <a:pt x="1317601" y="2962238"/>
                  </a:lnTo>
                  <a:lnTo>
                    <a:pt x="1170049" y="2937843"/>
                  </a:lnTo>
                  <a:lnTo>
                    <a:pt x="1025697" y="2898738"/>
                  </a:lnTo>
                  <a:lnTo>
                    <a:pt x="886007" y="2845321"/>
                  </a:lnTo>
                  <a:lnTo>
                    <a:pt x="752393" y="2778133"/>
                  </a:lnTo>
                  <a:lnTo>
                    <a:pt x="626211" y="2697854"/>
                  </a:lnTo>
                  <a:lnTo>
                    <a:pt x="508737" y="2605298"/>
                  </a:lnTo>
                  <a:lnTo>
                    <a:pt x="401163" y="2501402"/>
                  </a:lnTo>
                  <a:lnTo>
                    <a:pt x="304577" y="2387218"/>
                  </a:lnTo>
                  <a:lnTo>
                    <a:pt x="219958" y="2263904"/>
                  </a:lnTo>
                  <a:lnTo>
                    <a:pt x="148164" y="2132708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739821" y="4391153"/>
              <a:ext cx="873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 38%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148164" y="2132708"/>
                  </a:moveTo>
                  <a:lnTo>
                    <a:pt x="88992" y="1992403"/>
                  </a:lnTo>
                  <a:lnTo>
                    <a:pt x="44489" y="1846779"/>
                  </a:lnTo>
                  <a:lnTo>
                    <a:pt x="15124" y="1697366"/>
                  </a:lnTo>
                  <a:lnTo>
                    <a:pt x="1205" y="1545731"/>
                  </a:lnTo>
                  <a:lnTo>
                    <a:pt x="2878" y="1393468"/>
                  </a:lnTo>
                  <a:lnTo>
                    <a:pt x="20125" y="1242176"/>
                  </a:lnTo>
                  <a:lnTo>
                    <a:pt x="52765" y="1093444"/>
                  </a:lnTo>
                  <a:lnTo>
                    <a:pt x="100455" y="948833"/>
                  </a:lnTo>
                  <a:lnTo>
                    <a:pt x="162695" y="809862"/>
                  </a:lnTo>
                  <a:lnTo>
                    <a:pt x="238831" y="677990"/>
                  </a:lnTo>
                  <a:lnTo>
                    <a:pt x="328064" y="554603"/>
                  </a:lnTo>
                  <a:lnTo>
                    <a:pt x="429455" y="440997"/>
                  </a:lnTo>
                  <a:lnTo>
                    <a:pt x="541941" y="338363"/>
                  </a:lnTo>
                  <a:lnTo>
                    <a:pt x="664341" y="247781"/>
                  </a:lnTo>
                  <a:lnTo>
                    <a:pt x="795368" y="170201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921218" y="3184919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 24%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795368" y="170201"/>
                  </a:moveTo>
                  <a:lnTo>
                    <a:pt x="925575" y="109697"/>
                  </a:lnTo>
                  <a:lnTo>
                    <a:pt x="1061013" y="62043"/>
                  </a:lnTo>
                  <a:lnTo>
                    <a:pt x="1200419" y="27682"/>
                  </a:lnTo>
                  <a:lnTo>
                    <a:pt x="1342490" y="6937"/>
                  </a:lnTo>
                  <a:lnTo>
                    <a:pt x="1485900" y="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close/>
                </a:path>
              </a:pathLst>
            </a:cu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5720493" y="2045826"/>
              <a:ext cx="16716" cy="6782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116494" y="1932080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Other 8%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PowerChart" descr="doughnut chart. 1 data series: Revenue. 4 categories: EMEA, Americas, APAC, Other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21324"/>
            <a:chOff x="3047848" y="1524000"/>
            <a:chExt cx="6096000" cy="3721324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Doughnut — Revenue split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1485900" y="0"/>
                  </a:moveTo>
                  <a:lnTo>
                    <a:pt x="1637972" y="7802"/>
                  </a:lnTo>
                  <a:lnTo>
                    <a:pt x="1788447" y="31127"/>
                  </a:lnTo>
                  <a:lnTo>
                    <a:pt x="1935745" y="69730"/>
                  </a:lnTo>
                  <a:lnTo>
                    <a:pt x="2078318" y="123204"/>
                  </a:lnTo>
                  <a:lnTo>
                    <a:pt x="2214670" y="190990"/>
                  </a:lnTo>
                  <a:lnTo>
                    <a:pt x="2343369" y="272374"/>
                  </a:lnTo>
                  <a:lnTo>
                    <a:pt x="2463063" y="366502"/>
                  </a:lnTo>
                  <a:lnTo>
                    <a:pt x="2572495" y="472386"/>
                  </a:lnTo>
                  <a:lnTo>
                    <a:pt x="2670516" y="588914"/>
                  </a:lnTo>
                  <a:lnTo>
                    <a:pt x="2756096" y="714861"/>
                  </a:lnTo>
                  <a:lnTo>
                    <a:pt x="2828337" y="848906"/>
                  </a:lnTo>
                  <a:lnTo>
                    <a:pt x="2886480" y="989640"/>
                  </a:lnTo>
                  <a:lnTo>
                    <a:pt x="2929915" y="1135586"/>
                  </a:lnTo>
                  <a:lnTo>
                    <a:pt x="2958185" y="1285211"/>
                  </a:lnTo>
                  <a:lnTo>
                    <a:pt x="2970993" y="1436943"/>
                  </a:lnTo>
                  <a:lnTo>
                    <a:pt x="2968206" y="1589189"/>
                  </a:lnTo>
                  <a:lnTo>
                    <a:pt x="2949851" y="1740351"/>
                  </a:lnTo>
                  <a:lnTo>
                    <a:pt x="2916123" y="1888841"/>
                  </a:lnTo>
                  <a:lnTo>
                    <a:pt x="2272523" y="1707517"/>
                  </a:lnTo>
                  <a:lnTo>
                    <a:pt x="2291073" y="1625848"/>
                  </a:lnTo>
                  <a:lnTo>
                    <a:pt x="2301168" y="1542709"/>
                  </a:lnTo>
                  <a:lnTo>
                    <a:pt x="2302701" y="1458974"/>
                  </a:lnTo>
                  <a:lnTo>
                    <a:pt x="2295657" y="1375521"/>
                  </a:lnTo>
                  <a:lnTo>
                    <a:pt x="2280108" y="1293227"/>
                  </a:lnTo>
                  <a:lnTo>
                    <a:pt x="2256219" y="1212957"/>
                  </a:lnTo>
                  <a:lnTo>
                    <a:pt x="2224240" y="1135553"/>
                  </a:lnTo>
                  <a:lnTo>
                    <a:pt x="2184508" y="1061829"/>
                  </a:lnTo>
                  <a:lnTo>
                    <a:pt x="2137439" y="992557"/>
                  </a:lnTo>
                  <a:lnTo>
                    <a:pt x="2083527" y="928467"/>
                  </a:lnTo>
                  <a:lnTo>
                    <a:pt x="2023340" y="870231"/>
                  </a:lnTo>
                  <a:lnTo>
                    <a:pt x="1957508" y="818461"/>
                  </a:lnTo>
                  <a:lnTo>
                    <a:pt x="1886724" y="773699"/>
                  </a:lnTo>
                  <a:lnTo>
                    <a:pt x="1811730" y="736417"/>
                  </a:lnTo>
                  <a:lnTo>
                    <a:pt x="1733315" y="707006"/>
                  </a:lnTo>
                  <a:lnTo>
                    <a:pt x="1652301" y="685775"/>
                  </a:lnTo>
                  <a:lnTo>
                    <a:pt x="1569540" y="672946"/>
                  </a:lnTo>
                  <a:lnTo>
                    <a:pt x="1485900" y="668655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 flipV="1">
              <a:off x="7290588" y="2621881"/>
              <a:ext cx="55687" cy="42166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7361463" y="2515131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 29%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2916123" y="1888841"/>
                  </a:moveTo>
                  <a:lnTo>
                    <a:pt x="2868374" y="2030569"/>
                  </a:lnTo>
                  <a:lnTo>
                    <a:pt x="2806621" y="2166779"/>
                  </a:lnTo>
                  <a:lnTo>
                    <a:pt x="2731488" y="2296092"/>
                  </a:lnTo>
                  <a:lnTo>
                    <a:pt x="2643736" y="2417197"/>
                  </a:lnTo>
                  <a:lnTo>
                    <a:pt x="2544256" y="2528868"/>
                  </a:lnTo>
                  <a:lnTo>
                    <a:pt x="2434054" y="2629973"/>
                  </a:lnTo>
                  <a:lnTo>
                    <a:pt x="2314247" y="2719488"/>
                  </a:lnTo>
                  <a:lnTo>
                    <a:pt x="2186049" y="2796507"/>
                  </a:lnTo>
                  <a:lnTo>
                    <a:pt x="2050757" y="2860249"/>
                  </a:lnTo>
                  <a:lnTo>
                    <a:pt x="1909744" y="2910068"/>
                  </a:lnTo>
                  <a:lnTo>
                    <a:pt x="1764437" y="2945460"/>
                  </a:lnTo>
                  <a:lnTo>
                    <a:pt x="1616308" y="2966066"/>
                  </a:lnTo>
                  <a:lnTo>
                    <a:pt x="1466858" y="2971678"/>
                  </a:lnTo>
                  <a:lnTo>
                    <a:pt x="1317601" y="2962238"/>
                  </a:lnTo>
                  <a:lnTo>
                    <a:pt x="1170049" y="2937843"/>
                  </a:lnTo>
                  <a:lnTo>
                    <a:pt x="1025697" y="2898738"/>
                  </a:lnTo>
                  <a:lnTo>
                    <a:pt x="886007" y="2845321"/>
                  </a:lnTo>
                  <a:lnTo>
                    <a:pt x="752393" y="2778133"/>
                  </a:lnTo>
                  <a:lnTo>
                    <a:pt x="626211" y="2697854"/>
                  </a:lnTo>
                  <a:lnTo>
                    <a:pt x="508737" y="2605298"/>
                  </a:lnTo>
                  <a:lnTo>
                    <a:pt x="401163" y="2501402"/>
                  </a:lnTo>
                  <a:lnTo>
                    <a:pt x="304577" y="2387218"/>
                  </a:lnTo>
                  <a:lnTo>
                    <a:pt x="219958" y="2263904"/>
                  </a:lnTo>
                  <a:lnTo>
                    <a:pt x="148164" y="2132708"/>
                  </a:lnTo>
                  <a:lnTo>
                    <a:pt x="750145" y="1841644"/>
                  </a:lnTo>
                  <a:lnTo>
                    <a:pt x="789632" y="1913802"/>
                  </a:lnTo>
                  <a:lnTo>
                    <a:pt x="836172" y="1981625"/>
                  </a:lnTo>
                  <a:lnTo>
                    <a:pt x="889294" y="2044426"/>
                  </a:lnTo>
                  <a:lnTo>
                    <a:pt x="948460" y="2101569"/>
                  </a:lnTo>
                  <a:lnTo>
                    <a:pt x="1013071" y="2152475"/>
                  </a:lnTo>
                  <a:lnTo>
                    <a:pt x="1082471" y="2196628"/>
                  </a:lnTo>
                  <a:lnTo>
                    <a:pt x="1155959" y="2233582"/>
                  </a:lnTo>
                  <a:lnTo>
                    <a:pt x="1232788" y="2262961"/>
                  </a:lnTo>
                  <a:lnTo>
                    <a:pt x="1312182" y="2284468"/>
                  </a:lnTo>
                  <a:lnTo>
                    <a:pt x="1393336" y="2297886"/>
                  </a:lnTo>
                  <a:lnTo>
                    <a:pt x="1475427" y="2303078"/>
                  </a:lnTo>
                  <a:lnTo>
                    <a:pt x="1557624" y="2299992"/>
                  </a:lnTo>
                  <a:lnTo>
                    <a:pt x="1639095" y="2288658"/>
                  </a:lnTo>
                  <a:lnTo>
                    <a:pt x="1719014" y="2269193"/>
                  </a:lnTo>
                  <a:lnTo>
                    <a:pt x="1796572" y="2241792"/>
                  </a:lnTo>
                  <a:lnTo>
                    <a:pt x="1870982" y="2206734"/>
                  </a:lnTo>
                  <a:lnTo>
                    <a:pt x="1941491" y="2164374"/>
                  </a:lnTo>
                  <a:lnTo>
                    <a:pt x="2007385" y="2115140"/>
                  </a:lnTo>
                  <a:lnTo>
                    <a:pt x="2067996" y="2059532"/>
                  </a:lnTo>
                  <a:lnTo>
                    <a:pt x="2122710" y="1998113"/>
                  </a:lnTo>
                  <a:lnTo>
                    <a:pt x="2170973" y="1931505"/>
                  </a:lnTo>
                  <a:lnTo>
                    <a:pt x="2212296" y="1860383"/>
                  </a:lnTo>
                  <a:lnTo>
                    <a:pt x="2246261" y="1785468"/>
                  </a:lnTo>
                  <a:lnTo>
                    <a:pt x="2272523" y="1707517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6227370" y="5061517"/>
              <a:ext cx="6130" cy="6958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235172" y="5054824"/>
              <a:ext cx="873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 38%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148164" y="2132708"/>
                  </a:moveTo>
                  <a:lnTo>
                    <a:pt x="88992" y="1992403"/>
                  </a:lnTo>
                  <a:lnTo>
                    <a:pt x="44489" y="1846779"/>
                  </a:lnTo>
                  <a:lnTo>
                    <a:pt x="15124" y="1697366"/>
                  </a:lnTo>
                  <a:lnTo>
                    <a:pt x="1205" y="1545731"/>
                  </a:lnTo>
                  <a:lnTo>
                    <a:pt x="2878" y="1393468"/>
                  </a:lnTo>
                  <a:lnTo>
                    <a:pt x="20125" y="1242176"/>
                  </a:lnTo>
                  <a:lnTo>
                    <a:pt x="52765" y="1093444"/>
                  </a:lnTo>
                  <a:lnTo>
                    <a:pt x="100455" y="948833"/>
                  </a:lnTo>
                  <a:lnTo>
                    <a:pt x="162695" y="809862"/>
                  </a:lnTo>
                  <a:lnTo>
                    <a:pt x="238831" y="677990"/>
                  </a:lnTo>
                  <a:lnTo>
                    <a:pt x="328064" y="554603"/>
                  </a:lnTo>
                  <a:lnTo>
                    <a:pt x="429455" y="440997"/>
                  </a:lnTo>
                  <a:lnTo>
                    <a:pt x="541941" y="338363"/>
                  </a:lnTo>
                  <a:lnTo>
                    <a:pt x="664341" y="247781"/>
                  </a:lnTo>
                  <a:lnTo>
                    <a:pt x="795368" y="170201"/>
                  </a:lnTo>
                  <a:lnTo>
                    <a:pt x="1106107" y="762265"/>
                  </a:lnTo>
                  <a:lnTo>
                    <a:pt x="1034042" y="804934"/>
                  </a:lnTo>
                  <a:lnTo>
                    <a:pt x="966723" y="854755"/>
                  </a:lnTo>
                  <a:lnTo>
                    <a:pt x="904855" y="911203"/>
                  </a:lnTo>
                  <a:lnTo>
                    <a:pt x="849090" y="973687"/>
                  </a:lnTo>
                  <a:lnTo>
                    <a:pt x="800012" y="1041550"/>
                  </a:lnTo>
                  <a:lnTo>
                    <a:pt x="758137" y="1114079"/>
                  </a:lnTo>
                  <a:lnTo>
                    <a:pt x="723905" y="1190513"/>
                  </a:lnTo>
                  <a:lnTo>
                    <a:pt x="697676" y="1270049"/>
                  </a:lnTo>
                  <a:lnTo>
                    <a:pt x="679724" y="1351852"/>
                  </a:lnTo>
                  <a:lnTo>
                    <a:pt x="670238" y="1435063"/>
                  </a:lnTo>
                  <a:lnTo>
                    <a:pt x="669318" y="1518807"/>
                  </a:lnTo>
                  <a:lnTo>
                    <a:pt x="676973" y="1602206"/>
                  </a:lnTo>
                  <a:lnTo>
                    <a:pt x="693124" y="1684384"/>
                  </a:lnTo>
                  <a:lnTo>
                    <a:pt x="717600" y="1764477"/>
                  </a:lnTo>
                  <a:lnTo>
                    <a:pt x="750145" y="1841644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4606307" y="3077473"/>
              <a:ext cx="66336" cy="21877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988775" y="2976256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 24%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795368" y="170201"/>
                  </a:moveTo>
                  <a:lnTo>
                    <a:pt x="925575" y="109697"/>
                  </a:lnTo>
                  <a:lnTo>
                    <a:pt x="1061013" y="62043"/>
                  </a:lnTo>
                  <a:lnTo>
                    <a:pt x="1200419" y="27682"/>
                  </a:lnTo>
                  <a:lnTo>
                    <a:pt x="1342490" y="6937"/>
                  </a:lnTo>
                  <a:lnTo>
                    <a:pt x="1485900" y="0"/>
                  </a:lnTo>
                  <a:lnTo>
                    <a:pt x="1485900" y="668655"/>
                  </a:lnTo>
                  <a:lnTo>
                    <a:pt x="1407024" y="672470"/>
                  </a:lnTo>
                  <a:lnTo>
                    <a:pt x="1328885" y="683880"/>
                  </a:lnTo>
                  <a:lnTo>
                    <a:pt x="1252212" y="702778"/>
                  </a:lnTo>
                  <a:lnTo>
                    <a:pt x="1177721" y="728988"/>
                  </a:lnTo>
                  <a:lnTo>
                    <a:pt x="1106107" y="762265"/>
                  </a:lnTo>
                  <a:close/>
                </a:path>
              </a:pathLst>
            </a:cu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5720493" y="2045826"/>
              <a:ext cx="16716" cy="6782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116494" y="1932080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Other 8%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352898" y="3454400"/>
              <a:ext cx="1485900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286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PowerChart" descr="box-and-whisker plot. 5 data series: Min, Q1, Median, Q3 and 1 more. 4 categories: North, South, East, West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Boxplot — Delivery days by region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4796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8829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2863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6896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West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181323" y="339852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4181323" y="446532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007658" y="339852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4007658" y="467868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3795401" y="3825240"/>
              <a:ext cx="771843" cy="64008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3795401" y="4251960"/>
              <a:ext cx="77184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795401" y="4061460"/>
              <a:ext cx="77184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584673" y="2545080"/>
              <a:ext cx="0" cy="6400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5584673" y="403860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5411008" y="254508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411008" y="446532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198751" y="3185160"/>
              <a:ext cx="771843" cy="85344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198751" y="3611880"/>
              <a:ext cx="771842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198751" y="3421380"/>
              <a:ext cx="77184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</a:t>
              </a:r>
              <a:endParaRPr lang="en-US" sz="9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988023" y="361188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988023" y="467868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814358" y="361188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6814358" y="489204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6602101" y="4038600"/>
              <a:ext cx="771843" cy="64008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6602101" y="4465320"/>
              <a:ext cx="771842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6602101" y="4274820"/>
              <a:ext cx="77184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8391373" y="2971800"/>
              <a:ext cx="0" cy="6400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8391373" y="425196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8217708" y="297180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8217708" y="467868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8005451" y="3611880"/>
              <a:ext cx="771843" cy="64008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8005451" y="4038600"/>
              <a:ext cx="771842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8005451" y="3848100"/>
              <a:ext cx="77184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PowerChart" descr="radar chart. 2 data series: Today, Target. 6 categories: Strategy, Data, Talent, Process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22700"/>
            <a:chOff x="3047848" y="1524000"/>
            <a:chExt cx="6096000" cy="38227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Radar — Capability assessment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603114" y="3101340"/>
              <a:ext cx="985468" cy="1137920"/>
            </a:xfrm>
            <a:custGeom>
              <a:avLst/>
              <a:gdLst/>
              <a:ahLst/>
              <a:cxnLst/>
              <a:rect l="l" t="t" r="r" b="b"/>
              <a:pathLst>
                <a:path w="985468" h="1137920">
                  <a:moveTo>
                    <a:pt x="492734" y="0"/>
                  </a:moveTo>
                  <a:lnTo>
                    <a:pt x="985468" y="284480"/>
                  </a:lnTo>
                  <a:lnTo>
                    <a:pt x="985468" y="853440"/>
                  </a:lnTo>
                  <a:lnTo>
                    <a:pt x="492734" y="1137920"/>
                  </a:lnTo>
                  <a:lnTo>
                    <a:pt x="0" y="853440"/>
                  </a:lnTo>
                  <a:lnTo>
                    <a:pt x="0" y="284480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133948" y="3025140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2.0</a:t>
              </a:r>
              <a:endParaRPr lang="en-US" sz="8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110380" y="2532380"/>
              <a:ext cx="1970935" cy="2275840"/>
            </a:xfrm>
            <a:custGeom>
              <a:avLst/>
              <a:gdLst/>
              <a:ahLst/>
              <a:cxnLst/>
              <a:rect l="l" t="t" r="r" b="b"/>
              <a:pathLst>
                <a:path w="1970935" h="2275840">
                  <a:moveTo>
                    <a:pt x="985468" y="0"/>
                  </a:moveTo>
                  <a:lnTo>
                    <a:pt x="1970935" y="568960"/>
                  </a:lnTo>
                  <a:lnTo>
                    <a:pt x="1970935" y="1706880"/>
                  </a:lnTo>
                  <a:lnTo>
                    <a:pt x="985468" y="2275840"/>
                  </a:lnTo>
                  <a:lnTo>
                    <a:pt x="0" y="1706880"/>
                  </a:lnTo>
                  <a:lnTo>
                    <a:pt x="0" y="568960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6133948" y="2456180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4.0</a:t>
              </a:r>
              <a:endParaRPr lang="en-US" sz="8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095848" y="2247900"/>
              <a:ext cx="0" cy="1422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5796128" y="1993900"/>
              <a:ext cx="5994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Strategy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 flipV="1">
              <a:off x="6095848" y="29591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393673" y="2832100"/>
              <a:ext cx="3251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Data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095848" y="36703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7393673" y="4330700"/>
              <a:ext cx="4622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Talent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095848" y="3670300"/>
              <a:ext cx="0" cy="1422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830418" y="5168900"/>
              <a:ext cx="5308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Process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 flipV="1">
              <a:off x="4864013" y="36703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472902" y="4330700"/>
              <a:ext cx="3251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Tech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864013" y="29591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267162" y="2832100"/>
              <a:ext cx="5308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Culture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110380" y="2816860"/>
              <a:ext cx="1724568" cy="1422400"/>
            </a:xfrm>
            <a:custGeom>
              <a:avLst/>
              <a:gdLst/>
              <a:ahLst/>
              <a:cxnLst/>
              <a:rect l="l" t="t" r="r" b="b"/>
              <a:pathLst>
                <a:path w="1724568" h="1422400">
                  <a:moveTo>
                    <a:pt x="985468" y="0"/>
                  </a:moveTo>
                  <a:lnTo>
                    <a:pt x="1478201" y="568960"/>
                  </a:lnTo>
                  <a:lnTo>
                    <a:pt x="1724568" y="1280160"/>
                  </a:lnTo>
                  <a:lnTo>
                    <a:pt x="985468" y="1422400"/>
                  </a:lnTo>
                  <a:lnTo>
                    <a:pt x="0" y="1422400"/>
                  </a:lnTo>
                  <a:lnTo>
                    <a:pt x="246367" y="426720"/>
                  </a:lnTo>
                  <a:close/>
                </a:path>
              </a:pathLst>
            </a:custGeom>
            <a:solidFill>
              <a:srgbClr val="2A78D6">
                <a:alpha val="18000"/>
              </a:srgbClr>
            </a:solidFill>
            <a:ln w="20320">
              <a:solidFill>
                <a:srgbClr val="2A78D6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065368" y="2786380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558101" y="3355340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804468" y="4066540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6065368" y="4208780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079900" y="4208780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5326267" y="3213100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4864013" y="2532380"/>
              <a:ext cx="2217302" cy="1991360"/>
            </a:xfrm>
            <a:custGeom>
              <a:avLst/>
              <a:gdLst/>
              <a:ahLst/>
              <a:cxnLst/>
              <a:rect l="l" t="t" r="r" b="b"/>
              <a:pathLst>
                <a:path w="2217302" h="1991360">
                  <a:moveTo>
                    <a:pt x="1231835" y="0"/>
                  </a:moveTo>
                  <a:lnTo>
                    <a:pt x="2217302" y="568960"/>
                  </a:lnTo>
                  <a:lnTo>
                    <a:pt x="2217302" y="1706880"/>
                  </a:lnTo>
                  <a:lnTo>
                    <a:pt x="1231835" y="1991360"/>
                  </a:lnTo>
                  <a:lnTo>
                    <a:pt x="0" y="1849120"/>
                  </a:lnTo>
                  <a:lnTo>
                    <a:pt x="246367" y="568960"/>
                  </a:lnTo>
                  <a:close/>
                </a:path>
              </a:pathLst>
            </a:custGeom>
            <a:solidFill>
              <a:srgbClr val="1BAF7A">
                <a:alpha val="18000"/>
              </a:srgbClr>
            </a:solidFill>
            <a:ln w="20320">
              <a:solidFill>
                <a:srgbClr val="1BAF7A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065368" y="2501900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7050835" y="3070860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050835" y="4208780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6065368" y="4493260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4833533" y="4351020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5079900" y="3070860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3047848" y="18478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3174848" y="1803400"/>
              <a:ext cx="4191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Today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670148" y="18478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3797148" y="1803400"/>
              <a:ext cx="4876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Target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PowerChart" descr="heatmap. 4 data series: North, South, East, West. 4 categories: Q1, Q2, Q3, Q4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78250"/>
            <a:chOff x="3047848" y="1524000"/>
            <a:chExt cx="6096000" cy="37782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Heatmap — Sales by region and quarter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492348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898873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305398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711923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1993900"/>
              <a:ext cx="393700" cy="7397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492348" y="1993900"/>
              <a:ext cx="1393825" cy="727075"/>
            </a:xfrm>
            <a:prstGeom prst="rect">
              <a:avLst/>
            </a:prstGeom>
            <a:solidFill>
              <a:srgbClr val="A0B5E5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3492348" y="199390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898873" y="1993900"/>
              <a:ext cx="1393825" cy="727075"/>
            </a:xfrm>
            <a:prstGeom prst="rect">
              <a:avLst/>
            </a:prstGeom>
            <a:solidFill>
              <a:srgbClr val="83A1E0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898873" y="199390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305398" y="1993900"/>
              <a:ext cx="1393825" cy="727075"/>
            </a:xfrm>
            <a:prstGeom prst="rect">
              <a:avLst/>
            </a:prstGeom>
            <a:solidFill>
              <a:srgbClr val="7197DD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305398" y="199390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711923" y="1993900"/>
              <a:ext cx="1393825" cy="72707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7711923" y="199390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047848" y="2733675"/>
              <a:ext cx="393700" cy="7397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92348" y="2733675"/>
              <a:ext cx="1393825" cy="727075"/>
            </a:xfrm>
            <a:prstGeom prst="rect">
              <a:avLst/>
            </a:prstGeom>
            <a:solidFill>
              <a:srgbClr val="CBD5F0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3492348" y="273367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898873" y="2733675"/>
              <a:ext cx="1393825" cy="727075"/>
            </a:xfrm>
            <a:prstGeom prst="rect">
              <a:avLst/>
            </a:prstGeom>
            <a:solidFill>
              <a:srgbClr val="BECBEC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898873" y="273367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305398" y="2733675"/>
              <a:ext cx="1393825" cy="727075"/>
            </a:xfrm>
            <a:prstGeom prst="rect">
              <a:avLst/>
            </a:prstGeom>
            <a:solidFill>
              <a:srgbClr val="C7D3EF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6305398" y="273367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711923" y="2733675"/>
              <a:ext cx="1393825" cy="727075"/>
            </a:xfrm>
            <a:prstGeom prst="rect">
              <a:avLst/>
            </a:prstGeom>
            <a:solidFill>
              <a:srgbClr val="B7C6EA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7711923" y="273367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36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047848" y="3473450"/>
              <a:ext cx="393700" cy="7397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492348" y="3473450"/>
              <a:ext cx="1393825" cy="727075"/>
            </a:xfrm>
            <a:prstGeom prst="rect">
              <a:avLst/>
            </a:prstGeom>
            <a:solidFill>
              <a:srgbClr val="E2E7F6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3492348" y="347345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898873" y="3473450"/>
              <a:ext cx="1393825" cy="727075"/>
            </a:xfrm>
            <a:prstGeom prst="rect">
              <a:avLst/>
            </a:prstGeom>
            <a:solidFill>
              <a:srgbClr val="D9E1F4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4898873" y="347345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305398" y="3473450"/>
              <a:ext cx="1393825" cy="727075"/>
            </a:xfrm>
            <a:prstGeom prst="rect">
              <a:avLst/>
            </a:prstGeom>
            <a:solidFill>
              <a:srgbClr val="CED7F0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6305398" y="347345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29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711923" y="3473450"/>
              <a:ext cx="1393825" cy="727075"/>
            </a:xfrm>
            <a:prstGeom prst="rect">
              <a:avLst/>
            </a:prstGeom>
            <a:solidFill>
              <a:srgbClr val="C1CEED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7711923" y="347345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33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3047848" y="4213225"/>
              <a:ext cx="393700" cy="7397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West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492348" y="4213225"/>
              <a:ext cx="1393825" cy="727075"/>
            </a:xfrm>
            <a:prstGeom prst="rect">
              <a:avLst/>
            </a:prstGeom>
            <a:solidFill>
              <a:srgbClr val="ECF0F9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3492348" y="421322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4898873" y="4213225"/>
              <a:ext cx="1393825" cy="727075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4898873" y="421322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6305398" y="4213225"/>
              <a:ext cx="1393825" cy="727075"/>
            </a:xfrm>
            <a:prstGeom prst="rect">
              <a:avLst/>
            </a:prstGeom>
            <a:solidFill>
              <a:srgbClr val="E4EAF7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6305398" y="421322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21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7711923" y="4213225"/>
              <a:ext cx="1393825" cy="727075"/>
            </a:xfrm>
            <a:prstGeom prst="rect">
              <a:avLst/>
            </a:prstGeom>
            <a:solidFill>
              <a:srgbClr val="DCE3F5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7711923" y="421322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24</a:t>
              </a:r>
              <a:endParaRPr lang="en-US" sz="10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3492348" y="5029200"/>
              <a:ext cx="80433" cy="1143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3566431" y="5029200"/>
              <a:ext cx="80433" cy="114300"/>
            </a:xfrm>
            <a:prstGeom prst="rect">
              <a:avLst/>
            </a:prstGeom>
            <a:solidFill>
              <a:srgbClr val="ECF0FA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3640514" y="5029200"/>
              <a:ext cx="80433" cy="114300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3714598" y="5029200"/>
              <a:ext cx="80433" cy="114300"/>
            </a:xfrm>
            <a:prstGeom prst="rect">
              <a:avLst/>
            </a:prstGeom>
            <a:solidFill>
              <a:srgbClr val="E3E9F7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3788681" y="5029200"/>
              <a:ext cx="80433" cy="114300"/>
            </a:xfrm>
            <a:prstGeom prst="rect">
              <a:avLst/>
            </a:prstGeom>
            <a:solidFill>
              <a:srgbClr val="DEE5F5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3862764" y="5029200"/>
              <a:ext cx="80433" cy="114300"/>
            </a:xfrm>
            <a:prstGeom prst="rect">
              <a:avLst/>
            </a:prstGeom>
            <a:solidFill>
              <a:srgbClr val="D9E0F4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3936848" y="5029200"/>
              <a:ext cx="80433" cy="114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4010931" y="5029200"/>
              <a:ext cx="80433" cy="114300"/>
            </a:xfrm>
            <a:prstGeom prst="rect">
              <a:avLst/>
            </a:prstGeom>
            <a:solidFill>
              <a:srgbClr val="CED8F1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4085014" y="5029200"/>
              <a:ext cx="80433" cy="114300"/>
            </a:xfrm>
            <a:prstGeom prst="rect">
              <a:avLst/>
            </a:prstGeom>
            <a:solidFill>
              <a:srgbClr val="C9D4EF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4159098" y="5029200"/>
              <a:ext cx="80433" cy="114300"/>
            </a:xfrm>
            <a:prstGeom prst="rect">
              <a:avLst/>
            </a:prstGeom>
            <a:solidFill>
              <a:srgbClr val="C3CFED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4233181" y="5029200"/>
              <a:ext cx="80433" cy="114300"/>
            </a:xfrm>
            <a:prstGeom prst="rect">
              <a:avLst/>
            </a:prstGeom>
            <a:solidFill>
              <a:srgbClr val="BDCAEC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4307264" y="5029200"/>
              <a:ext cx="80433" cy="114300"/>
            </a:xfrm>
            <a:prstGeom prst="rect">
              <a:avLst/>
            </a:prstGeom>
            <a:solidFill>
              <a:srgbClr val="B6C6EA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4381348" y="5029200"/>
              <a:ext cx="80433" cy="114300"/>
            </a:xfrm>
            <a:prstGeom prst="rect">
              <a:avLst/>
            </a:prstGeom>
            <a:solidFill>
              <a:srgbClr val="B0C1E9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4455431" y="5029200"/>
              <a:ext cx="80433" cy="114300"/>
            </a:xfrm>
            <a:prstGeom prst="rect">
              <a:avLst/>
            </a:prstGeom>
            <a:solidFill>
              <a:srgbClr val="A9BBE7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4529514" y="5029200"/>
              <a:ext cx="80433" cy="114300"/>
            </a:xfrm>
            <a:prstGeom prst="rect">
              <a:avLst/>
            </a:prstGeom>
            <a:solidFill>
              <a:srgbClr val="A1B6E5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4603598" y="5029200"/>
              <a:ext cx="80433" cy="114300"/>
            </a:xfrm>
            <a:prstGeom prst="rect">
              <a:avLst/>
            </a:prstGeom>
            <a:solidFill>
              <a:srgbClr val="9AB1E4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4677681" y="5029200"/>
              <a:ext cx="80433" cy="114300"/>
            </a:xfrm>
            <a:prstGeom prst="rect">
              <a:avLst/>
            </a:prstGeom>
            <a:solidFill>
              <a:srgbClr val="91ABE2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4751764" y="5029200"/>
              <a:ext cx="80433" cy="114300"/>
            </a:xfrm>
            <a:prstGeom prst="rect">
              <a:avLst/>
            </a:prstGeom>
            <a:solidFill>
              <a:srgbClr val="88A5E0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4825848" y="5029200"/>
              <a:ext cx="80433" cy="114300"/>
            </a:xfrm>
            <a:prstGeom prst="rect">
              <a:avLst/>
            </a:prstGeom>
            <a:solidFill>
              <a:srgbClr val="7E9EDF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4899931" y="5029200"/>
              <a:ext cx="80433" cy="114300"/>
            </a:xfrm>
            <a:prstGeom prst="rect">
              <a:avLst/>
            </a:prstGeom>
            <a:solidFill>
              <a:srgbClr val="7398DD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4974014" y="5029200"/>
              <a:ext cx="80433" cy="114300"/>
            </a:xfrm>
            <a:prstGeom prst="rect">
              <a:avLst/>
            </a:prstGeom>
            <a:solidFill>
              <a:srgbClr val="6791DB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5048098" y="5029200"/>
              <a:ext cx="80433" cy="114300"/>
            </a:xfrm>
            <a:prstGeom prst="rect">
              <a:avLst/>
            </a:prstGeom>
            <a:solidFill>
              <a:srgbClr val="5889DA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5122181" y="5029200"/>
              <a:ext cx="80433" cy="114300"/>
            </a:xfrm>
            <a:prstGeom prst="rect">
              <a:avLst/>
            </a:prstGeom>
            <a:solidFill>
              <a:srgbClr val="4681D8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5196264" y="5029200"/>
              <a:ext cx="80433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7" name="Text 65"/>
            <p:cNvSpPr/>
            <p:nvPr/>
          </p:nvSpPr>
          <p:spPr>
            <a:xfrm>
              <a:off x="3492348" y="5149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</a:t>
              </a:r>
              <a:endParaRPr lang="en-US" sz="85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4381348" y="5149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PowerChart" descr="tile-grid map. 1 data series: Revenue. 11 categories: DK, SE, NO, FI and 7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84600"/>
            <a:chOff x="3047848" y="1524000"/>
            <a:chExt cx="6096000" cy="37846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Tile map — Revenue by market (€m)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147191" y="1828800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4147191" y="1828800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IS</a:t>
              </a:r>
              <a:endParaRPr lang="en-US" sz="967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718816" y="1828800"/>
              <a:ext cx="361156" cy="361156"/>
            </a:xfrm>
            <a:prstGeom prst="rect">
              <a:avLst/>
            </a:prstGeom>
            <a:solidFill>
              <a:srgbClr val="E4E9F7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5718816" y="1850628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</a:t>
              </a:r>
              <a:endParaRPr lang="en-US" sz="967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718816" y="2009378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8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111723" y="1828800"/>
              <a:ext cx="361156" cy="361156"/>
            </a:xfrm>
            <a:prstGeom prst="rect">
              <a:avLst/>
            </a:prstGeom>
            <a:solidFill>
              <a:srgbClr val="D3DCF2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6111723" y="1850628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</a:t>
              </a:r>
              <a:endParaRPr lang="en-US" sz="967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111723" y="2009378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8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504629" y="1828800"/>
              <a:ext cx="361156" cy="361156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504629" y="1850628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FI</a:t>
              </a:r>
              <a:endParaRPr lang="en-US" sz="967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504629" y="2009378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32</a:t>
              </a:r>
              <a:endParaRPr lang="en-US" sz="8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897535" y="2221706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6897535" y="2221706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EE</a:t>
              </a:r>
              <a:endParaRPr lang="en-US" sz="967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147191" y="2614613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4147191" y="2614613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IE</a:t>
              </a:r>
              <a:endParaRPr lang="en-US" sz="967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40098" y="2614613"/>
              <a:ext cx="361156" cy="361156"/>
            </a:xfrm>
            <a:prstGeom prst="rect">
              <a:avLst/>
            </a:prstGeom>
            <a:solidFill>
              <a:srgbClr val="88A4E0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540098" y="2636441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GB</a:t>
              </a:r>
              <a:endParaRPr lang="en-US" sz="967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540098" y="2795191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112</a:t>
              </a:r>
              <a:endParaRPr lang="en-US" sz="8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325910" y="2614613"/>
              <a:ext cx="361156" cy="361156"/>
            </a:xfrm>
            <a:prstGeom prst="rect">
              <a:avLst/>
            </a:prstGeom>
            <a:solidFill>
              <a:srgbClr val="CDD7F0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5325910" y="2636441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NL</a:t>
              </a:r>
              <a:endParaRPr lang="en-US" sz="967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325910" y="2795191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66</a:t>
              </a:r>
              <a:endParaRPr lang="en-US" sz="8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718816" y="2614613"/>
              <a:ext cx="361156" cy="361156"/>
            </a:xfrm>
            <a:prstGeom prst="rect">
              <a:avLst/>
            </a:prstGeom>
            <a:solidFill>
              <a:srgbClr val="B6C5EA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5718816" y="2636441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DK</a:t>
              </a:r>
              <a:endParaRPr lang="en-US" sz="967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718816" y="2795191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84</a:t>
              </a:r>
              <a:endParaRPr lang="en-US" sz="8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897535" y="2614613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6897535" y="2614613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LV</a:t>
              </a:r>
              <a:endParaRPr lang="en-US" sz="967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325910" y="3007519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5325910" y="3007519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BE</a:t>
              </a:r>
              <a:endParaRPr lang="en-US" sz="967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5718816" y="3007519"/>
              <a:ext cx="361156" cy="36115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5718816" y="3029347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</a:t>
              </a:r>
              <a:endParaRPr lang="en-US" sz="967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5718816" y="3188097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140</a:t>
              </a:r>
              <a:endParaRPr lang="en-US" sz="8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111723" y="3007519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6111723" y="3007519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CZ</a:t>
              </a:r>
              <a:endParaRPr lang="en-US" sz="967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6504629" y="3007519"/>
              <a:ext cx="361156" cy="361156"/>
            </a:xfrm>
            <a:prstGeom prst="rect">
              <a:avLst/>
            </a:prstGeom>
            <a:solidFill>
              <a:srgbClr val="EBEFF9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6504629" y="3029347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PL</a:t>
              </a:r>
              <a:endParaRPr lang="en-US" sz="967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504629" y="3188097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8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6897535" y="3007519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6897535" y="3007519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LT</a:t>
              </a:r>
              <a:endParaRPr lang="en-US" sz="967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7290441" y="3007519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7290441" y="3007519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BY</a:t>
              </a:r>
              <a:endParaRPr lang="en-US" sz="967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7683348" y="3007519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7683348" y="3007519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RU</a:t>
              </a:r>
              <a:endParaRPr lang="en-US" sz="967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4933004" y="3400425"/>
              <a:ext cx="361156" cy="361156"/>
            </a:xfrm>
            <a:prstGeom prst="rect">
              <a:avLst/>
            </a:prstGeom>
            <a:solidFill>
              <a:srgbClr val="A1B6E5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4933004" y="3422253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</a:t>
              </a:r>
              <a:endParaRPr lang="en-US" sz="967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4933004" y="3581003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98</a:t>
              </a:r>
              <a:endParaRPr lang="en-US" sz="8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5325910" y="3400425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9" name="Text 47"/>
            <p:cNvSpPr/>
            <p:nvPr/>
          </p:nvSpPr>
          <p:spPr>
            <a:xfrm>
              <a:off x="5325910" y="3400425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LU</a:t>
              </a:r>
              <a:endParaRPr lang="en-US" sz="967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5718816" y="3400425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1" name="Text 49"/>
            <p:cNvSpPr/>
            <p:nvPr/>
          </p:nvSpPr>
          <p:spPr>
            <a:xfrm>
              <a:off x="5718816" y="3400425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AT</a:t>
              </a:r>
              <a:endParaRPr lang="en-US" sz="967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6111723" y="3400425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3" name="Text 51"/>
            <p:cNvSpPr/>
            <p:nvPr/>
          </p:nvSpPr>
          <p:spPr>
            <a:xfrm>
              <a:off x="6111723" y="3400425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SK</a:t>
              </a:r>
              <a:endParaRPr lang="en-US" sz="967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6504629" y="3400425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5" name="Text 53"/>
            <p:cNvSpPr/>
            <p:nvPr/>
          </p:nvSpPr>
          <p:spPr>
            <a:xfrm>
              <a:off x="6504629" y="3400425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RS</a:t>
              </a:r>
              <a:endParaRPr lang="en-US" sz="967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6897535" y="3400425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7" name="Text 55"/>
            <p:cNvSpPr/>
            <p:nvPr/>
          </p:nvSpPr>
          <p:spPr>
            <a:xfrm>
              <a:off x="6897535" y="3400425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RO</a:t>
              </a:r>
              <a:endParaRPr lang="en-US" sz="967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7290441" y="3400425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9" name="Text 57"/>
            <p:cNvSpPr/>
            <p:nvPr/>
          </p:nvSpPr>
          <p:spPr>
            <a:xfrm>
              <a:off x="7290441" y="3400425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UA</a:t>
              </a:r>
              <a:endParaRPr lang="en-US" sz="967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4147191" y="3793331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61" name="Text 59"/>
            <p:cNvSpPr/>
            <p:nvPr/>
          </p:nvSpPr>
          <p:spPr>
            <a:xfrm>
              <a:off x="4147191" y="3793331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PT</a:t>
              </a:r>
              <a:endParaRPr lang="en-US" sz="967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4540098" y="3793331"/>
              <a:ext cx="361156" cy="361156"/>
            </a:xfrm>
            <a:prstGeom prst="rect">
              <a:avLst/>
            </a:prstGeom>
            <a:solidFill>
              <a:srgbClr val="DBE2F4"/>
            </a:solidFill>
            <a:ln/>
          </p:spPr>
        </p:sp>
        <p:sp>
          <p:nvSpPr>
            <p:cNvPr id="63" name="Text 61"/>
            <p:cNvSpPr/>
            <p:nvPr/>
          </p:nvSpPr>
          <p:spPr>
            <a:xfrm>
              <a:off x="4540098" y="3815159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ES</a:t>
              </a:r>
              <a:endParaRPr lang="en-US" sz="967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4540098" y="3973909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54</a:t>
              </a:r>
              <a:endParaRPr lang="en-US" sz="80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5325910" y="3793331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66" name="Text 64"/>
            <p:cNvSpPr/>
            <p:nvPr/>
          </p:nvSpPr>
          <p:spPr>
            <a:xfrm>
              <a:off x="5325910" y="3793331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</a:t>
              </a:r>
              <a:endParaRPr lang="en-US" sz="967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5718816" y="3793331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68" name="Text 66"/>
            <p:cNvSpPr/>
            <p:nvPr/>
          </p:nvSpPr>
          <p:spPr>
            <a:xfrm>
              <a:off x="5718816" y="3793331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SI</a:t>
              </a:r>
              <a:endParaRPr lang="en-US" sz="967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6111723" y="3793331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0" name="Text 68"/>
            <p:cNvSpPr/>
            <p:nvPr/>
          </p:nvSpPr>
          <p:spPr>
            <a:xfrm>
              <a:off x="6111723" y="3793331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HU</a:t>
              </a:r>
              <a:endParaRPr lang="en-US" sz="967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6504629" y="3793331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2" name="Text 70"/>
            <p:cNvSpPr/>
            <p:nvPr/>
          </p:nvSpPr>
          <p:spPr>
            <a:xfrm>
              <a:off x="6504629" y="3793331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</a:t>
              </a:r>
              <a:endParaRPr lang="en-US" sz="967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6897535" y="3793331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4" name="Text 72"/>
            <p:cNvSpPr/>
            <p:nvPr/>
          </p:nvSpPr>
          <p:spPr>
            <a:xfrm>
              <a:off x="6897535" y="3793331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BG</a:t>
              </a:r>
              <a:endParaRPr lang="en-US" sz="967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7290441" y="3793331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6" name="Text 74"/>
            <p:cNvSpPr/>
            <p:nvPr/>
          </p:nvSpPr>
          <p:spPr>
            <a:xfrm>
              <a:off x="7290441" y="3793331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MD</a:t>
              </a:r>
              <a:endParaRPr lang="en-US" sz="967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5325910" y="4186238"/>
              <a:ext cx="361156" cy="361156"/>
            </a:xfrm>
            <a:prstGeom prst="rect">
              <a:avLst/>
            </a:prstGeom>
            <a:solidFill>
              <a:srgbClr val="C6D1EE"/>
            </a:solidFill>
            <a:ln/>
          </p:spPr>
        </p:sp>
        <p:sp>
          <p:nvSpPr>
            <p:cNvPr id="78" name="Text 76"/>
            <p:cNvSpPr/>
            <p:nvPr/>
          </p:nvSpPr>
          <p:spPr>
            <a:xfrm>
              <a:off x="5325910" y="4208066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IT</a:t>
              </a:r>
              <a:endParaRPr lang="en-US" sz="967" dirty="0"/>
            </a:p>
          </p:txBody>
        </p:sp>
        <p:sp>
          <p:nvSpPr>
            <p:cNvPr id="79" name="Text 77"/>
            <p:cNvSpPr/>
            <p:nvPr/>
          </p:nvSpPr>
          <p:spPr>
            <a:xfrm>
              <a:off x="5325910" y="4366816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72</a:t>
              </a:r>
              <a:endParaRPr lang="en-US" sz="800" dirty="0"/>
            </a:p>
          </p:txBody>
        </p:sp>
        <p:sp>
          <p:nvSpPr>
            <p:cNvPr id="80" name="Shape 78"/>
            <p:cNvSpPr/>
            <p:nvPr/>
          </p:nvSpPr>
          <p:spPr>
            <a:xfrm>
              <a:off x="6111723" y="4186238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1" name="Text 79"/>
            <p:cNvSpPr/>
            <p:nvPr/>
          </p:nvSpPr>
          <p:spPr>
            <a:xfrm>
              <a:off x="6111723" y="4186238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HR</a:t>
              </a:r>
              <a:endParaRPr lang="en-US" sz="967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6504629" y="4186238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3" name="Text 81"/>
            <p:cNvSpPr/>
            <p:nvPr/>
          </p:nvSpPr>
          <p:spPr>
            <a:xfrm>
              <a:off x="6504629" y="4186238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</a:t>
              </a:r>
              <a:endParaRPr lang="en-US" sz="967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6897535" y="4186238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5" name="Text 83"/>
            <p:cNvSpPr/>
            <p:nvPr/>
          </p:nvSpPr>
          <p:spPr>
            <a:xfrm>
              <a:off x="6897535" y="4186238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MK</a:t>
              </a:r>
              <a:endParaRPr lang="en-US" sz="967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7290441" y="4186238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7" name="Text 85"/>
            <p:cNvSpPr/>
            <p:nvPr/>
          </p:nvSpPr>
          <p:spPr>
            <a:xfrm>
              <a:off x="7290441" y="4186238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</a:t>
              </a:r>
              <a:endParaRPr lang="en-US" sz="967" dirty="0"/>
            </a:p>
          </p:txBody>
        </p:sp>
        <p:sp>
          <p:nvSpPr>
            <p:cNvPr id="88" name="Shape 86"/>
            <p:cNvSpPr/>
            <p:nvPr/>
          </p:nvSpPr>
          <p:spPr>
            <a:xfrm>
              <a:off x="4933004" y="4579144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9" name="Text 87"/>
            <p:cNvSpPr/>
            <p:nvPr/>
          </p:nvSpPr>
          <p:spPr>
            <a:xfrm>
              <a:off x="4933004" y="4579144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MT</a:t>
              </a:r>
              <a:endParaRPr lang="en-US" sz="967" dirty="0"/>
            </a:p>
          </p:txBody>
        </p:sp>
        <p:sp>
          <p:nvSpPr>
            <p:cNvPr id="90" name="Shape 88"/>
            <p:cNvSpPr/>
            <p:nvPr/>
          </p:nvSpPr>
          <p:spPr>
            <a:xfrm>
              <a:off x="6504629" y="4579144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1" name="Text 89"/>
            <p:cNvSpPr/>
            <p:nvPr/>
          </p:nvSpPr>
          <p:spPr>
            <a:xfrm>
              <a:off x="6504629" y="4579144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</a:t>
              </a:r>
              <a:endParaRPr lang="en-US" sz="967" dirty="0"/>
            </a:p>
          </p:txBody>
        </p:sp>
        <p:sp>
          <p:nvSpPr>
            <p:cNvPr id="92" name="Shape 90"/>
            <p:cNvSpPr/>
            <p:nvPr/>
          </p:nvSpPr>
          <p:spPr>
            <a:xfrm>
              <a:off x="6897535" y="4579144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3" name="Text 91"/>
            <p:cNvSpPr/>
            <p:nvPr/>
          </p:nvSpPr>
          <p:spPr>
            <a:xfrm>
              <a:off x="6897535" y="4579144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</a:t>
              </a:r>
              <a:endParaRPr lang="en-US" sz="967" dirty="0"/>
            </a:p>
          </p:txBody>
        </p:sp>
        <p:sp>
          <p:nvSpPr>
            <p:cNvPr id="94" name="Shape 92"/>
            <p:cNvSpPr/>
            <p:nvPr/>
          </p:nvSpPr>
          <p:spPr>
            <a:xfrm>
              <a:off x="7683348" y="4579144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5" name="Text 93"/>
            <p:cNvSpPr/>
            <p:nvPr/>
          </p:nvSpPr>
          <p:spPr>
            <a:xfrm>
              <a:off x="7683348" y="4579144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CY</a:t>
              </a:r>
              <a:endParaRPr lang="en-US" sz="967" dirty="0"/>
            </a:p>
          </p:txBody>
        </p:sp>
        <p:sp>
          <p:nvSpPr>
            <p:cNvPr id="96" name="Shape 94"/>
            <p:cNvSpPr/>
            <p:nvPr/>
          </p:nvSpPr>
          <p:spPr>
            <a:xfrm>
              <a:off x="4147191" y="5035550"/>
              <a:ext cx="69850" cy="1143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97" name="Shape 95"/>
            <p:cNvSpPr/>
            <p:nvPr/>
          </p:nvSpPr>
          <p:spPr>
            <a:xfrm>
              <a:off x="4210691" y="5035550"/>
              <a:ext cx="69850" cy="114300"/>
            </a:xfrm>
            <a:prstGeom prst="rect">
              <a:avLst/>
            </a:prstGeom>
            <a:solidFill>
              <a:srgbClr val="ECF0FA"/>
            </a:solidFill>
            <a:ln/>
          </p:spPr>
        </p:sp>
        <p:sp>
          <p:nvSpPr>
            <p:cNvPr id="98" name="Shape 96"/>
            <p:cNvSpPr/>
            <p:nvPr/>
          </p:nvSpPr>
          <p:spPr>
            <a:xfrm>
              <a:off x="4274191" y="5035550"/>
              <a:ext cx="69850" cy="114300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4337691" y="5035550"/>
              <a:ext cx="69850" cy="114300"/>
            </a:xfrm>
            <a:prstGeom prst="rect">
              <a:avLst/>
            </a:prstGeom>
            <a:solidFill>
              <a:srgbClr val="E3E9F7"/>
            </a:solidFill>
            <a:ln/>
          </p:spPr>
        </p:sp>
        <p:sp>
          <p:nvSpPr>
            <p:cNvPr id="100" name="Shape 98"/>
            <p:cNvSpPr/>
            <p:nvPr/>
          </p:nvSpPr>
          <p:spPr>
            <a:xfrm>
              <a:off x="4401191" y="5035550"/>
              <a:ext cx="69850" cy="114300"/>
            </a:xfrm>
            <a:prstGeom prst="rect">
              <a:avLst/>
            </a:prstGeom>
            <a:solidFill>
              <a:srgbClr val="DEE5F5"/>
            </a:solidFill>
            <a:ln/>
          </p:spPr>
        </p:sp>
        <p:sp>
          <p:nvSpPr>
            <p:cNvPr id="101" name="Shape 99"/>
            <p:cNvSpPr/>
            <p:nvPr/>
          </p:nvSpPr>
          <p:spPr>
            <a:xfrm>
              <a:off x="4464691" y="5035550"/>
              <a:ext cx="69850" cy="114300"/>
            </a:xfrm>
            <a:prstGeom prst="rect">
              <a:avLst/>
            </a:prstGeom>
            <a:solidFill>
              <a:srgbClr val="D9E0F4"/>
            </a:solidFill>
            <a:ln/>
          </p:spPr>
        </p:sp>
        <p:sp>
          <p:nvSpPr>
            <p:cNvPr id="102" name="Shape 100"/>
            <p:cNvSpPr/>
            <p:nvPr/>
          </p:nvSpPr>
          <p:spPr>
            <a:xfrm>
              <a:off x="4528191" y="5035550"/>
              <a:ext cx="69850" cy="114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103" name="Shape 101"/>
            <p:cNvSpPr/>
            <p:nvPr/>
          </p:nvSpPr>
          <p:spPr>
            <a:xfrm>
              <a:off x="4591691" y="5035550"/>
              <a:ext cx="69850" cy="114300"/>
            </a:xfrm>
            <a:prstGeom prst="rect">
              <a:avLst/>
            </a:prstGeom>
            <a:solidFill>
              <a:srgbClr val="CED8F1"/>
            </a:solidFill>
            <a:ln/>
          </p:spPr>
        </p:sp>
        <p:sp>
          <p:nvSpPr>
            <p:cNvPr id="104" name="Shape 102"/>
            <p:cNvSpPr/>
            <p:nvPr/>
          </p:nvSpPr>
          <p:spPr>
            <a:xfrm>
              <a:off x="4655191" y="5035550"/>
              <a:ext cx="69850" cy="114300"/>
            </a:xfrm>
            <a:prstGeom prst="rect">
              <a:avLst/>
            </a:prstGeom>
            <a:solidFill>
              <a:srgbClr val="C9D4EF"/>
            </a:solidFill>
            <a:ln/>
          </p:spPr>
        </p:sp>
        <p:sp>
          <p:nvSpPr>
            <p:cNvPr id="105" name="Shape 103"/>
            <p:cNvSpPr/>
            <p:nvPr/>
          </p:nvSpPr>
          <p:spPr>
            <a:xfrm>
              <a:off x="4718691" y="5035550"/>
              <a:ext cx="69850" cy="114300"/>
            </a:xfrm>
            <a:prstGeom prst="rect">
              <a:avLst/>
            </a:prstGeom>
            <a:solidFill>
              <a:srgbClr val="C3CFED"/>
            </a:solidFill>
            <a:ln/>
          </p:spPr>
        </p:sp>
        <p:sp>
          <p:nvSpPr>
            <p:cNvPr id="106" name="Shape 104"/>
            <p:cNvSpPr/>
            <p:nvPr/>
          </p:nvSpPr>
          <p:spPr>
            <a:xfrm>
              <a:off x="4782191" y="5035550"/>
              <a:ext cx="69850" cy="114300"/>
            </a:xfrm>
            <a:prstGeom prst="rect">
              <a:avLst/>
            </a:prstGeom>
            <a:solidFill>
              <a:srgbClr val="BDCAEC"/>
            </a:solidFill>
            <a:ln/>
          </p:spPr>
        </p:sp>
        <p:sp>
          <p:nvSpPr>
            <p:cNvPr id="107" name="Shape 105"/>
            <p:cNvSpPr/>
            <p:nvPr/>
          </p:nvSpPr>
          <p:spPr>
            <a:xfrm>
              <a:off x="4845691" y="5035550"/>
              <a:ext cx="69850" cy="114300"/>
            </a:xfrm>
            <a:prstGeom prst="rect">
              <a:avLst/>
            </a:prstGeom>
            <a:solidFill>
              <a:srgbClr val="B6C6EA"/>
            </a:solidFill>
            <a:ln/>
          </p:spPr>
        </p:sp>
        <p:sp>
          <p:nvSpPr>
            <p:cNvPr id="108" name="Shape 106"/>
            <p:cNvSpPr/>
            <p:nvPr/>
          </p:nvSpPr>
          <p:spPr>
            <a:xfrm>
              <a:off x="4909191" y="5035550"/>
              <a:ext cx="69850" cy="114300"/>
            </a:xfrm>
            <a:prstGeom prst="rect">
              <a:avLst/>
            </a:prstGeom>
            <a:solidFill>
              <a:srgbClr val="B0C1E9"/>
            </a:solidFill>
            <a:ln/>
          </p:spPr>
        </p:sp>
        <p:sp>
          <p:nvSpPr>
            <p:cNvPr id="109" name="Shape 107"/>
            <p:cNvSpPr/>
            <p:nvPr/>
          </p:nvSpPr>
          <p:spPr>
            <a:xfrm>
              <a:off x="4972691" y="5035550"/>
              <a:ext cx="69850" cy="114300"/>
            </a:xfrm>
            <a:prstGeom prst="rect">
              <a:avLst/>
            </a:prstGeom>
            <a:solidFill>
              <a:srgbClr val="A9BBE7"/>
            </a:solidFill>
            <a:ln/>
          </p:spPr>
        </p:sp>
        <p:sp>
          <p:nvSpPr>
            <p:cNvPr id="110" name="Shape 108"/>
            <p:cNvSpPr/>
            <p:nvPr/>
          </p:nvSpPr>
          <p:spPr>
            <a:xfrm>
              <a:off x="5036191" y="5035550"/>
              <a:ext cx="69850" cy="114300"/>
            </a:xfrm>
            <a:prstGeom prst="rect">
              <a:avLst/>
            </a:prstGeom>
            <a:solidFill>
              <a:srgbClr val="A1B6E5"/>
            </a:solidFill>
            <a:ln/>
          </p:spPr>
        </p:sp>
        <p:sp>
          <p:nvSpPr>
            <p:cNvPr id="111" name="Shape 109"/>
            <p:cNvSpPr/>
            <p:nvPr/>
          </p:nvSpPr>
          <p:spPr>
            <a:xfrm>
              <a:off x="5099691" y="5035550"/>
              <a:ext cx="69850" cy="114300"/>
            </a:xfrm>
            <a:prstGeom prst="rect">
              <a:avLst/>
            </a:prstGeom>
            <a:solidFill>
              <a:srgbClr val="9AB1E4"/>
            </a:solidFill>
            <a:ln/>
          </p:spPr>
        </p:sp>
        <p:sp>
          <p:nvSpPr>
            <p:cNvPr id="112" name="Shape 110"/>
            <p:cNvSpPr/>
            <p:nvPr/>
          </p:nvSpPr>
          <p:spPr>
            <a:xfrm>
              <a:off x="5163191" y="5035550"/>
              <a:ext cx="69850" cy="114300"/>
            </a:xfrm>
            <a:prstGeom prst="rect">
              <a:avLst/>
            </a:prstGeom>
            <a:solidFill>
              <a:srgbClr val="91ABE2"/>
            </a:solidFill>
            <a:ln/>
          </p:spPr>
        </p:sp>
        <p:sp>
          <p:nvSpPr>
            <p:cNvPr id="113" name="Shape 111"/>
            <p:cNvSpPr/>
            <p:nvPr/>
          </p:nvSpPr>
          <p:spPr>
            <a:xfrm>
              <a:off x="5226691" y="5035550"/>
              <a:ext cx="69850" cy="114300"/>
            </a:xfrm>
            <a:prstGeom prst="rect">
              <a:avLst/>
            </a:prstGeom>
            <a:solidFill>
              <a:srgbClr val="88A5E0"/>
            </a:solidFill>
            <a:ln/>
          </p:spPr>
        </p:sp>
        <p:sp>
          <p:nvSpPr>
            <p:cNvPr id="114" name="Shape 112"/>
            <p:cNvSpPr/>
            <p:nvPr/>
          </p:nvSpPr>
          <p:spPr>
            <a:xfrm>
              <a:off x="5290191" y="5035550"/>
              <a:ext cx="69850" cy="114300"/>
            </a:xfrm>
            <a:prstGeom prst="rect">
              <a:avLst/>
            </a:prstGeom>
            <a:solidFill>
              <a:srgbClr val="7E9EDF"/>
            </a:solidFill>
            <a:ln/>
          </p:spPr>
        </p:sp>
        <p:sp>
          <p:nvSpPr>
            <p:cNvPr id="115" name="Shape 113"/>
            <p:cNvSpPr/>
            <p:nvPr/>
          </p:nvSpPr>
          <p:spPr>
            <a:xfrm>
              <a:off x="5353691" y="5035550"/>
              <a:ext cx="69850" cy="114300"/>
            </a:xfrm>
            <a:prstGeom prst="rect">
              <a:avLst/>
            </a:prstGeom>
            <a:solidFill>
              <a:srgbClr val="7398DD"/>
            </a:solidFill>
            <a:ln/>
          </p:spPr>
        </p:sp>
        <p:sp>
          <p:nvSpPr>
            <p:cNvPr id="116" name="Shape 114"/>
            <p:cNvSpPr/>
            <p:nvPr/>
          </p:nvSpPr>
          <p:spPr>
            <a:xfrm>
              <a:off x="5417191" y="5035550"/>
              <a:ext cx="69850" cy="114300"/>
            </a:xfrm>
            <a:prstGeom prst="rect">
              <a:avLst/>
            </a:prstGeom>
            <a:solidFill>
              <a:srgbClr val="6791DB"/>
            </a:solidFill>
            <a:ln/>
          </p:spPr>
        </p:sp>
        <p:sp>
          <p:nvSpPr>
            <p:cNvPr id="117" name="Shape 115"/>
            <p:cNvSpPr/>
            <p:nvPr/>
          </p:nvSpPr>
          <p:spPr>
            <a:xfrm>
              <a:off x="5480691" y="5035550"/>
              <a:ext cx="69850" cy="114300"/>
            </a:xfrm>
            <a:prstGeom prst="rect">
              <a:avLst/>
            </a:prstGeom>
            <a:solidFill>
              <a:srgbClr val="5889DA"/>
            </a:solidFill>
            <a:ln/>
          </p:spPr>
        </p:sp>
        <p:sp>
          <p:nvSpPr>
            <p:cNvPr id="118" name="Shape 116"/>
            <p:cNvSpPr/>
            <p:nvPr/>
          </p:nvSpPr>
          <p:spPr>
            <a:xfrm>
              <a:off x="5544191" y="5035550"/>
              <a:ext cx="69850" cy="114300"/>
            </a:xfrm>
            <a:prstGeom prst="rect">
              <a:avLst/>
            </a:prstGeom>
            <a:solidFill>
              <a:srgbClr val="4681D8"/>
            </a:solidFill>
            <a:ln/>
          </p:spPr>
        </p:sp>
        <p:sp>
          <p:nvSpPr>
            <p:cNvPr id="119" name="Shape 117"/>
            <p:cNvSpPr/>
            <p:nvPr/>
          </p:nvSpPr>
          <p:spPr>
            <a:xfrm>
              <a:off x="5607691" y="5035550"/>
              <a:ext cx="69850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0" name="Text 118"/>
            <p:cNvSpPr/>
            <p:nvPr/>
          </p:nvSpPr>
          <p:spPr>
            <a:xfrm>
              <a:off x="4147191" y="5156200"/>
              <a:ext cx="762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32</a:t>
              </a:r>
              <a:endParaRPr lang="en-US" sz="850" dirty="0"/>
            </a:p>
          </p:txBody>
        </p:sp>
        <p:sp>
          <p:nvSpPr>
            <p:cNvPr id="121" name="Text 119"/>
            <p:cNvSpPr/>
            <p:nvPr/>
          </p:nvSpPr>
          <p:spPr>
            <a:xfrm>
              <a:off x="4909191" y="5156200"/>
              <a:ext cx="762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140</a:t>
              </a:r>
              <a:endParaRPr lang="en-US" sz="850" dirty="0"/>
            </a:p>
          </p:txBody>
        </p:sp>
        <p:sp>
          <p:nvSpPr>
            <p:cNvPr id="122" name="Shape 120"/>
            <p:cNvSpPr/>
            <p:nvPr/>
          </p:nvSpPr>
          <p:spPr>
            <a:xfrm>
              <a:off x="5798191" y="5035550"/>
              <a:ext cx="114300" cy="114300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23" name="Text 121"/>
            <p:cNvSpPr/>
            <p:nvPr/>
          </p:nvSpPr>
          <p:spPr>
            <a:xfrm>
              <a:off x="5937891" y="5010150"/>
              <a:ext cx="76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 data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PowerChart" descr="cascade chart. 1 data series: Volume. 4 categories: Total contacts | | Contacts, Answered | Dropped contacts | Contacts, With a case | Without a case | Incidents &amp; Service Requests, Solved in support | Not solved in support | Incidents &amp; Service Requests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03650"/>
            <a:chOff x="3047848" y="1524000"/>
            <a:chExt cx="6096000" cy="38036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Cascade — Support volume breakdown — April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141256" y="1803400"/>
              <a:ext cx="2886583" cy="190500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3141256" y="1803400"/>
              <a:ext cx="288658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Contacts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6163856" y="1803400"/>
              <a:ext cx="2886583" cy="190500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6163856" y="1803400"/>
              <a:ext cx="288658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Incidents &amp; Service Requests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141256" y="2070100"/>
              <a:ext cx="1375283" cy="28956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3166656" y="2591308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Total contacts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166656" y="3422650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4,986</a:t>
              </a:r>
              <a:endParaRPr lang="en-US" sz="10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652556" y="2070100"/>
              <a:ext cx="1375283" cy="268072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677956" y="2552630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Answered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677956" y="3315212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4,616</a:t>
              </a:r>
              <a:endParaRPr lang="en-US" sz="10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677956" y="3499362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(92.6%)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652556" y="4750824"/>
              <a:ext cx="1375283" cy="214876"/>
            </a:xfrm>
            <a:prstGeom prst="rect">
              <a:avLst/>
            </a:prstGeom>
            <a:solidFill>
              <a:srgbClr val="898781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677956" y="4750824"/>
              <a:ext cx="1324483" cy="214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370 (7.4%)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584548" y="4978400"/>
              <a:ext cx="15113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Dropped contacts</a:t>
              </a:r>
              <a:endParaRPr lang="en-US" sz="8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163856" y="2070100"/>
              <a:ext cx="1375283" cy="197744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189256" y="2426039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With a case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189256" y="2963570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3,405</a:t>
              </a:r>
              <a:endParaRPr lang="en-US" sz="10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189256" y="3147720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(73.8%)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163856" y="4047540"/>
              <a:ext cx="1375283" cy="703284"/>
            </a:xfrm>
            <a:prstGeom prst="rect">
              <a:avLst/>
            </a:prstGeom>
            <a:solidFill>
              <a:srgbClr val="898781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6189256" y="4227732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Without a case</a:t>
              </a:r>
              <a:endParaRPr lang="en-US" sz="9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189256" y="4399182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1,211 (26.2%)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675156" y="2070100"/>
              <a:ext cx="1375283" cy="1559303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7700556" y="2350775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Solved in support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700556" y="2754502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2,685</a:t>
              </a:r>
              <a:endParaRPr lang="en-US" sz="10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700556" y="2938652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(78.9%)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675156" y="3629403"/>
              <a:ext cx="1375283" cy="418137"/>
            </a:xfrm>
            <a:prstGeom prst="rect">
              <a:avLst/>
            </a:prstGeom>
            <a:solidFill>
              <a:srgbClr val="898781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7700556" y="3667022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Not solved in support</a:t>
              </a:r>
              <a:endParaRPr lang="en-US" sz="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7700556" y="3838472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720 (21.1%)</a:t>
              </a:r>
              <a:endParaRPr lang="en-US" sz="9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3073248" y="5187950"/>
              <a:ext cx="6045200" cy="139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Source: service desk logs, Apr 2026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PowerChart" descr="funnel chart. 1 data series: Deals. 5 categories: Leads, Qualified, Proposal, Negotiation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59200"/>
            <a:chOff x="3047848" y="1524000"/>
            <a:chExt cx="6096000" cy="37592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Funnel — Sales pipeline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929228" y="1828800"/>
              <a:ext cx="5163820" cy="53848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3047848" y="2002790"/>
              <a:ext cx="8305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Leads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929228" y="2002790"/>
              <a:ext cx="51638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1,200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961992" y="2557780"/>
              <a:ext cx="3098292" cy="53848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3047848" y="2731770"/>
              <a:ext cx="8305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Qualified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961992" y="2731770"/>
              <a:ext cx="309829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720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003138" y="2367280"/>
              <a:ext cx="101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▾ 60.0%</a:t>
              </a:r>
              <a:endParaRPr lang="en-US" sz="8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693533" y="3286760"/>
              <a:ext cx="1635210" cy="53848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3047848" y="3460750"/>
              <a:ext cx="8305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Proposal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693533" y="3460750"/>
              <a:ext cx="163521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380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003138" y="3096260"/>
              <a:ext cx="101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▾ 52.8%</a:t>
              </a:r>
              <a:endParaRPr lang="en-US" sz="8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102335" y="4015740"/>
              <a:ext cx="817605" cy="538480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3047848" y="4189730"/>
              <a:ext cx="8305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Negotiation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102335" y="4189730"/>
              <a:ext cx="81760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190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003138" y="3825240"/>
              <a:ext cx="101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▾ 50.0%</a:t>
              </a:r>
              <a:endParaRPr lang="en-US" sz="8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252947" y="4744720"/>
              <a:ext cx="516382" cy="538480"/>
            </a:xfrm>
            <a:prstGeom prst="rect">
              <a:avLst/>
            </a:prstGeom>
            <a:solidFill>
              <a:srgbClr val="4A3AA7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3047848" y="4918710"/>
              <a:ext cx="8305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Won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252947" y="4918710"/>
              <a:ext cx="51638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003138" y="4554220"/>
              <a:ext cx="101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▾ 63.2%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PowerChart" descr="waffle chart. 1 data series: Share. 1 category: Subscription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11194"/>
            <a:chOff x="3047848" y="1524000"/>
            <a:chExt cx="6096000" cy="3711194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Waffle — Share of revenue under subscription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0732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34161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37590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41019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44448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47877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51306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54735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58164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61593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30732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34161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37590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41019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44448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47877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51306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54735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58164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61593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30732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34161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37590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41019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44448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47877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51306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54735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58164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61593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30732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34161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37590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41019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44448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47877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51306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54735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58164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61593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30732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34161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37590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41019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44448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47877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51306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54735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58164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61593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30732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34161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37590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41019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44448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47877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51306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54735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58164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61593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30732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34161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37590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41019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44448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47877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51306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54735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5816448" y="28829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6159348" y="28829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30732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34161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37590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41019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44448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47877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51306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54735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58164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61593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30732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34161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5" name="Shape 83"/>
            <p:cNvSpPr/>
            <p:nvPr/>
          </p:nvSpPr>
          <p:spPr>
            <a:xfrm>
              <a:off x="37590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6" name="Shape 84"/>
            <p:cNvSpPr/>
            <p:nvPr/>
          </p:nvSpPr>
          <p:spPr>
            <a:xfrm>
              <a:off x="41019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7" name="Shape 85"/>
            <p:cNvSpPr/>
            <p:nvPr/>
          </p:nvSpPr>
          <p:spPr>
            <a:xfrm>
              <a:off x="44448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8" name="Shape 86"/>
            <p:cNvSpPr/>
            <p:nvPr/>
          </p:nvSpPr>
          <p:spPr>
            <a:xfrm>
              <a:off x="47877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9" name="Shape 87"/>
            <p:cNvSpPr/>
            <p:nvPr/>
          </p:nvSpPr>
          <p:spPr>
            <a:xfrm>
              <a:off x="51306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0" name="Shape 88"/>
            <p:cNvSpPr/>
            <p:nvPr/>
          </p:nvSpPr>
          <p:spPr>
            <a:xfrm>
              <a:off x="54735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1" name="Shape 89"/>
            <p:cNvSpPr/>
            <p:nvPr/>
          </p:nvSpPr>
          <p:spPr>
            <a:xfrm>
              <a:off x="58164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2" name="Shape 90"/>
            <p:cNvSpPr/>
            <p:nvPr/>
          </p:nvSpPr>
          <p:spPr>
            <a:xfrm>
              <a:off x="61593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3" name="Shape 91"/>
            <p:cNvSpPr/>
            <p:nvPr/>
          </p:nvSpPr>
          <p:spPr>
            <a:xfrm>
              <a:off x="30732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4" name="Shape 92"/>
            <p:cNvSpPr/>
            <p:nvPr/>
          </p:nvSpPr>
          <p:spPr>
            <a:xfrm>
              <a:off x="34161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5" name="Shape 93"/>
            <p:cNvSpPr/>
            <p:nvPr/>
          </p:nvSpPr>
          <p:spPr>
            <a:xfrm>
              <a:off x="37590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6" name="Shape 94"/>
            <p:cNvSpPr/>
            <p:nvPr/>
          </p:nvSpPr>
          <p:spPr>
            <a:xfrm>
              <a:off x="41019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7" name="Shape 95"/>
            <p:cNvSpPr/>
            <p:nvPr/>
          </p:nvSpPr>
          <p:spPr>
            <a:xfrm>
              <a:off x="44448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8" name="Shape 96"/>
            <p:cNvSpPr/>
            <p:nvPr/>
          </p:nvSpPr>
          <p:spPr>
            <a:xfrm>
              <a:off x="47877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51306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0" name="Shape 98"/>
            <p:cNvSpPr/>
            <p:nvPr/>
          </p:nvSpPr>
          <p:spPr>
            <a:xfrm>
              <a:off x="54735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1" name="Shape 99"/>
            <p:cNvSpPr/>
            <p:nvPr/>
          </p:nvSpPr>
          <p:spPr>
            <a:xfrm>
              <a:off x="58164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2" name="Shape 100"/>
            <p:cNvSpPr/>
            <p:nvPr/>
          </p:nvSpPr>
          <p:spPr>
            <a:xfrm>
              <a:off x="61593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3" name="Text 101"/>
            <p:cNvSpPr/>
            <p:nvPr/>
          </p:nvSpPr>
          <p:spPr>
            <a:xfrm>
              <a:off x="6629248" y="3263900"/>
              <a:ext cx="2489200" cy="406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2600" b="1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68%</a:t>
              </a:r>
              <a:endParaRPr lang="en-US" sz="2600" dirty="0"/>
            </a:p>
          </p:txBody>
        </p:sp>
        <p:sp>
          <p:nvSpPr>
            <p:cNvPr id="104" name="Text 102"/>
            <p:cNvSpPr/>
            <p:nvPr/>
          </p:nvSpPr>
          <p:spPr>
            <a:xfrm>
              <a:off x="6629248" y="3683000"/>
              <a:ext cx="2489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Subscription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PowerChart" descr="treemap. 1 data series: Revenue. 6 categories: Cloud, Licenses, Services, Hardware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71901"/>
            <a:chOff x="3047848" y="1524000"/>
            <a:chExt cx="6096000" cy="3771901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Treemap — Revenue by product line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073248" y="1828800"/>
              <a:ext cx="2120900" cy="346710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111348" y="1854200"/>
              <a:ext cx="20574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111348" y="2006600"/>
              <a:ext cx="20574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8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5206848" y="1828800"/>
              <a:ext cx="2476500" cy="1975757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5244948" y="1854200"/>
              <a:ext cx="2413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8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244948" y="2006600"/>
              <a:ext cx="2413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8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206848" y="3817257"/>
              <a:ext cx="2476500" cy="1478643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5244948" y="3842657"/>
              <a:ext cx="2413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8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244948" y="3995057"/>
              <a:ext cx="2413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8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7696048" y="1828800"/>
              <a:ext cx="1409700" cy="172720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7734148" y="1854200"/>
              <a:ext cx="13462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Hardware</a:t>
              </a:r>
              <a:endParaRPr lang="en-US" sz="8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734148" y="2006600"/>
              <a:ext cx="13462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8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696048" y="3568700"/>
              <a:ext cx="1409700" cy="1074738"/>
            </a:xfrm>
            <a:prstGeom prst="rect">
              <a:avLst/>
            </a:prstGeom>
            <a:solidFill>
              <a:srgbClr val="4A3AA7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7734148" y="3594100"/>
              <a:ext cx="13462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Support</a:t>
              </a:r>
              <a:endParaRPr lang="en-US" sz="8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734148" y="3746500"/>
              <a:ext cx="13462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8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696048" y="4656138"/>
              <a:ext cx="1409700" cy="639763"/>
            </a:xfrm>
            <a:prstGeom prst="rect">
              <a:avLst/>
            </a:prstGeom>
            <a:solidFill>
              <a:srgbClr val="E3494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7734148" y="4681538"/>
              <a:ext cx="13462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Training</a:t>
              </a:r>
              <a:endParaRPr lang="en-US" sz="8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734148" y="4833938"/>
              <a:ext cx="13462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owerChart" descr="sunburst chart. 1 data series: Revenue. 7 categories: EMEA | Cloud, EMEA | Licenses, EMEA | Services, Americas | Cloud and 3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10000"/>
            <a:chOff x="3047848" y="1524000"/>
            <a:chExt cx="60960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Sunburst — Revenue by region and product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143348" y="26162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952500" y="0"/>
                  </a:moveTo>
                  <a:lnTo>
                    <a:pt x="1050887" y="5095"/>
                  </a:lnTo>
                  <a:lnTo>
                    <a:pt x="1148221" y="20325"/>
                  </a:lnTo>
                  <a:lnTo>
                    <a:pt x="1243462" y="45528"/>
                  </a:lnTo>
                  <a:lnTo>
                    <a:pt x="1335590" y="80434"/>
                  </a:lnTo>
                  <a:lnTo>
                    <a:pt x="1423619" y="124670"/>
                  </a:lnTo>
                  <a:lnTo>
                    <a:pt x="1506609" y="177762"/>
                  </a:lnTo>
                  <a:lnTo>
                    <a:pt x="1583670" y="239141"/>
                  </a:lnTo>
                  <a:lnTo>
                    <a:pt x="1653979" y="308153"/>
                  </a:lnTo>
                  <a:lnTo>
                    <a:pt x="1716784" y="384058"/>
                  </a:lnTo>
                  <a:lnTo>
                    <a:pt x="1771412" y="466044"/>
                  </a:lnTo>
                  <a:lnTo>
                    <a:pt x="1817279" y="553234"/>
                  </a:lnTo>
                  <a:lnTo>
                    <a:pt x="1853895" y="644696"/>
                  </a:lnTo>
                  <a:lnTo>
                    <a:pt x="1880868" y="739451"/>
                  </a:lnTo>
                  <a:lnTo>
                    <a:pt x="1897908" y="836485"/>
                  </a:lnTo>
                  <a:lnTo>
                    <a:pt x="1904835" y="934760"/>
                  </a:lnTo>
                  <a:lnTo>
                    <a:pt x="1901573" y="1033225"/>
                  </a:lnTo>
                  <a:lnTo>
                    <a:pt x="1888158" y="1130826"/>
                  </a:lnTo>
                  <a:lnTo>
                    <a:pt x="1864733" y="1226519"/>
                  </a:lnTo>
                  <a:lnTo>
                    <a:pt x="1831549" y="1319281"/>
                  </a:lnTo>
                  <a:lnTo>
                    <a:pt x="1788961" y="1408119"/>
                  </a:lnTo>
                  <a:lnTo>
                    <a:pt x="1737424" y="1492083"/>
                  </a:lnTo>
                  <a:lnTo>
                    <a:pt x="1677490" y="1570274"/>
                  </a:lnTo>
                  <a:lnTo>
                    <a:pt x="1609800" y="1641857"/>
                  </a:lnTo>
                  <a:lnTo>
                    <a:pt x="1303060" y="1320157"/>
                  </a:lnTo>
                  <a:lnTo>
                    <a:pt x="1339162" y="1281980"/>
                  </a:lnTo>
                  <a:lnTo>
                    <a:pt x="1371126" y="1240278"/>
                  </a:lnTo>
                  <a:lnTo>
                    <a:pt x="1398613" y="1195497"/>
                  </a:lnTo>
                  <a:lnTo>
                    <a:pt x="1421326" y="1148117"/>
                  </a:lnTo>
                  <a:lnTo>
                    <a:pt x="1439024" y="1098644"/>
                  </a:lnTo>
                  <a:lnTo>
                    <a:pt x="1451518" y="1047607"/>
                  </a:lnTo>
                  <a:lnTo>
                    <a:pt x="1458672" y="995553"/>
                  </a:lnTo>
                  <a:lnTo>
                    <a:pt x="1460412" y="943039"/>
                  </a:lnTo>
                  <a:lnTo>
                    <a:pt x="1456718" y="890625"/>
                  </a:lnTo>
                  <a:lnTo>
                    <a:pt x="1447629" y="838874"/>
                  </a:lnTo>
                  <a:lnTo>
                    <a:pt x="1433244" y="788338"/>
                  </a:lnTo>
                  <a:lnTo>
                    <a:pt x="1413716" y="739558"/>
                  </a:lnTo>
                  <a:lnTo>
                    <a:pt x="1389253" y="693057"/>
                  </a:lnTo>
                  <a:lnTo>
                    <a:pt x="1360118" y="649331"/>
                  </a:lnTo>
                  <a:lnTo>
                    <a:pt x="1326622" y="608848"/>
                  </a:lnTo>
                  <a:lnTo>
                    <a:pt x="1289124" y="572042"/>
                  </a:lnTo>
                  <a:lnTo>
                    <a:pt x="1248025" y="539306"/>
                  </a:lnTo>
                  <a:lnTo>
                    <a:pt x="1203764" y="510991"/>
                  </a:lnTo>
                  <a:lnTo>
                    <a:pt x="1156815" y="487398"/>
                  </a:lnTo>
                  <a:lnTo>
                    <a:pt x="1107680" y="468782"/>
                  </a:lnTo>
                  <a:lnTo>
                    <a:pt x="1056885" y="455340"/>
                  </a:lnTo>
                  <a:lnTo>
                    <a:pt x="1004973" y="447217"/>
                  </a:lnTo>
                  <a:lnTo>
                    <a:pt x="952500" y="444500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631802" y="3208393"/>
              <a:ext cx="28397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</a:t>
              </a:r>
              <a:endParaRPr lang="en-US" sz="8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1587500" y="0"/>
                  </a:moveTo>
                  <a:lnTo>
                    <a:pt x="1752072" y="8553"/>
                  </a:lnTo>
                  <a:lnTo>
                    <a:pt x="1914872" y="34122"/>
                  </a:lnTo>
                  <a:lnTo>
                    <a:pt x="2074143" y="76429"/>
                  </a:lnTo>
                  <a:lnTo>
                    <a:pt x="2228170" y="135020"/>
                  </a:lnTo>
                  <a:lnTo>
                    <a:pt x="2375293" y="209263"/>
                  </a:lnTo>
                  <a:lnTo>
                    <a:pt x="2513927" y="298357"/>
                  </a:lnTo>
                  <a:lnTo>
                    <a:pt x="2642578" y="401344"/>
                  </a:lnTo>
                  <a:lnTo>
                    <a:pt x="2759860" y="517113"/>
                  </a:lnTo>
                  <a:lnTo>
                    <a:pt x="2864508" y="644416"/>
                  </a:lnTo>
                  <a:lnTo>
                    <a:pt x="2955394" y="781882"/>
                  </a:lnTo>
                  <a:lnTo>
                    <a:pt x="3031541" y="928029"/>
                  </a:lnTo>
                  <a:lnTo>
                    <a:pt x="2453924" y="1191817"/>
                  </a:lnTo>
                  <a:lnTo>
                    <a:pt x="2408237" y="1104129"/>
                  </a:lnTo>
                  <a:lnTo>
                    <a:pt x="2353705" y="1021649"/>
                  </a:lnTo>
                  <a:lnTo>
                    <a:pt x="2290916" y="945268"/>
                  </a:lnTo>
                  <a:lnTo>
                    <a:pt x="2220547" y="875806"/>
                  </a:lnTo>
                  <a:lnTo>
                    <a:pt x="2143356" y="814014"/>
                  </a:lnTo>
                  <a:lnTo>
                    <a:pt x="2060176" y="760558"/>
                  </a:lnTo>
                  <a:lnTo>
                    <a:pt x="1971902" y="716012"/>
                  </a:lnTo>
                  <a:lnTo>
                    <a:pt x="1879486" y="680858"/>
                  </a:lnTo>
                  <a:lnTo>
                    <a:pt x="1783923" y="655473"/>
                  </a:lnTo>
                  <a:lnTo>
                    <a:pt x="1686243" y="640132"/>
                  </a:lnTo>
                  <a:lnTo>
                    <a:pt x="1587500" y="635000"/>
                  </a:lnTo>
                  <a:close/>
                </a:path>
              </a:pathLst>
            </a:custGeom>
            <a:solidFill>
              <a:srgbClr val="7599DD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7002178" y="2069523"/>
              <a:ext cx="34226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3031541" y="928029"/>
                  </a:moveTo>
                  <a:lnTo>
                    <a:pt x="3087689" y="1068280"/>
                  </a:lnTo>
                  <a:lnTo>
                    <a:pt x="3130251" y="1213233"/>
                  </a:lnTo>
                  <a:lnTo>
                    <a:pt x="3158842" y="1361575"/>
                  </a:lnTo>
                  <a:lnTo>
                    <a:pt x="3173202" y="1511964"/>
                  </a:lnTo>
                  <a:lnTo>
                    <a:pt x="3173202" y="1663036"/>
                  </a:lnTo>
                  <a:lnTo>
                    <a:pt x="3158842" y="1813425"/>
                  </a:lnTo>
                  <a:lnTo>
                    <a:pt x="3130251" y="1961767"/>
                  </a:lnTo>
                  <a:lnTo>
                    <a:pt x="3087689" y="2106720"/>
                  </a:lnTo>
                  <a:lnTo>
                    <a:pt x="2487613" y="1899032"/>
                  </a:lnTo>
                  <a:lnTo>
                    <a:pt x="2513151" y="1812060"/>
                  </a:lnTo>
                  <a:lnTo>
                    <a:pt x="2530305" y="1723055"/>
                  </a:lnTo>
                  <a:lnTo>
                    <a:pt x="2538921" y="1632822"/>
                  </a:lnTo>
                  <a:lnTo>
                    <a:pt x="2538921" y="1542178"/>
                  </a:lnTo>
                  <a:lnTo>
                    <a:pt x="2530305" y="1451945"/>
                  </a:lnTo>
                  <a:lnTo>
                    <a:pt x="2513151" y="1362940"/>
                  </a:lnTo>
                  <a:lnTo>
                    <a:pt x="2487613" y="1275968"/>
                  </a:lnTo>
                  <a:lnTo>
                    <a:pt x="2453924" y="1191817"/>
                  </a:lnTo>
                  <a:close/>
                </a:path>
              </a:pathLst>
            </a:custGeom>
            <a:solidFill>
              <a:srgbClr val="94ADE2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7770349" y="3400034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8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3087689" y="2106720"/>
                  </a:moveTo>
                  <a:lnTo>
                    <a:pt x="3031541" y="2246971"/>
                  </a:lnTo>
                  <a:lnTo>
                    <a:pt x="2962315" y="2381250"/>
                  </a:lnTo>
                  <a:lnTo>
                    <a:pt x="2880639" y="2508340"/>
                  </a:lnTo>
                  <a:lnTo>
                    <a:pt x="2787252" y="2627091"/>
                  </a:lnTo>
                  <a:lnTo>
                    <a:pt x="2683000" y="2736428"/>
                  </a:lnTo>
                  <a:lnTo>
                    <a:pt x="2244800" y="2276857"/>
                  </a:lnTo>
                  <a:lnTo>
                    <a:pt x="2307351" y="2211255"/>
                  </a:lnTo>
                  <a:lnTo>
                    <a:pt x="2363384" y="2140004"/>
                  </a:lnTo>
                  <a:lnTo>
                    <a:pt x="2412389" y="2063750"/>
                  </a:lnTo>
                  <a:lnTo>
                    <a:pt x="2453924" y="1983183"/>
                  </a:lnTo>
                  <a:lnTo>
                    <a:pt x="2487613" y="1899032"/>
                  </a:lnTo>
                  <a:close/>
                </a:path>
              </a:pathLst>
            </a:custGeom>
            <a:solidFill>
              <a:srgbClr val="ACBEE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506125" y="4386130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85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143348" y="26162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1609800" y="1641857"/>
                  </a:moveTo>
                  <a:lnTo>
                    <a:pt x="1535338" y="1705863"/>
                  </a:lnTo>
                  <a:lnTo>
                    <a:pt x="1454682" y="1761863"/>
                  </a:lnTo>
                  <a:lnTo>
                    <a:pt x="1368690" y="1809263"/>
                  </a:lnTo>
                  <a:lnTo>
                    <a:pt x="1278274" y="1847557"/>
                  </a:lnTo>
                  <a:lnTo>
                    <a:pt x="1184397" y="1876340"/>
                  </a:lnTo>
                  <a:lnTo>
                    <a:pt x="1088055" y="1895305"/>
                  </a:lnTo>
                  <a:lnTo>
                    <a:pt x="990273" y="1904251"/>
                  </a:lnTo>
                  <a:lnTo>
                    <a:pt x="892089" y="1903082"/>
                  </a:lnTo>
                  <a:lnTo>
                    <a:pt x="794547" y="1891812"/>
                  </a:lnTo>
                  <a:lnTo>
                    <a:pt x="698684" y="1870560"/>
                  </a:lnTo>
                  <a:lnTo>
                    <a:pt x="605518" y="1839551"/>
                  </a:lnTo>
                  <a:lnTo>
                    <a:pt x="516039" y="1799116"/>
                  </a:lnTo>
                  <a:lnTo>
                    <a:pt x="431199" y="1749683"/>
                  </a:lnTo>
                  <a:lnTo>
                    <a:pt x="351899" y="1691780"/>
                  </a:lnTo>
                  <a:lnTo>
                    <a:pt x="278981" y="1626019"/>
                  </a:lnTo>
                  <a:lnTo>
                    <a:pt x="213220" y="1553101"/>
                  </a:lnTo>
                  <a:lnTo>
                    <a:pt x="155317" y="1473801"/>
                  </a:lnTo>
                  <a:lnTo>
                    <a:pt x="105884" y="1388961"/>
                  </a:lnTo>
                  <a:lnTo>
                    <a:pt x="65449" y="1299482"/>
                  </a:lnTo>
                  <a:lnTo>
                    <a:pt x="34440" y="1206316"/>
                  </a:lnTo>
                  <a:lnTo>
                    <a:pt x="13188" y="1110453"/>
                  </a:lnTo>
                  <a:lnTo>
                    <a:pt x="1918" y="1012911"/>
                  </a:lnTo>
                  <a:lnTo>
                    <a:pt x="749" y="914727"/>
                  </a:lnTo>
                  <a:lnTo>
                    <a:pt x="9695" y="816945"/>
                  </a:lnTo>
                  <a:lnTo>
                    <a:pt x="449671" y="880204"/>
                  </a:lnTo>
                  <a:lnTo>
                    <a:pt x="444900" y="932355"/>
                  </a:lnTo>
                  <a:lnTo>
                    <a:pt x="445523" y="984719"/>
                  </a:lnTo>
                  <a:lnTo>
                    <a:pt x="451534" y="1036742"/>
                  </a:lnTo>
                  <a:lnTo>
                    <a:pt x="462868" y="1087869"/>
                  </a:lnTo>
                  <a:lnTo>
                    <a:pt x="479406" y="1137557"/>
                  </a:lnTo>
                  <a:lnTo>
                    <a:pt x="500972" y="1185279"/>
                  </a:lnTo>
                  <a:lnTo>
                    <a:pt x="527335" y="1230527"/>
                  </a:lnTo>
                  <a:lnTo>
                    <a:pt x="558218" y="1272821"/>
                  </a:lnTo>
                  <a:lnTo>
                    <a:pt x="593290" y="1311710"/>
                  </a:lnTo>
                  <a:lnTo>
                    <a:pt x="632179" y="1346782"/>
                  </a:lnTo>
                  <a:lnTo>
                    <a:pt x="674473" y="1377665"/>
                  </a:lnTo>
                  <a:lnTo>
                    <a:pt x="719721" y="1404028"/>
                  </a:lnTo>
                  <a:lnTo>
                    <a:pt x="767443" y="1425594"/>
                  </a:lnTo>
                  <a:lnTo>
                    <a:pt x="817131" y="1442132"/>
                  </a:lnTo>
                  <a:lnTo>
                    <a:pt x="868258" y="1453466"/>
                  </a:lnTo>
                  <a:lnTo>
                    <a:pt x="920281" y="1459477"/>
                  </a:lnTo>
                  <a:lnTo>
                    <a:pt x="972645" y="1460100"/>
                  </a:lnTo>
                  <a:lnTo>
                    <a:pt x="1024796" y="1455329"/>
                  </a:lnTo>
                  <a:lnTo>
                    <a:pt x="1076178" y="1445215"/>
                  </a:lnTo>
                  <a:lnTo>
                    <a:pt x="1126246" y="1429864"/>
                  </a:lnTo>
                  <a:lnTo>
                    <a:pt x="1174468" y="1409440"/>
                  </a:lnTo>
                  <a:lnTo>
                    <a:pt x="1220331" y="1384161"/>
                  </a:lnTo>
                  <a:lnTo>
                    <a:pt x="1263347" y="1354294"/>
                  </a:lnTo>
                  <a:lnTo>
                    <a:pt x="1303060" y="1320157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5502656" y="4128872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</a:t>
              </a:r>
              <a:endParaRPr lang="en-US" sz="8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2683000" y="2736428"/>
                  </a:moveTo>
                  <a:lnTo>
                    <a:pt x="2560888" y="2841562"/>
                  </a:lnTo>
                  <a:lnTo>
                    <a:pt x="2428747" y="2933776"/>
                  </a:lnTo>
                  <a:lnTo>
                    <a:pt x="2287938" y="3012120"/>
                  </a:lnTo>
                  <a:lnTo>
                    <a:pt x="2139914" y="3075786"/>
                  </a:lnTo>
                  <a:lnTo>
                    <a:pt x="1986197" y="3124119"/>
                  </a:lnTo>
                  <a:lnTo>
                    <a:pt x="1828373" y="3156620"/>
                  </a:lnTo>
                  <a:lnTo>
                    <a:pt x="1668068" y="3172954"/>
                  </a:lnTo>
                  <a:lnTo>
                    <a:pt x="1506932" y="3172954"/>
                  </a:lnTo>
                  <a:lnTo>
                    <a:pt x="1346627" y="3156620"/>
                  </a:lnTo>
                  <a:lnTo>
                    <a:pt x="1188803" y="3124119"/>
                  </a:lnTo>
                  <a:lnTo>
                    <a:pt x="1035086" y="3075786"/>
                  </a:lnTo>
                  <a:lnTo>
                    <a:pt x="887062" y="3012120"/>
                  </a:lnTo>
                  <a:lnTo>
                    <a:pt x="746253" y="2933776"/>
                  </a:lnTo>
                  <a:lnTo>
                    <a:pt x="614112" y="2841562"/>
                  </a:lnTo>
                  <a:lnTo>
                    <a:pt x="492000" y="2736428"/>
                  </a:lnTo>
                  <a:lnTo>
                    <a:pt x="930200" y="2276857"/>
                  </a:lnTo>
                  <a:lnTo>
                    <a:pt x="1003467" y="2339937"/>
                  </a:lnTo>
                  <a:lnTo>
                    <a:pt x="1082752" y="2395266"/>
                  </a:lnTo>
                  <a:lnTo>
                    <a:pt x="1167237" y="2442272"/>
                  </a:lnTo>
                  <a:lnTo>
                    <a:pt x="1256052" y="2480472"/>
                  </a:lnTo>
                  <a:lnTo>
                    <a:pt x="1348282" y="2509471"/>
                  </a:lnTo>
                  <a:lnTo>
                    <a:pt x="1442976" y="2528972"/>
                  </a:lnTo>
                  <a:lnTo>
                    <a:pt x="1539159" y="2538773"/>
                  </a:lnTo>
                  <a:lnTo>
                    <a:pt x="1635841" y="2538773"/>
                  </a:lnTo>
                  <a:lnTo>
                    <a:pt x="1732024" y="2528972"/>
                  </a:lnTo>
                  <a:lnTo>
                    <a:pt x="1826718" y="2509471"/>
                  </a:lnTo>
                  <a:lnTo>
                    <a:pt x="1918948" y="2480472"/>
                  </a:lnTo>
                  <a:lnTo>
                    <a:pt x="2007763" y="2442272"/>
                  </a:lnTo>
                  <a:lnTo>
                    <a:pt x="2092248" y="2395266"/>
                  </a:lnTo>
                  <a:lnTo>
                    <a:pt x="2171533" y="2339937"/>
                  </a:lnTo>
                  <a:lnTo>
                    <a:pt x="2244800" y="2276857"/>
                  </a:lnTo>
                  <a:close/>
                </a:path>
              </a:pathLst>
            </a:custGeom>
            <a:solidFill>
              <a:srgbClr val="72BF9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753583" y="5156200"/>
              <a:ext cx="34226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492000" y="2736428"/>
                  </a:moveTo>
                  <a:lnTo>
                    <a:pt x="387748" y="2627091"/>
                  </a:lnTo>
                  <a:lnTo>
                    <a:pt x="294361" y="2508340"/>
                  </a:lnTo>
                  <a:lnTo>
                    <a:pt x="212685" y="2381250"/>
                  </a:lnTo>
                  <a:lnTo>
                    <a:pt x="143459" y="2246971"/>
                  </a:lnTo>
                  <a:lnTo>
                    <a:pt x="87311" y="2106720"/>
                  </a:lnTo>
                  <a:lnTo>
                    <a:pt x="44749" y="1961767"/>
                  </a:lnTo>
                  <a:lnTo>
                    <a:pt x="16158" y="1813425"/>
                  </a:lnTo>
                  <a:lnTo>
                    <a:pt x="1798" y="1663036"/>
                  </a:lnTo>
                  <a:lnTo>
                    <a:pt x="1798" y="1511964"/>
                  </a:lnTo>
                  <a:lnTo>
                    <a:pt x="16158" y="1361575"/>
                  </a:lnTo>
                  <a:lnTo>
                    <a:pt x="644695" y="1451945"/>
                  </a:lnTo>
                  <a:lnTo>
                    <a:pt x="636079" y="1542178"/>
                  </a:lnTo>
                  <a:lnTo>
                    <a:pt x="636079" y="1632822"/>
                  </a:lnTo>
                  <a:lnTo>
                    <a:pt x="644695" y="1723055"/>
                  </a:lnTo>
                  <a:lnTo>
                    <a:pt x="661849" y="1812060"/>
                  </a:lnTo>
                  <a:lnTo>
                    <a:pt x="687387" y="1899032"/>
                  </a:lnTo>
                  <a:lnTo>
                    <a:pt x="721076" y="1983183"/>
                  </a:lnTo>
                  <a:lnTo>
                    <a:pt x="762611" y="2063750"/>
                  </a:lnTo>
                  <a:lnTo>
                    <a:pt x="811616" y="2140004"/>
                  </a:lnTo>
                  <a:lnTo>
                    <a:pt x="867649" y="2211255"/>
                  </a:lnTo>
                  <a:lnTo>
                    <a:pt x="930200" y="2276857"/>
                  </a:lnTo>
                  <a:close/>
                </a:path>
              </a:pathLst>
            </a:custGeom>
            <a:solidFill>
              <a:srgbClr val="92CAAD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994504" y="4028097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8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143348" y="26162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9695" y="816945"/>
                  </a:moveTo>
                  <a:lnTo>
                    <a:pt x="28398" y="721650"/>
                  </a:lnTo>
                  <a:lnTo>
                    <a:pt x="56707" y="628755"/>
                  </a:lnTo>
                  <a:lnTo>
                    <a:pt x="94327" y="539226"/>
                  </a:lnTo>
                  <a:lnTo>
                    <a:pt x="140868" y="453992"/>
                  </a:lnTo>
                  <a:lnTo>
                    <a:pt x="195846" y="373940"/>
                  </a:lnTo>
                  <a:lnTo>
                    <a:pt x="258690" y="299903"/>
                  </a:lnTo>
                  <a:lnTo>
                    <a:pt x="328745" y="232649"/>
                  </a:lnTo>
                  <a:lnTo>
                    <a:pt x="405285" y="172877"/>
                  </a:lnTo>
                  <a:lnTo>
                    <a:pt x="487512" y="121210"/>
                  </a:lnTo>
                  <a:lnTo>
                    <a:pt x="574573" y="78184"/>
                  </a:lnTo>
                  <a:lnTo>
                    <a:pt x="665563" y="44247"/>
                  </a:lnTo>
                  <a:lnTo>
                    <a:pt x="759535" y="19751"/>
                  </a:lnTo>
                  <a:lnTo>
                    <a:pt x="855514" y="4951"/>
                  </a:lnTo>
                  <a:lnTo>
                    <a:pt x="952500" y="0"/>
                  </a:lnTo>
                  <a:lnTo>
                    <a:pt x="952500" y="444500"/>
                  </a:lnTo>
                  <a:lnTo>
                    <a:pt x="900774" y="447140"/>
                  </a:lnTo>
                  <a:lnTo>
                    <a:pt x="849586" y="455034"/>
                  </a:lnTo>
                  <a:lnTo>
                    <a:pt x="799467" y="468098"/>
                  </a:lnTo>
                  <a:lnTo>
                    <a:pt x="750939" y="486198"/>
                  </a:lnTo>
                  <a:lnTo>
                    <a:pt x="704506" y="509145"/>
                  </a:lnTo>
                  <a:lnTo>
                    <a:pt x="660652" y="536701"/>
                  </a:lnTo>
                  <a:lnTo>
                    <a:pt x="619831" y="568579"/>
                  </a:lnTo>
                  <a:lnTo>
                    <a:pt x="582468" y="604448"/>
                  </a:lnTo>
                  <a:lnTo>
                    <a:pt x="548951" y="643935"/>
                  </a:lnTo>
                  <a:lnTo>
                    <a:pt x="519630" y="686629"/>
                  </a:lnTo>
                  <a:lnTo>
                    <a:pt x="494808" y="732087"/>
                  </a:lnTo>
                  <a:lnTo>
                    <a:pt x="474744" y="779836"/>
                  </a:lnTo>
                  <a:lnTo>
                    <a:pt x="459646" y="829380"/>
                  </a:lnTo>
                  <a:lnTo>
                    <a:pt x="449671" y="880204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475650" y="2927914"/>
              <a:ext cx="28397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</a:t>
              </a:r>
              <a:endParaRPr lang="en-US" sz="8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16158" y="1361575"/>
                  </a:moveTo>
                  <a:lnTo>
                    <a:pt x="44749" y="1213233"/>
                  </a:lnTo>
                  <a:lnTo>
                    <a:pt x="87311" y="1068280"/>
                  </a:lnTo>
                  <a:lnTo>
                    <a:pt x="143459" y="928029"/>
                  </a:lnTo>
                  <a:lnTo>
                    <a:pt x="212685" y="793750"/>
                  </a:lnTo>
                  <a:lnTo>
                    <a:pt x="294361" y="666660"/>
                  </a:lnTo>
                  <a:lnTo>
                    <a:pt x="387748" y="547909"/>
                  </a:lnTo>
                  <a:lnTo>
                    <a:pt x="492000" y="438572"/>
                  </a:lnTo>
                  <a:lnTo>
                    <a:pt x="606173" y="339641"/>
                  </a:lnTo>
                  <a:lnTo>
                    <a:pt x="729233" y="252010"/>
                  </a:lnTo>
                  <a:lnTo>
                    <a:pt x="1072540" y="786206"/>
                  </a:lnTo>
                  <a:lnTo>
                    <a:pt x="998704" y="838784"/>
                  </a:lnTo>
                  <a:lnTo>
                    <a:pt x="930200" y="898143"/>
                  </a:lnTo>
                  <a:lnTo>
                    <a:pt x="867649" y="963745"/>
                  </a:lnTo>
                  <a:lnTo>
                    <a:pt x="811616" y="1034996"/>
                  </a:lnTo>
                  <a:lnTo>
                    <a:pt x="762611" y="1111250"/>
                  </a:lnTo>
                  <a:lnTo>
                    <a:pt x="721076" y="1191817"/>
                  </a:lnTo>
                  <a:lnTo>
                    <a:pt x="687387" y="1275968"/>
                  </a:lnTo>
                  <a:lnTo>
                    <a:pt x="661849" y="1362940"/>
                  </a:lnTo>
                  <a:lnTo>
                    <a:pt x="644695" y="1451945"/>
                  </a:lnTo>
                  <a:close/>
                </a:path>
              </a:pathLst>
            </a:custGeom>
            <a:solidFill>
              <a:srgbClr val="F0B56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343305" y="2573470"/>
              <a:ext cx="34226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729233" y="252010"/>
                  </a:moveTo>
                  <a:lnTo>
                    <a:pt x="860065" y="176474"/>
                  </a:lnTo>
                  <a:lnTo>
                    <a:pt x="997486" y="113716"/>
                  </a:lnTo>
                  <a:lnTo>
                    <a:pt x="1140250" y="64305"/>
                  </a:lnTo>
                  <a:lnTo>
                    <a:pt x="1287064" y="28688"/>
                  </a:lnTo>
                  <a:lnTo>
                    <a:pt x="1436599" y="7188"/>
                  </a:lnTo>
                  <a:lnTo>
                    <a:pt x="1587500" y="0"/>
                  </a:lnTo>
                  <a:lnTo>
                    <a:pt x="1587500" y="635000"/>
                  </a:lnTo>
                  <a:lnTo>
                    <a:pt x="1496959" y="639313"/>
                  </a:lnTo>
                  <a:lnTo>
                    <a:pt x="1407238" y="652213"/>
                  </a:lnTo>
                  <a:lnTo>
                    <a:pt x="1319150" y="673583"/>
                  </a:lnTo>
                  <a:lnTo>
                    <a:pt x="1233492" y="703230"/>
                  </a:lnTo>
                  <a:lnTo>
                    <a:pt x="1151039" y="740884"/>
                  </a:lnTo>
                  <a:lnTo>
                    <a:pt x="1072540" y="786206"/>
                  </a:lnTo>
                  <a:close/>
                </a:path>
              </a:pathLst>
            </a:custGeom>
            <a:solidFill>
              <a:srgbClr val="F2C29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106407" y="1871306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Hardware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PowerChart" descr="violin plot. 10 data series: s1, s2, s3, s4 and 6 more. 3 categories: API, Web, Batch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Violin — Response time distribution (ms)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2006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API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5079848" y="5143500"/>
              <a:ext cx="2006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Web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086448" y="5143500"/>
              <a:ext cx="2006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Batch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233877" y="4411980"/>
              <a:ext cx="1685443" cy="266700"/>
            </a:xfrm>
            <a:custGeom>
              <a:avLst/>
              <a:gdLst/>
              <a:ahLst/>
              <a:cxnLst/>
              <a:rect l="l" t="t" r="r" b="b"/>
              <a:pathLst>
                <a:path w="1685443" h="266700">
                  <a:moveTo>
                    <a:pt x="1033676" y="266700"/>
                  </a:moveTo>
                  <a:lnTo>
                    <a:pt x="1581375" y="186690"/>
                  </a:lnTo>
                  <a:lnTo>
                    <a:pt x="1663879" y="166687"/>
                  </a:lnTo>
                  <a:lnTo>
                    <a:pt x="1685341" y="153352"/>
                  </a:lnTo>
                  <a:lnTo>
                    <a:pt x="1685443" y="146685"/>
                  </a:lnTo>
                  <a:lnTo>
                    <a:pt x="1665177" y="133350"/>
                  </a:lnTo>
                  <a:lnTo>
                    <a:pt x="1590303" y="113347"/>
                  </a:lnTo>
                  <a:lnTo>
                    <a:pt x="1139765" y="40005"/>
                  </a:lnTo>
                  <a:lnTo>
                    <a:pt x="961700" y="0"/>
                  </a:lnTo>
                  <a:lnTo>
                    <a:pt x="723642" y="0"/>
                  </a:lnTo>
                  <a:lnTo>
                    <a:pt x="545577" y="40005"/>
                  </a:lnTo>
                  <a:lnTo>
                    <a:pt x="95039" y="113347"/>
                  </a:lnTo>
                  <a:lnTo>
                    <a:pt x="39757" y="126682"/>
                  </a:lnTo>
                  <a:lnTo>
                    <a:pt x="6726" y="140018"/>
                  </a:lnTo>
                  <a:lnTo>
                    <a:pt x="0" y="153352"/>
                  </a:lnTo>
                  <a:lnTo>
                    <a:pt x="7191" y="160020"/>
                  </a:lnTo>
                  <a:lnTo>
                    <a:pt x="42625" y="173355"/>
                  </a:lnTo>
                  <a:lnTo>
                    <a:pt x="103966" y="186690"/>
                  </a:lnTo>
                  <a:lnTo>
                    <a:pt x="651666" y="266700"/>
                  </a:lnTo>
                  <a:close/>
                </a:path>
              </a:pathLst>
            </a:custGeom>
            <a:solidFill>
              <a:srgbClr val="D8DFF3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3781577" y="4559332"/>
              <a:ext cx="589940" cy="0"/>
            </a:xfrm>
            <a:prstGeom prst="line">
              <a:avLst/>
            </a:prstGeom>
            <a:noFill/>
            <a:ln w="22225">
              <a:solidFill>
                <a:srgbClr val="0B0B0B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5240376" y="4007187"/>
              <a:ext cx="1685544" cy="396200"/>
            </a:xfrm>
            <a:custGeom>
              <a:avLst/>
              <a:gdLst/>
              <a:ahLst/>
              <a:cxnLst/>
              <a:rect l="l" t="t" r="r" b="b"/>
              <a:pathLst>
                <a:path w="1685544" h="396200">
                  <a:moveTo>
                    <a:pt x="1014916" y="396200"/>
                  </a:moveTo>
                  <a:lnTo>
                    <a:pt x="1166302" y="366485"/>
                  </a:lnTo>
                  <a:lnTo>
                    <a:pt x="1585373" y="297150"/>
                  </a:lnTo>
                  <a:lnTo>
                    <a:pt x="1656339" y="277340"/>
                  </a:lnTo>
                  <a:lnTo>
                    <a:pt x="1685544" y="257530"/>
                  </a:lnTo>
                  <a:lnTo>
                    <a:pt x="1684948" y="247625"/>
                  </a:lnTo>
                  <a:lnTo>
                    <a:pt x="1659845" y="227815"/>
                  </a:lnTo>
                  <a:lnTo>
                    <a:pt x="1547981" y="178290"/>
                  </a:lnTo>
                  <a:lnTo>
                    <a:pt x="1416889" y="108955"/>
                  </a:lnTo>
                  <a:lnTo>
                    <a:pt x="1322833" y="79240"/>
                  </a:lnTo>
                  <a:lnTo>
                    <a:pt x="993161" y="0"/>
                  </a:lnTo>
                  <a:lnTo>
                    <a:pt x="692383" y="0"/>
                  </a:lnTo>
                  <a:lnTo>
                    <a:pt x="401710" y="69335"/>
                  </a:lnTo>
                  <a:lnTo>
                    <a:pt x="295905" y="99050"/>
                  </a:lnTo>
                  <a:lnTo>
                    <a:pt x="245275" y="118860"/>
                  </a:lnTo>
                  <a:lnTo>
                    <a:pt x="137563" y="178290"/>
                  </a:lnTo>
                  <a:lnTo>
                    <a:pt x="25699" y="227815"/>
                  </a:lnTo>
                  <a:lnTo>
                    <a:pt x="596" y="247625"/>
                  </a:lnTo>
                  <a:lnTo>
                    <a:pt x="0" y="257530"/>
                  </a:lnTo>
                  <a:lnTo>
                    <a:pt x="9304" y="267435"/>
                  </a:lnTo>
                  <a:lnTo>
                    <a:pt x="29205" y="277340"/>
                  </a:lnTo>
                  <a:lnTo>
                    <a:pt x="100171" y="297150"/>
                  </a:lnTo>
                  <a:lnTo>
                    <a:pt x="519242" y="366485"/>
                  </a:lnTo>
                  <a:lnTo>
                    <a:pt x="670628" y="396200"/>
                  </a:lnTo>
                  <a:close/>
                </a:path>
              </a:pathLst>
            </a:custGeom>
            <a:solidFill>
              <a:srgbClr val="D8E9E0"/>
            </a:solidFill>
            <a:ln w="12700">
              <a:solidFill>
                <a:srgbClr val="1BAF7A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5788177" y="4235291"/>
              <a:ext cx="589940" cy="0"/>
            </a:xfrm>
            <a:prstGeom prst="line">
              <a:avLst/>
            </a:prstGeom>
            <a:noFill/>
            <a:ln w="22225">
              <a:solidFill>
                <a:srgbClr val="0B0B0B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7246976" y="2111998"/>
              <a:ext cx="1684681" cy="786154"/>
            </a:xfrm>
            <a:custGeom>
              <a:avLst/>
              <a:gdLst/>
              <a:ahLst/>
              <a:cxnLst/>
              <a:rect l="l" t="t" r="r" b="b"/>
              <a:pathLst>
                <a:path w="1684681" h="786154">
                  <a:moveTo>
                    <a:pt x="965668" y="786154"/>
                  </a:moveTo>
                  <a:lnTo>
                    <a:pt x="1086385" y="707538"/>
                  </a:lnTo>
                  <a:lnTo>
                    <a:pt x="1260409" y="609269"/>
                  </a:lnTo>
                  <a:lnTo>
                    <a:pt x="1593618" y="452038"/>
                  </a:lnTo>
                  <a:lnTo>
                    <a:pt x="1649982" y="412731"/>
                  </a:lnTo>
                  <a:lnTo>
                    <a:pt x="1667910" y="393077"/>
                  </a:lnTo>
                  <a:lnTo>
                    <a:pt x="1684681" y="353769"/>
                  </a:lnTo>
                  <a:lnTo>
                    <a:pt x="1682958" y="314461"/>
                  </a:lnTo>
                  <a:lnTo>
                    <a:pt x="1660332" y="255500"/>
                  </a:lnTo>
                  <a:lnTo>
                    <a:pt x="1628213" y="216192"/>
                  </a:lnTo>
                  <a:lnTo>
                    <a:pt x="1570750" y="176885"/>
                  </a:lnTo>
                  <a:lnTo>
                    <a:pt x="1424765" y="117923"/>
                  </a:lnTo>
                  <a:lnTo>
                    <a:pt x="1054739" y="0"/>
                  </a:lnTo>
                  <a:lnTo>
                    <a:pt x="630805" y="0"/>
                  </a:lnTo>
                  <a:lnTo>
                    <a:pt x="260779" y="117923"/>
                  </a:lnTo>
                  <a:lnTo>
                    <a:pt x="155609" y="157231"/>
                  </a:lnTo>
                  <a:lnTo>
                    <a:pt x="114794" y="176885"/>
                  </a:lnTo>
                  <a:lnTo>
                    <a:pt x="57331" y="216192"/>
                  </a:lnTo>
                  <a:lnTo>
                    <a:pt x="38807" y="235846"/>
                  </a:lnTo>
                  <a:lnTo>
                    <a:pt x="15180" y="275154"/>
                  </a:lnTo>
                  <a:lnTo>
                    <a:pt x="0" y="334115"/>
                  </a:lnTo>
                  <a:lnTo>
                    <a:pt x="6352" y="373423"/>
                  </a:lnTo>
                  <a:lnTo>
                    <a:pt x="35562" y="412731"/>
                  </a:lnTo>
                  <a:lnTo>
                    <a:pt x="60444" y="432385"/>
                  </a:lnTo>
                  <a:lnTo>
                    <a:pt x="129036" y="471692"/>
                  </a:lnTo>
                  <a:lnTo>
                    <a:pt x="345717" y="569961"/>
                  </a:lnTo>
                  <a:lnTo>
                    <a:pt x="462025" y="628923"/>
                  </a:lnTo>
                  <a:lnTo>
                    <a:pt x="631608" y="727192"/>
                  </a:lnTo>
                  <a:lnTo>
                    <a:pt x="719876" y="786154"/>
                  </a:lnTo>
                  <a:close/>
                </a:path>
              </a:pathLst>
            </a:custGeom>
            <a:solidFill>
              <a:srgbClr val="F9E6D7"/>
            </a:solidFill>
            <a:ln w="12700">
              <a:solidFill>
                <a:srgbClr val="EDA100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7794777" y="2475071"/>
              <a:ext cx="589940" cy="0"/>
            </a:xfrm>
            <a:prstGeom prst="line">
              <a:avLst/>
            </a:prstGeom>
            <a:noFill/>
            <a:ln w="22225">
              <a:solidFill>
                <a:srgbClr val="0B0B0B"/>
              </a:solidFill>
              <a:prstDash val="solid"/>
            </a:ln>
          </p:spPr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owerChart" descr="candlestick chart. 4 data series: Open, High, Low, Close. 10 categories: Mon, Tue, Wed, Thu and 6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Candlestick — Share price — last two weeks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Mon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67522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Tue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27720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Wed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87918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Thu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48116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Fri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08314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Mon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68512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Tue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28710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Wed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88908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Thu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49106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Fri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374238" y="403860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3223743" y="4251960"/>
              <a:ext cx="30099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3976218" y="382524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3825723" y="4251960"/>
              <a:ext cx="300990" cy="21336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4578198" y="3611880"/>
              <a:ext cx="0" cy="106680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4427703" y="3825240"/>
              <a:ext cx="30099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5180178" y="3611880"/>
              <a:ext cx="0" cy="64008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5029683" y="3825240"/>
              <a:ext cx="300990" cy="21336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782158" y="339852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631663" y="3611880"/>
              <a:ext cx="30099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6384138" y="297180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6233643" y="3185160"/>
              <a:ext cx="30099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6986118" y="275844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835623" y="3185160"/>
              <a:ext cx="300990" cy="21336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7588098" y="318516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7437603" y="3398520"/>
              <a:ext cx="300990" cy="42672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8190078" y="339852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8039583" y="3611880"/>
              <a:ext cx="300990" cy="213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8792058" y="297180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8641563" y="3185160"/>
              <a:ext cx="30099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PowerChart" descr="stacked column chart. 3 data series: Enterprise, SMB, Consumer. 4 categories: 2022, 2023, 2024, 2025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Decorations — totals, CAGR, difference, value line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686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40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9594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89148" y="4411641"/>
              <a:ext cx="863600" cy="69375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38348" y="4663271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89148" y="3962739"/>
              <a:ext cx="863600" cy="44890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38348" y="40919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89148" y="3595455"/>
              <a:ext cx="863600" cy="36728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238348" y="368384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73248" y="3411305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84548" y="4289213"/>
              <a:ext cx="863600" cy="81618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533748" y="460205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84548" y="3758692"/>
              <a:ext cx="863600" cy="53052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533748" y="3928703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84548" y="3411813"/>
              <a:ext cx="863600" cy="34687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533748" y="349000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368648" y="322766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879948" y="4146381"/>
              <a:ext cx="863600" cy="95901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29148" y="45306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879948" y="3513836"/>
              <a:ext cx="863600" cy="63254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829148" y="3734858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879948" y="3126147"/>
              <a:ext cx="863600" cy="38768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829148" y="322474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664048" y="2941997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175348" y="3962739"/>
              <a:ext cx="863600" cy="1142661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7124548" y="4438819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175348" y="3248575"/>
              <a:ext cx="863600" cy="71416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124548" y="351040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175348" y="2799673"/>
              <a:ext cx="863600" cy="44890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7124548" y="2928874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959448" y="261552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113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073248" y="51054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8305648" y="2938399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305648" y="3519932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305648" y="4448344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 flipV="1">
              <a:off x="3720948" y="2253573"/>
              <a:ext cx="3886200" cy="795782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 rot="4680000">
              <a:off x="7481438" y="2202811"/>
              <a:ext cx="127000" cy="127000"/>
            </a:xfrm>
            <a:prstGeom prst="triangle">
              <a:avLst/>
            </a:prstGeom>
            <a:solidFill>
              <a:srgbClr val="0B0B0B"/>
            </a:solidFill>
            <a:ln/>
          </p:spPr>
        </p:sp>
        <p:sp>
          <p:nvSpPr>
            <p:cNvPr id="41" name="Text 39"/>
            <p:cNvSpPr/>
            <p:nvPr/>
          </p:nvSpPr>
          <p:spPr>
            <a:xfrm>
              <a:off x="5092548" y="2050373"/>
              <a:ext cx="1143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+15.2% p.a.</a:t>
              </a:r>
              <a:endParaRPr lang="en-US" sz="10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4178148" y="3595455"/>
              <a:ext cx="403860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dash"/>
            </a:ln>
          </p:spPr>
        </p:sp>
        <p:sp>
          <p:nvSpPr>
            <p:cNvPr id="43" name="Shape 41"/>
            <p:cNvSpPr/>
            <p:nvPr/>
          </p:nvSpPr>
          <p:spPr>
            <a:xfrm>
              <a:off x="8165948" y="2799673"/>
              <a:ext cx="0" cy="795782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8102448" y="2799673"/>
              <a:ext cx="127000" cy="127000"/>
            </a:xfrm>
            <a:prstGeom prst="triangle">
              <a:avLst/>
            </a:prstGeom>
            <a:solidFill>
              <a:srgbClr val="0B0B0B"/>
            </a:solidFill>
            <a:ln/>
          </p:spPr>
        </p:sp>
        <p:sp>
          <p:nvSpPr>
            <p:cNvPr id="45" name="Text 43"/>
            <p:cNvSpPr/>
            <p:nvPr/>
          </p:nvSpPr>
          <p:spPr>
            <a:xfrm>
              <a:off x="8204048" y="3102314"/>
              <a:ext cx="939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+53%</a:t>
              </a:r>
              <a:endParaRPr lang="en-US" sz="10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3073248" y="3233272"/>
              <a:ext cx="51816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dash"/>
            </a:ln>
          </p:spPr>
        </p:sp>
        <p:sp>
          <p:nvSpPr>
            <p:cNvPr id="47" name="Text 45"/>
            <p:cNvSpPr/>
            <p:nvPr/>
          </p:nvSpPr>
          <p:spPr>
            <a:xfrm>
              <a:off x="3098648" y="3042772"/>
              <a:ext cx="1270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Ø 92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PowerChart" descr="clustered column chart. 2 data series: 2024, 2025. 4 categories: Q1, Q2, Q3, Q4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Grand total — sum of all category totals (top-right)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7151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86978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26805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312643" y="3498533"/>
              <a:ext cx="453390" cy="160686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3261843" y="4206716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778733" y="3154204"/>
              <a:ext cx="453390" cy="195119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727933" y="4034552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73248" y="2970054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93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710913" y="3268980"/>
              <a:ext cx="453390" cy="18364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4660113" y="4091940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177003" y="3001169"/>
              <a:ext cx="453390" cy="210423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5126203" y="3958034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471518" y="2817019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103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109183" y="3383756"/>
              <a:ext cx="453390" cy="172164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058383" y="4149328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575273" y="2886393"/>
              <a:ext cx="453390" cy="221900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6524473" y="3900646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869788" y="2702243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103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507453" y="2771616"/>
              <a:ext cx="453390" cy="233378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7456653" y="3843258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973543" y="2427288"/>
              <a:ext cx="453390" cy="267811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7922743" y="3671094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268058" y="2243138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131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8343748" y="1854200"/>
              <a:ext cx="3225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430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3073248" y="5105400"/>
              <a:ext cx="55930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8717128" y="3680619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8717128" y="3852783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PowerChart" descr="clustered column chart. 4 data series: Sales, Sales, Sales, Sales. 4 categories: Q1, Q2, Q3, Q4."/>
          <p:cNvGrpSpPr/>
          <p:nvPr>
            <p:custDataLst>
              <p:tags r:id="rId3"/>
            </p:custDataLst>
          </p:nvPr>
        </p:nvGrpSpPr>
        <p:grpSpPr>
          <a:xfrm>
            <a:off x="2539848" y="1397000"/>
            <a:ext cx="7112000" cy="4051300"/>
            <a:chOff x="2539848" y="1397000"/>
            <a:chExt cx="7112000" cy="4051300"/>
          </a:xfrm>
        </p:grpSpPr>
        <p:sp>
          <p:nvSpPr>
            <p:cNvPr id="2" name="Text 0"/>
            <p:cNvSpPr/>
            <p:nvPr/>
          </p:nvSpPr>
          <p:spPr>
            <a:xfrm>
              <a:off x="2539848" y="1397000"/>
              <a:ext cx="711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IBCS scenarios — PY / AC / FC / PL by fill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2539848" y="5143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2539848" y="3992033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2539848" y="2840567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539848" y="1689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971648" y="5270500"/>
              <a:ext cx="1657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628998" y="5270500"/>
              <a:ext cx="1657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286348" y="5270500"/>
              <a:ext cx="1657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943698" y="5270500"/>
              <a:ext cx="1657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54223" y="3390053"/>
              <a:ext cx="263525" cy="1842347"/>
            </a:xfrm>
            <a:prstGeom prst="rect">
              <a:avLst/>
            </a:prstGeom>
            <a:solidFill>
              <a:srgbClr val="BFC8D8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3203423" y="4215977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530448" y="3343995"/>
              <a:ext cx="263525" cy="1888405"/>
            </a:xfrm>
            <a:prstGeom prst="rect">
              <a:avLst/>
            </a:prstGeom>
            <a:solidFill>
              <a:srgbClr val="3B6EA5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3479648" y="4192947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82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082898" y="3274907"/>
              <a:ext cx="263525" cy="1957493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032098" y="4158403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911573" y="3274907"/>
              <a:ext cx="263525" cy="1957493"/>
            </a:xfrm>
            <a:prstGeom prst="rect">
              <a:avLst/>
            </a:prstGeom>
            <a:solidFill>
              <a:srgbClr val="BFC8D8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860773" y="4158403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85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187798" y="3205819"/>
              <a:ext cx="263525" cy="2026581"/>
            </a:xfrm>
            <a:prstGeom prst="rect">
              <a:avLst/>
            </a:prstGeom>
            <a:solidFill>
              <a:srgbClr val="3B6EA5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5136998" y="4123859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88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740248" y="3159760"/>
              <a:ext cx="263525" cy="2072640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689448" y="4100830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568923" y="3159760"/>
              <a:ext cx="263525" cy="2072640"/>
            </a:xfrm>
            <a:prstGeom prst="rect">
              <a:avLst/>
            </a:prstGeom>
            <a:solidFill>
              <a:srgbClr val="BFC8D8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6518123" y="4100830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90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845148" y="3021584"/>
              <a:ext cx="263525" cy="2210816"/>
            </a:xfrm>
            <a:prstGeom prst="rect">
              <a:avLst/>
            </a:prstGeom>
            <a:solidFill>
              <a:srgbClr val="3B6EA5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6794348" y="4031742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96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397598" y="3044613"/>
              <a:ext cx="263525" cy="2187787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7346798" y="4043257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95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8226273" y="3044613"/>
              <a:ext cx="263525" cy="2187787"/>
            </a:xfrm>
            <a:prstGeom prst="rect">
              <a:avLst/>
            </a:prstGeom>
            <a:solidFill>
              <a:srgbClr val="BFC8D8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8175473" y="4043257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95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8778723" y="2883408"/>
              <a:ext cx="263525" cy="2348992"/>
            </a:xfrm>
            <a:prstGeom prst="rect">
              <a:avLst/>
            </a:prstGeom>
            <a:solidFill>
              <a:srgbClr val="91A3C1"/>
            </a:solidFill>
            <a:ln w="12700">
              <a:solidFill>
                <a:srgbClr val="3B6EA5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8727923" y="3962654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102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9054948" y="2929467"/>
              <a:ext cx="263525" cy="2302933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9004148" y="3985683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2971648" y="5232400"/>
              <a:ext cx="6629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PowerChart" descr="clustered column chart. 2 data series: Actual, Plan. 4 categories: Q1, Q2, Q3, Q4."/>
          <p:cNvGrpSpPr/>
          <p:nvPr>
            <p:custDataLst>
              <p:tags r:id="rId3"/>
            </p:custDataLst>
          </p:nvPr>
        </p:nvGrpSpPr>
        <p:grpSpPr>
          <a:xfrm>
            <a:off x="2539848" y="1270000"/>
            <a:ext cx="7112000" cy="4305300"/>
            <a:chOff x="2539848" y="1270000"/>
            <a:chExt cx="7112000" cy="4305300"/>
          </a:xfrm>
        </p:grpSpPr>
        <p:sp>
          <p:nvSpPr>
            <p:cNvPr id="2" name="Text 0"/>
            <p:cNvSpPr/>
            <p:nvPr/>
          </p:nvSpPr>
          <p:spPr>
            <a:xfrm>
              <a:off x="2539848" y="1270000"/>
              <a:ext cx="711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IBCS variance tier — actual vs plan (Δ below)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2539848" y="46990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2539848" y="31305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2539848" y="1562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971648" y="5397500"/>
              <a:ext cx="15163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488028" y="5397500"/>
              <a:ext cx="15163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004408" y="5397500"/>
              <a:ext cx="15163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520788" y="5397500"/>
              <a:ext cx="15163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230728" y="2215642"/>
              <a:ext cx="492760" cy="2572258"/>
            </a:xfrm>
            <a:prstGeom prst="rect">
              <a:avLst/>
            </a:prstGeom>
            <a:solidFill>
              <a:srgbClr val="3B6EA5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3179928" y="3406521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82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736188" y="2121535"/>
              <a:ext cx="492760" cy="2666365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3685388" y="3359468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85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747108" y="2027428"/>
              <a:ext cx="492760" cy="2760472"/>
            </a:xfrm>
            <a:prstGeom prst="rect">
              <a:avLst/>
            </a:prstGeom>
            <a:solidFill>
              <a:srgbClr val="3B6EA5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696308" y="3312414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88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252568" y="2090166"/>
              <a:ext cx="492760" cy="2697734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201768" y="3343783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86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263488" y="1776476"/>
              <a:ext cx="492760" cy="3011424"/>
            </a:xfrm>
            <a:prstGeom prst="rect">
              <a:avLst/>
            </a:prstGeom>
            <a:solidFill>
              <a:srgbClr val="3B6EA5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6212688" y="3186938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96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768948" y="1807845"/>
              <a:ext cx="492760" cy="2980055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718148" y="3202623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95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779868" y="1933321"/>
              <a:ext cx="492760" cy="2854579"/>
            </a:xfrm>
            <a:prstGeom prst="rect">
              <a:avLst/>
            </a:prstGeom>
            <a:solidFill>
              <a:srgbClr val="3B6EA5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7729068" y="3265361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91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8285328" y="1651000"/>
              <a:ext cx="492760" cy="3136900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8234528" y="3124200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2971648" y="5073650"/>
              <a:ext cx="606552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3350743" y="5073650"/>
              <a:ext cx="758190" cy="45720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2971648" y="5132070"/>
              <a:ext cx="1516380" cy="133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E3494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-3</a:t>
              </a:r>
              <a:endParaRPr lang="en-US" sz="8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867123" y="5043170"/>
              <a:ext cx="758190" cy="30480"/>
            </a:xfrm>
            <a:prstGeom prst="rect">
              <a:avLst/>
            </a:prstGeom>
            <a:solidFill>
              <a:srgbClr val="0CA30C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4488028" y="4909820"/>
              <a:ext cx="1516380" cy="133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CA30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+2</a:t>
              </a:r>
              <a:endParaRPr lang="en-US" sz="8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6383503" y="5058410"/>
              <a:ext cx="758190" cy="15240"/>
            </a:xfrm>
            <a:prstGeom prst="rect">
              <a:avLst/>
            </a:prstGeom>
            <a:solidFill>
              <a:srgbClr val="0CA30C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6004408" y="4925060"/>
              <a:ext cx="1516380" cy="133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CA30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</a:t>
              </a:r>
              <a:endParaRPr lang="en-US" sz="8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7899883" y="5073650"/>
              <a:ext cx="758190" cy="137160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7520788" y="5223510"/>
              <a:ext cx="1516380" cy="133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E3494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-9</a:t>
              </a:r>
              <a:endParaRPr lang="en-US" sz="8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2971648" y="4787900"/>
              <a:ext cx="606552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9087968" y="3133725"/>
              <a:ext cx="5638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Plan (PL)</a:t>
              </a:r>
              <a:endParaRPr lang="en-US" sz="7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9087968" y="3305175"/>
              <a:ext cx="5638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Actual (AC)</a:t>
              </a:r>
              <a:endParaRPr lang="en-US" sz="700" dirty="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PowerChart" descr="stacked column chart. 3 data series: Enterprise, SMB, Consumer. 4 categories: 2022, 2023, 2024, 2025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Level difference (series) + label content Value+%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686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40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9594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89148" y="4411641"/>
              <a:ext cx="863600" cy="69375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38348" y="4663271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34 46%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89148" y="3962739"/>
              <a:ext cx="863600" cy="44890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38348" y="40919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22 30%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89148" y="3595455"/>
              <a:ext cx="863600" cy="36728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238348" y="368384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18 24%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84548" y="4289213"/>
              <a:ext cx="863600" cy="81618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533748" y="460205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40 48%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584548" y="3758692"/>
              <a:ext cx="863600" cy="53052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533748" y="3928703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26 31%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584548" y="3411813"/>
              <a:ext cx="863600" cy="34687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533748" y="349000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17 20%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879948" y="4146381"/>
              <a:ext cx="863600" cy="95901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829148" y="45306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47 48%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879948" y="3513836"/>
              <a:ext cx="863600" cy="63254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29148" y="3734858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31 32%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879948" y="3126147"/>
              <a:ext cx="863600" cy="38768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829148" y="322474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19 20%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175348" y="3962739"/>
              <a:ext cx="863600" cy="1142661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124548" y="4438819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56 50%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175348" y="3248575"/>
              <a:ext cx="863600" cy="71416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7124548" y="351040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35 31%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175348" y="2799673"/>
              <a:ext cx="863600" cy="44890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7124548" y="2928874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22 19%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073248" y="51054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8305648" y="2938399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305648" y="3519932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305648" y="4448344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178148" y="4411641"/>
              <a:ext cx="403860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dash"/>
            </a:ln>
          </p:spPr>
        </p:sp>
        <p:sp>
          <p:nvSpPr>
            <p:cNvPr id="36" name="Shape 34"/>
            <p:cNvSpPr/>
            <p:nvPr/>
          </p:nvSpPr>
          <p:spPr>
            <a:xfrm>
              <a:off x="8165948" y="3962739"/>
              <a:ext cx="0" cy="448903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8102448" y="3962739"/>
              <a:ext cx="127000" cy="127000"/>
            </a:xfrm>
            <a:prstGeom prst="triangle">
              <a:avLst/>
            </a:prstGeom>
            <a:solidFill>
              <a:srgbClr val="0B0B0B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8204048" y="4091940"/>
              <a:ext cx="939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+65%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PowerChart" descr="stacked column chart (horizontal). 3 data series: Enterprise, SMB, Consumer. 4 categories: 2022, 2023, 2024, 2025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59200"/>
            <a:chOff x="3047848" y="1524000"/>
            <a:chExt cx="6096000" cy="37592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Bar orientation + segment order descending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2365375"/>
              <a:ext cx="3251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3171825"/>
              <a:ext cx="3251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3978275"/>
              <a:ext cx="3251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4784725"/>
              <a:ext cx="3251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23768" y="18732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3550768" y="182880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388968" y="18732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4515968" y="1828800"/>
              <a:ext cx="2819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874108" y="187325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5001108" y="1828800"/>
              <a:ext cx="6248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423768" y="2191808"/>
              <a:ext cx="1175647" cy="53763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372968" y="2365375"/>
              <a:ext cx="127724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599415" y="2191808"/>
              <a:ext cx="760713" cy="53763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548615" y="2365375"/>
              <a:ext cx="8623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360128" y="2191808"/>
              <a:ext cx="622402" cy="53763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309328" y="2365375"/>
              <a:ext cx="72400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020630" y="2365375"/>
              <a:ext cx="3123218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423768" y="2998258"/>
              <a:ext cx="1383115" cy="53763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3372968" y="3171825"/>
              <a:ext cx="148471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806882" y="2998258"/>
              <a:ext cx="899025" cy="53763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4756082" y="3171825"/>
              <a:ext cx="10006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705907" y="2998258"/>
              <a:ext cx="587824" cy="53763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5655107" y="3171825"/>
              <a:ext cx="68942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331831" y="3171825"/>
              <a:ext cx="28120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423768" y="3804708"/>
              <a:ext cx="1625160" cy="53763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3372968" y="3978275"/>
              <a:ext cx="1726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048927" y="3804708"/>
              <a:ext cx="1071914" cy="53763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4998127" y="3978275"/>
              <a:ext cx="117351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6120841" y="3804708"/>
              <a:ext cx="656979" cy="53763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6070041" y="3978275"/>
              <a:ext cx="75857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815921" y="3978275"/>
              <a:ext cx="232792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3423768" y="4611158"/>
              <a:ext cx="1936361" cy="53763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3372968" y="4784725"/>
              <a:ext cx="203796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5360128" y="4611158"/>
              <a:ext cx="1210225" cy="53763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5309328" y="4784725"/>
              <a:ext cx="13118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10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6570353" y="4611158"/>
              <a:ext cx="760713" cy="53763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6519553" y="4784725"/>
              <a:ext cx="8623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7369167" y="4784725"/>
              <a:ext cx="177468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113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3423768" y="2057400"/>
              <a:ext cx="0" cy="32258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PowerChart" descr="stacked column chart. 3 data series: Enterprise, SMB, Consumer. 4 categories: 2025, 2024, 2023, 2022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Category sort descending + pinned axis + de-DE locale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4085167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3064933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2044700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0,0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3996267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50,0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2976033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100,0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19558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150,0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479648" y="5143500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673448" y="5143500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867248" y="5143500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061048" y="5143500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678614" y="3962739"/>
              <a:ext cx="795867" cy="1142661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627814" y="4438819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56,0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678614" y="3248575"/>
              <a:ext cx="795867" cy="71416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627814" y="3510407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35,0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678614" y="2799673"/>
              <a:ext cx="795867" cy="44890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3627814" y="2928874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22,0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479648" y="2615523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113,0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872414" y="4146381"/>
              <a:ext cx="795867" cy="95901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4821614" y="4530640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47,0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872414" y="3513836"/>
              <a:ext cx="795867" cy="63254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821614" y="3734858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31,0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872414" y="3126147"/>
              <a:ext cx="795867" cy="38768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4821614" y="3224742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19,0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673448" y="2941997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97,0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066214" y="4289213"/>
              <a:ext cx="795867" cy="81618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6015414" y="4602057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40,0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066214" y="3758692"/>
              <a:ext cx="795867" cy="53052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6015414" y="3928703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26,0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066214" y="3411813"/>
              <a:ext cx="795867" cy="34687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015414" y="3490002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17,0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5867248" y="3227663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83,0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7260014" y="4411641"/>
              <a:ext cx="795867" cy="69375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7209214" y="4663271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34,0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7260014" y="3962739"/>
              <a:ext cx="795867" cy="44890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7209214" y="4091940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22,0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260014" y="3595455"/>
              <a:ext cx="795867" cy="36728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7209214" y="3683847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18,0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7061048" y="3411305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74,0</a:t>
              </a:r>
              <a:endParaRPr lang="en-US" sz="10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3479648" y="5105400"/>
              <a:ext cx="47752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8305648" y="3693372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8305648" y="4101465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8305648" y="4672796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owerChart" descr="stacked column chart. 4 data series: EU Product, EU Services, US Product, US Services. 2 categories: 2024, 2025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Clustered-stacked (stack groups) 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255651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5629758" y="5143500"/>
              <a:ext cx="255651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505683" y="3575050"/>
              <a:ext cx="839470" cy="153035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454883" y="4244975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505683" y="2962910"/>
              <a:ext cx="839470" cy="61214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454883" y="3173730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357853" y="3779097"/>
              <a:ext cx="839470" cy="132630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307053" y="4346998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357853" y="3268980"/>
              <a:ext cx="839470" cy="510117"/>
            </a:xfrm>
            <a:prstGeom prst="rect">
              <a:avLst/>
            </a:prstGeom>
            <a:solidFill>
              <a:srgbClr val="0083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307053" y="3428788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448533" y="2778760"/>
              <a:ext cx="9537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9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300703" y="3084830"/>
              <a:ext cx="9537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36</a:t>
              </a:r>
              <a:endParaRPr lang="en-US" sz="9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062193" y="3268980"/>
              <a:ext cx="839470" cy="18364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011393" y="4091940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36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062193" y="2452793"/>
              <a:ext cx="839470" cy="816187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011393" y="2765637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914363" y="3422015"/>
              <a:ext cx="839470" cy="1683385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863563" y="4168458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33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914363" y="2707852"/>
              <a:ext cx="839470" cy="714163"/>
            </a:xfrm>
            <a:prstGeom prst="rect">
              <a:avLst/>
            </a:prstGeom>
            <a:solidFill>
              <a:srgbClr val="0083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6863563" y="2969683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005043" y="2268643"/>
              <a:ext cx="9537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9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857213" y="2523702"/>
              <a:ext cx="9537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9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073248" y="5105400"/>
              <a:ext cx="511302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8237068" y="2775162"/>
              <a:ext cx="9067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EU Services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8237068" y="2979208"/>
              <a:ext cx="9067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US Services</a:t>
              </a:r>
              <a:endParaRPr lang="en-US" sz="10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8237068" y="4101465"/>
              <a:ext cx="9067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EU Product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237068" y="4272915"/>
              <a:ext cx="9067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US Product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PowerChart" descr="clustered column chart. 1 data series: Sales. 4 categories: Q1, Q2, Q3, Q4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Axis break (620 outlier) + axis title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3910584"/>
              <a:ext cx="56134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1905000"/>
              <a:ext cx="56134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3821684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1714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€m</a:t>
              </a:r>
              <a:endParaRPr lang="en-US" sz="9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4796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8829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2863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6896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719889" y="4684227"/>
              <a:ext cx="922867" cy="42117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3669089" y="4799564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123239" y="4553864"/>
              <a:ext cx="922867" cy="55153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5072439" y="4734382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526589" y="3710026"/>
              <a:ext cx="922867" cy="139537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475789" y="4312463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620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929939" y="4493697"/>
              <a:ext cx="922867" cy="61170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7879139" y="4704298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454248" y="4111142"/>
              <a:ext cx="5664200" cy="192024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22" name="Shape 20"/>
            <p:cNvSpPr/>
            <p:nvPr/>
          </p:nvSpPr>
          <p:spPr>
            <a:xfrm flipV="1">
              <a:off x="3428848" y="4271416"/>
              <a:ext cx="5715000" cy="635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 flipV="1">
              <a:off x="3428848" y="4079392"/>
              <a:ext cx="5715000" cy="635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PowerChart" descr="clustered column chart. 1 data series: Valuation. 4 categories: Seed, A, B, C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Log scale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4305300"/>
              <a:ext cx="56134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3505200"/>
              <a:ext cx="56134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3479648" y="2705100"/>
              <a:ext cx="56134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3479648" y="1905000"/>
              <a:ext cx="56134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42164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047848" y="3416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47848" y="26162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1,000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10,000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47848" y="1714500"/>
              <a:ext cx="5486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$m (log)</a:t>
              </a:r>
              <a:endParaRPr lang="en-US" sz="9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796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Seed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8829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2863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6896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719889" y="4623692"/>
              <a:ext cx="922867" cy="48170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3669089" y="4769296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123239" y="3823592"/>
              <a:ext cx="922867" cy="128180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5072439" y="4369246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526589" y="3231228"/>
              <a:ext cx="922867" cy="187417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6475789" y="4073064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220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929939" y="2482069"/>
              <a:ext cx="922867" cy="262333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7879139" y="3698485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1,900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PowerChart" descr="100% stacked column chart. 2 data series: Won, Lost. 3 categories: 2023, 2024, 2025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100%= row (columns short of 100%)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864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937608" y="5143500"/>
              <a:ext cx="1864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801968" y="5143500"/>
              <a:ext cx="1864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383974" y="3825240"/>
              <a:ext cx="1242907" cy="128016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333174" y="437007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40%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383974" y="2865120"/>
              <a:ext cx="1242907" cy="96012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333174" y="324993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30%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248334" y="3345180"/>
              <a:ext cx="1242907" cy="17602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197534" y="413004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55%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248334" y="2545080"/>
              <a:ext cx="1242907" cy="80010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197534" y="284988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25%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112694" y="2865120"/>
              <a:ext cx="1242907" cy="224028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7061894" y="389001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70%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7112694" y="2225040"/>
              <a:ext cx="1242907" cy="64008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7061894" y="244983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20%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073248" y="5105400"/>
              <a:ext cx="55930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8717128" y="2459355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Lost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717128" y="3899535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Won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owerChart" descr="waterfall chart. 2 data series: Europe, Americas. 5 categories: FY23, Organic, M&amp;A, Cost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Stacked waterfall + value-line-anchored difference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1379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211168" y="5143500"/>
              <a:ext cx="11379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Organic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349088" y="5143500"/>
              <a:ext cx="11379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M&amp;A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487008" y="5143500"/>
              <a:ext cx="11379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624928" y="5143500"/>
              <a:ext cx="11379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FY24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262901" y="4085167"/>
              <a:ext cx="758613" cy="102023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186701" y="4500033"/>
              <a:ext cx="9110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262901" y="3350599"/>
              <a:ext cx="758613" cy="734568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186701" y="3622633"/>
              <a:ext cx="9110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36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021514" y="3350599"/>
              <a:ext cx="379307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3" name="Shape 11"/>
            <p:cNvSpPr/>
            <p:nvPr/>
          </p:nvSpPr>
          <p:spPr>
            <a:xfrm>
              <a:off x="4400821" y="3187361"/>
              <a:ext cx="758613" cy="16323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324621" y="3173730"/>
              <a:ext cx="9110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+8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400821" y="3064933"/>
              <a:ext cx="758613" cy="122428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5159434" y="3064933"/>
              <a:ext cx="379307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7" name="Shape 15"/>
            <p:cNvSpPr/>
            <p:nvPr/>
          </p:nvSpPr>
          <p:spPr>
            <a:xfrm>
              <a:off x="5538741" y="2962910"/>
              <a:ext cx="758613" cy="10202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5538741" y="2779268"/>
              <a:ext cx="758613" cy="183642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5462541" y="2775839"/>
              <a:ext cx="9110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+9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297354" y="2779268"/>
              <a:ext cx="379307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1" name="Shape 19"/>
            <p:cNvSpPr/>
            <p:nvPr/>
          </p:nvSpPr>
          <p:spPr>
            <a:xfrm>
              <a:off x="6676661" y="2779268"/>
              <a:ext cx="758613" cy="122428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6661" y="2901696"/>
              <a:ext cx="758613" cy="122428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7435274" y="3024124"/>
              <a:ext cx="379307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4" name="Shape 22"/>
            <p:cNvSpPr/>
            <p:nvPr/>
          </p:nvSpPr>
          <p:spPr>
            <a:xfrm>
              <a:off x="7814581" y="3024124"/>
              <a:ext cx="758613" cy="2081276"/>
            </a:xfrm>
            <a:prstGeom prst="rect">
              <a:avLst/>
            </a:prstGeom>
            <a:solidFill>
              <a:srgbClr val="898781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7738381" y="3969512"/>
              <a:ext cx="9110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102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073248" y="5105400"/>
              <a:ext cx="5689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4046914" y="3064933"/>
              <a:ext cx="470408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dash"/>
            </a:ln>
          </p:spPr>
        </p:sp>
        <p:sp>
          <p:nvSpPr>
            <p:cNvPr id="28" name="Shape 26"/>
            <p:cNvSpPr/>
            <p:nvPr/>
          </p:nvSpPr>
          <p:spPr>
            <a:xfrm>
              <a:off x="8700194" y="3024124"/>
              <a:ext cx="0" cy="40809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8636694" y="3024124"/>
              <a:ext cx="127000" cy="127000"/>
            </a:xfrm>
            <a:prstGeom prst="triangle">
              <a:avLst/>
            </a:prstGeom>
            <a:solidFill>
              <a:srgbClr val="0B0B0B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8738294" y="2949279"/>
              <a:ext cx="40555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+2.0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073248" y="3064933"/>
              <a:ext cx="56896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dash"/>
            </a:ln>
          </p:spPr>
        </p:sp>
        <p:sp>
          <p:nvSpPr>
            <p:cNvPr id="32" name="Text 30"/>
            <p:cNvSpPr/>
            <p:nvPr/>
          </p:nvSpPr>
          <p:spPr>
            <a:xfrm>
              <a:off x="3098648" y="2874433"/>
              <a:ext cx="1270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PowerChart" descr="waterfall chart (horizontal). 1 data series: Delta. 6 categories: FY23, Volume, Price, Cost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59200"/>
            <a:chOff x="3047848" y="1524000"/>
            <a:chExt cx="6096000" cy="37592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Rotated waterfall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2067983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2635250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Volume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3202517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Price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3769783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4337050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FX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4904317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560928" y="1974144"/>
              <a:ext cx="3128061" cy="37817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484728" y="2067983"/>
              <a:ext cx="328046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86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688988" y="2352322"/>
              <a:ext cx="0" cy="189089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2" name="Shape 10"/>
            <p:cNvSpPr/>
            <p:nvPr/>
          </p:nvSpPr>
          <p:spPr>
            <a:xfrm>
              <a:off x="6688988" y="2541411"/>
              <a:ext cx="509219" cy="37817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612788" y="2635250"/>
              <a:ext cx="66161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198208" y="2919589"/>
              <a:ext cx="0" cy="189089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5" name="Shape 13"/>
            <p:cNvSpPr/>
            <p:nvPr/>
          </p:nvSpPr>
          <p:spPr>
            <a:xfrm>
              <a:off x="7198208" y="3108678"/>
              <a:ext cx="327355" cy="37817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7122008" y="3202517"/>
              <a:ext cx="47975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+9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525563" y="3486856"/>
              <a:ext cx="0" cy="189089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8" name="Shape 16"/>
            <p:cNvSpPr/>
            <p:nvPr/>
          </p:nvSpPr>
          <p:spPr>
            <a:xfrm>
              <a:off x="7089089" y="3675944"/>
              <a:ext cx="436474" cy="378178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7012889" y="3769783"/>
              <a:ext cx="58887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-12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089089" y="4054122"/>
              <a:ext cx="0" cy="189089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1" name="Shape 19"/>
            <p:cNvSpPr/>
            <p:nvPr/>
          </p:nvSpPr>
          <p:spPr>
            <a:xfrm>
              <a:off x="6943598" y="4243211"/>
              <a:ext cx="145491" cy="378178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7114489" y="4337050"/>
              <a:ext cx="508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-4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943598" y="4621389"/>
              <a:ext cx="0" cy="189089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4" name="Shape 22"/>
            <p:cNvSpPr/>
            <p:nvPr/>
          </p:nvSpPr>
          <p:spPr>
            <a:xfrm>
              <a:off x="3560928" y="4810478"/>
              <a:ext cx="3382670" cy="378178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3484728" y="4904317"/>
              <a:ext cx="3535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93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560928" y="1879600"/>
              <a:ext cx="0" cy="34036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PowerChart" descr="Mekko chart (horizontal). 3 data series: Enterprise, SMB, Consumer. 3 categories: EMEA, Americas, APAC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59200"/>
            <a:chOff x="3047848" y="1524000"/>
            <a:chExt cx="6096000" cy="3759200"/>
          </a:xfrm>
        </p:grpSpPr>
        <p:sp>
          <p:nvSpPr>
            <p:cNvPr id="2" name="Shape 0"/>
            <p:cNvSpPr/>
            <p:nvPr/>
          </p:nvSpPr>
          <p:spPr>
            <a:xfrm>
              <a:off x="3698088" y="2057400"/>
              <a:ext cx="1875628" cy="158750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3672688" y="2755900"/>
              <a:ext cx="1926428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5573716" y="2057400"/>
              <a:ext cx="1250419" cy="158750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5548316" y="2755900"/>
              <a:ext cx="130121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28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6824135" y="2057400"/>
              <a:ext cx="625209" cy="158750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6798735" y="2755900"/>
              <a:ext cx="67600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487444" y="2755900"/>
              <a:ext cx="165640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698088" y="3670300"/>
              <a:ext cx="2456180" cy="95250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672688" y="4051300"/>
              <a:ext cx="25069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154268" y="3670300"/>
              <a:ext cx="1339735" cy="95250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6128868" y="4051300"/>
              <a:ext cx="139053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7494002" y="3670300"/>
              <a:ext cx="1116445" cy="95250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468602" y="4051300"/>
              <a:ext cx="116724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8648548" y="405130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698088" y="4648200"/>
              <a:ext cx="803841" cy="63500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672688" y="4870450"/>
              <a:ext cx="85464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01928" y="4648200"/>
              <a:ext cx="982472" cy="63500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476528" y="4870450"/>
              <a:ext cx="103327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484400" y="4648200"/>
              <a:ext cx="1339735" cy="63500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5459000" y="4870450"/>
              <a:ext cx="139053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862235" y="4870450"/>
              <a:ext cx="22816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Mekko with units (X extent) — rotated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047848" y="2755900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047848" y="4051300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047848" y="4870450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698088" y="2057400"/>
              <a:ext cx="0" cy="32258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3698088" y="18732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3825088" y="182880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663288" y="18732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4790288" y="1828800"/>
              <a:ext cx="2819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148428" y="187325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5275428" y="1828800"/>
              <a:ext cx="6248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PowerChart" descr="combination chart. 3 data series: Product, Services, Margin %. 4 categories: 2022, 2023, 2024, 2025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Combo + secondary axis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0293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73262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06231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94863" y="3881120"/>
              <a:ext cx="886460" cy="122428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44063" y="4398010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94863" y="3330194"/>
              <a:ext cx="886460" cy="550926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44063" y="3510407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73248" y="3146044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624553" y="3697478"/>
              <a:ext cx="886460" cy="1407922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4573753" y="4306189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46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624553" y="3024124"/>
              <a:ext cx="886460" cy="673354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573753" y="3265551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402938" y="2839974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68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954243" y="3513836"/>
              <a:ext cx="886460" cy="1591564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903443" y="4214368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954243" y="2687447"/>
              <a:ext cx="886460" cy="826389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903443" y="3005392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27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732628" y="2503297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79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283933" y="3268980"/>
              <a:ext cx="886460" cy="18364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233133" y="4091940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283933" y="2258949"/>
              <a:ext cx="886460" cy="101003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7233133" y="2668715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33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062318" y="2074799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93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073248" y="5105400"/>
              <a:ext cx="531876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8442808" y="2678240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442808" y="4101465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Product</a:t>
              </a:r>
              <a:endParaRPr lang="en-US" sz="10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8417408" y="50165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8417408" y="440436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417408" y="379222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417408" y="318008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417408" y="19558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707613" y="3177286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3357093" y="2928366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 flipV="1">
              <a:off x="3738093" y="3024124"/>
              <a:ext cx="1329690" cy="183642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5037303" y="2993644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4686783" y="2674874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40" name="Shape 38"/>
            <p:cNvSpPr/>
            <p:nvPr/>
          </p:nvSpPr>
          <p:spPr>
            <a:xfrm flipV="1">
              <a:off x="5067783" y="2779268"/>
              <a:ext cx="1329690" cy="244856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6366993" y="2748788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6016473" y="2709418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1000" dirty="0"/>
            </a:p>
          </p:txBody>
        </p:sp>
        <p:sp>
          <p:nvSpPr>
            <p:cNvPr id="43" name="Shape 41"/>
            <p:cNvSpPr/>
            <p:nvPr/>
          </p:nvSpPr>
          <p:spPr>
            <a:xfrm flipV="1">
              <a:off x="6397473" y="2350770"/>
              <a:ext cx="1329690" cy="428498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7696683" y="232029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7346163" y="228092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8442808" y="2147570"/>
              <a:ext cx="7010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Margin 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PowerChart" descr="scatter plot. 6 data series: X, Y, Group, X line and 2 more. 6 categories: Alpha, Bravo, Core, Delta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99200" cy="3810000"/>
            <a:chOff x="3047848" y="1524000"/>
            <a:chExt cx="62992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Scatter — partition lines, trend, groups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79648" y="437515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42862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36195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35306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79648" y="286385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27749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79648" y="21082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47848" y="2019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205709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479648" y="2108200"/>
              <a:ext cx="0" cy="30226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608610" y="2108200"/>
              <a:ext cx="0" cy="30226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dash"/>
            </a:ln>
          </p:spPr>
        </p:sp>
        <p:sp>
          <p:nvSpPr>
            <p:cNvPr id="21" name="Shape 19"/>
            <p:cNvSpPr/>
            <p:nvPr/>
          </p:nvSpPr>
          <p:spPr>
            <a:xfrm>
              <a:off x="3479648" y="3619500"/>
              <a:ext cx="55626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dash"/>
            </a:ln>
          </p:spPr>
        </p:sp>
        <p:sp>
          <p:nvSpPr>
            <p:cNvPr id="22" name="Shape 20"/>
            <p:cNvSpPr/>
            <p:nvPr/>
          </p:nvSpPr>
          <p:spPr>
            <a:xfrm flipV="1">
              <a:off x="3479648" y="2450745"/>
              <a:ext cx="5562600" cy="2346830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3" name="Text 21"/>
            <p:cNvSpPr/>
            <p:nvPr/>
          </p:nvSpPr>
          <p:spPr>
            <a:xfrm>
              <a:off x="7757008" y="2666645"/>
              <a:ext cx="12852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E3494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R² = 0.99, p &lt; 0.001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479648" y="195580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360664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1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239108" y="195580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436610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2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998568" y="195580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512556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3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275938" y="441261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5179860" y="395922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222848" y="3656965"/>
              <a:ext cx="76200" cy="762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7265835" y="3128010"/>
              <a:ext cx="76200" cy="762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7752563" y="3014663"/>
              <a:ext cx="76200" cy="76200"/>
            </a:xfrm>
            <a:prstGeom prst="ellips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8586953" y="2523490"/>
              <a:ext cx="76200" cy="76200"/>
            </a:xfrm>
            <a:prstGeom prst="ellips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4377538" y="4368165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Alpha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5281460" y="3914775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Bravo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324448" y="3612515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Core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7367435" y="308356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Delta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7854163" y="2970213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Echo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8056093" y="2479040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Foxtrot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PowerChart" descr="scatter plot. 3 data series: X, Y, Trend. 8 categories: 1, 2, 3, 4 and 4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99200" cy="3810000"/>
            <a:chOff x="3047848" y="1524000"/>
            <a:chExt cx="62992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Scatter — quadratic (degree 2) trend fit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79648" y="43180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4229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35052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3416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79648" y="26924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2603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79648" y="18796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47848" y="1790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267431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0.0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4.0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6.0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8.0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479648" y="18796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174973" y="2722880"/>
              <a:ext cx="121682" cy="213798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1" name="Shape 19"/>
            <p:cNvSpPr/>
            <p:nvPr/>
          </p:nvSpPr>
          <p:spPr>
            <a:xfrm>
              <a:off x="4296654" y="2936678"/>
              <a:ext cx="121682" cy="201974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2" name="Shape 20"/>
            <p:cNvSpPr/>
            <p:nvPr/>
          </p:nvSpPr>
          <p:spPr>
            <a:xfrm>
              <a:off x="4418336" y="3138653"/>
              <a:ext cx="121682" cy="190151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3" name="Shape 21"/>
            <p:cNvSpPr/>
            <p:nvPr/>
          </p:nvSpPr>
          <p:spPr>
            <a:xfrm>
              <a:off x="4540018" y="3328803"/>
              <a:ext cx="121682" cy="178327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4" name="Shape 22"/>
            <p:cNvSpPr/>
            <p:nvPr/>
          </p:nvSpPr>
          <p:spPr>
            <a:xfrm>
              <a:off x="4661700" y="3507130"/>
              <a:ext cx="121682" cy="166503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5" name="Shape 23"/>
            <p:cNvSpPr/>
            <p:nvPr/>
          </p:nvSpPr>
          <p:spPr>
            <a:xfrm>
              <a:off x="4783382" y="3673634"/>
              <a:ext cx="121682" cy="154680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6" name="Shape 24"/>
            <p:cNvSpPr/>
            <p:nvPr/>
          </p:nvSpPr>
          <p:spPr>
            <a:xfrm>
              <a:off x="4905064" y="3828313"/>
              <a:ext cx="121682" cy="142856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7" name="Shape 25"/>
            <p:cNvSpPr/>
            <p:nvPr/>
          </p:nvSpPr>
          <p:spPr>
            <a:xfrm>
              <a:off x="5026746" y="3971169"/>
              <a:ext cx="121682" cy="131032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8" name="Shape 26"/>
            <p:cNvSpPr/>
            <p:nvPr/>
          </p:nvSpPr>
          <p:spPr>
            <a:xfrm>
              <a:off x="5148428" y="4102202"/>
              <a:ext cx="121682" cy="119209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9" name="Shape 27"/>
            <p:cNvSpPr/>
            <p:nvPr/>
          </p:nvSpPr>
          <p:spPr>
            <a:xfrm>
              <a:off x="5270109" y="4221410"/>
              <a:ext cx="121682" cy="107385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0" name="Shape 28"/>
            <p:cNvSpPr/>
            <p:nvPr/>
          </p:nvSpPr>
          <p:spPr>
            <a:xfrm>
              <a:off x="5391791" y="4328795"/>
              <a:ext cx="121682" cy="95561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1" name="Shape 29"/>
            <p:cNvSpPr/>
            <p:nvPr/>
          </p:nvSpPr>
          <p:spPr>
            <a:xfrm>
              <a:off x="5513473" y="4424356"/>
              <a:ext cx="121682" cy="83737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2" name="Shape 30"/>
            <p:cNvSpPr/>
            <p:nvPr/>
          </p:nvSpPr>
          <p:spPr>
            <a:xfrm>
              <a:off x="5635155" y="4508094"/>
              <a:ext cx="121682" cy="71914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3" name="Shape 31"/>
            <p:cNvSpPr/>
            <p:nvPr/>
          </p:nvSpPr>
          <p:spPr>
            <a:xfrm>
              <a:off x="5756837" y="4580007"/>
              <a:ext cx="121682" cy="60090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4" name="Shape 32"/>
            <p:cNvSpPr/>
            <p:nvPr/>
          </p:nvSpPr>
          <p:spPr>
            <a:xfrm>
              <a:off x="5878519" y="4640097"/>
              <a:ext cx="121682" cy="48266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5" name="Shape 33"/>
            <p:cNvSpPr/>
            <p:nvPr/>
          </p:nvSpPr>
          <p:spPr>
            <a:xfrm>
              <a:off x="6000201" y="4688364"/>
              <a:ext cx="121682" cy="36443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6" name="Shape 34"/>
            <p:cNvSpPr/>
            <p:nvPr/>
          </p:nvSpPr>
          <p:spPr>
            <a:xfrm>
              <a:off x="6121883" y="4724806"/>
              <a:ext cx="121682" cy="24619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7" name="Shape 35"/>
            <p:cNvSpPr/>
            <p:nvPr/>
          </p:nvSpPr>
          <p:spPr>
            <a:xfrm>
              <a:off x="6243564" y="4749425"/>
              <a:ext cx="121682" cy="12795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8" name="Shape 36"/>
            <p:cNvSpPr/>
            <p:nvPr/>
          </p:nvSpPr>
          <p:spPr>
            <a:xfrm>
              <a:off x="6365246" y="4762221"/>
              <a:ext cx="121682" cy="972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9" name="Shape 37"/>
            <p:cNvSpPr/>
            <p:nvPr/>
          </p:nvSpPr>
          <p:spPr>
            <a:xfrm flipV="1">
              <a:off x="6486928" y="4752340"/>
              <a:ext cx="121682" cy="10852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0" name="Shape 38"/>
            <p:cNvSpPr/>
            <p:nvPr/>
          </p:nvSpPr>
          <p:spPr>
            <a:xfrm flipV="1">
              <a:off x="6608610" y="4729664"/>
              <a:ext cx="121682" cy="22676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1" name="Shape 39"/>
            <p:cNvSpPr/>
            <p:nvPr/>
          </p:nvSpPr>
          <p:spPr>
            <a:xfrm flipV="1">
              <a:off x="6730292" y="4695165"/>
              <a:ext cx="121682" cy="34500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2" name="Shape 40"/>
            <p:cNvSpPr/>
            <p:nvPr/>
          </p:nvSpPr>
          <p:spPr>
            <a:xfrm flipV="1">
              <a:off x="6851974" y="4648841"/>
              <a:ext cx="121682" cy="46323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3" name="Shape 41"/>
            <p:cNvSpPr/>
            <p:nvPr/>
          </p:nvSpPr>
          <p:spPr>
            <a:xfrm flipV="1">
              <a:off x="6973656" y="4590694"/>
              <a:ext cx="121682" cy="58147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4" name="Shape 42"/>
            <p:cNvSpPr/>
            <p:nvPr/>
          </p:nvSpPr>
          <p:spPr>
            <a:xfrm flipV="1">
              <a:off x="7095338" y="4520724"/>
              <a:ext cx="121682" cy="69971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5" name="Shape 43"/>
            <p:cNvSpPr/>
            <p:nvPr/>
          </p:nvSpPr>
          <p:spPr>
            <a:xfrm flipV="1">
              <a:off x="7217019" y="4438929"/>
              <a:ext cx="121682" cy="81794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6" name="Shape 44"/>
            <p:cNvSpPr/>
            <p:nvPr/>
          </p:nvSpPr>
          <p:spPr>
            <a:xfrm flipV="1">
              <a:off x="7338701" y="4345311"/>
              <a:ext cx="121682" cy="93618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7" name="Shape 45"/>
            <p:cNvSpPr/>
            <p:nvPr/>
          </p:nvSpPr>
          <p:spPr>
            <a:xfrm flipV="1">
              <a:off x="7460383" y="4239870"/>
              <a:ext cx="121682" cy="105442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8" name="Shape 46"/>
            <p:cNvSpPr/>
            <p:nvPr/>
          </p:nvSpPr>
          <p:spPr>
            <a:xfrm flipV="1">
              <a:off x="7582065" y="4122604"/>
              <a:ext cx="121682" cy="117265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9" name="Shape 47"/>
            <p:cNvSpPr/>
            <p:nvPr/>
          </p:nvSpPr>
          <p:spPr>
            <a:xfrm flipV="1">
              <a:off x="7703747" y="3993515"/>
              <a:ext cx="121682" cy="129089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0" name="Shape 48"/>
            <p:cNvSpPr/>
            <p:nvPr/>
          </p:nvSpPr>
          <p:spPr>
            <a:xfrm flipV="1">
              <a:off x="7825429" y="3852602"/>
              <a:ext cx="121682" cy="140913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1" name="Shape 49"/>
            <p:cNvSpPr/>
            <p:nvPr/>
          </p:nvSpPr>
          <p:spPr>
            <a:xfrm flipV="1">
              <a:off x="7947111" y="3699866"/>
              <a:ext cx="121682" cy="152737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2" name="Shape 50"/>
            <p:cNvSpPr/>
            <p:nvPr/>
          </p:nvSpPr>
          <p:spPr>
            <a:xfrm flipV="1">
              <a:off x="8068793" y="3535305"/>
              <a:ext cx="121682" cy="164560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3" name="Shape 51"/>
            <p:cNvSpPr/>
            <p:nvPr/>
          </p:nvSpPr>
          <p:spPr>
            <a:xfrm flipV="1">
              <a:off x="8190474" y="3358921"/>
              <a:ext cx="121682" cy="176384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4" name="Shape 52"/>
            <p:cNvSpPr/>
            <p:nvPr/>
          </p:nvSpPr>
          <p:spPr>
            <a:xfrm flipV="1">
              <a:off x="8312156" y="3170714"/>
              <a:ext cx="121682" cy="188208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5" name="Shape 53"/>
            <p:cNvSpPr/>
            <p:nvPr/>
          </p:nvSpPr>
          <p:spPr>
            <a:xfrm flipV="1">
              <a:off x="8433838" y="2970682"/>
              <a:ext cx="121682" cy="200031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6" name="Shape 54"/>
            <p:cNvSpPr/>
            <p:nvPr/>
          </p:nvSpPr>
          <p:spPr>
            <a:xfrm flipV="1">
              <a:off x="8555520" y="2758827"/>
              <a:ext cx="121682" cy="211855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7" name="Shape 55"/>
            <p:cNvSpPr/>
            <p:nvPr/>
          </p:nvSpPr>
          <p:spPr>
            <a:xfrm flipV="1">
              <a:off x="8677202" y="2535149"/>
              <a:ext cx="121682" cy="223679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8" name="Shape 56"/>
            <p:cNvSpPr/>
            <p:nvPr/>
          </p:nvSpPr>
          <p:spPr>
            <a:xfrm flipV="1">
              <a:off x="8798884" y="2299646"/>
              <a:ext cx="121682" cy="235502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9" name="Shape 57"/>
            <p:cNvSpPr/>
            <p:nvPr/>
          </p:nvSpPr>
          <p:spPr>
            <a:xfrm flipV="1">
              <a:off x="8920566" y="2052320"/>
              <a:ext cx="121682" cy="247326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60" name="Text 58"/>
            <p:cNvSpPr/>
            <p:nvPr/>
          </p:nvSpPr>
          <p:spPr>
            <a:xfrm>
              <a:off x="7695286" y="2235200"/>
              <a:ext cx="1346962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E3494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R² = 1.00 · quadratic</a:t>
              </a:r>
              <a:endParaRPr lang="en-US" sz="9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4136873" y="265430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2" name="Shape 60"/>
            <p:cNvSpPr/>
            <p:nvPr/>
          </p:nvSpPr>
          <p:spPr>
            <a:xfrm>
              <a:off x="4832198" y="379222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3" name="Shape 61"/>
            <p:cNvSpPr/>
            <p:nvPr/>
          </p:nvSpPr>
          <p:spPr>
            <a:xfrm>
              <a:off x="5527523" y="444246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4" name="Shape 62"/>
            <p:cNvSpPr/>
            <p:nvPr/>
          </p:nvSpPr>
          <p:spPr>
            <a:xfrm>
              <a:off x="6222848" y="468630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5" name="Shape 63"/>
            <p:cNvSpPr/>
            <p:nvPr/>
          </p:nvSpPr>
          <p:spPr>
            <a:xfrm>
              <a:off x="6918173" y="460502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6" name="Shape 64"/>
            <p:cNvSpPr/>
            <p:nvPr/>
          </p:nvSpPr>
          <p:spPr>
            <a:xfrm>
              <a:off x="7613498" y="411734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7" name="Shape 65"/>
            <p:cNvSpPr/>
            <p:nvPr/>
          </p:nvSpPr>
          <p:spPr>
            <a:xfrm>
              <a:off x="8308823" y="330454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8" name="Shape 66"/>
            <p:cNvSpPr/>
            <p:nvPr/>
          </p:nvSpPr>
          <p:spPr>
            <a:xfrm>
              <a:off x="9004148" y="200406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9" name="Text 67"/>
            <p:cNvSpPr/>
            <p:nvPr/>
          </p:nvSpPr>
          <p:spPr>
            <a:xfrm>
              <a:off x="4238473" y="260985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</a:t>
              </a:r>
              <a:endParaRPr lang="en-US" sz="100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4933798" y="374777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</a:t>
              </a:r>
              <a:endParaRPr lang="en-US" sz="1000" dirty="0"/>
            </a:p>
          </p:txBody>
        </p:sp>
        <p:sp>
          <p:nvSpPr>
            <p:cNvPr id="71" name="Text 69"/>
            <p:cNvSpPr/>
            <p:nvPr/>
          </p:nvSpPr>
          <p:spPr>
            <a:xfrm>
              <a:off x="5629123" y="439801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</a:t>
              </a:r>
              <a:endParaRPr lang="en-US" sz="1000" dirty="0"/>
            </a:p>
          </p:txBody>
        </p:sp>
        <p:sp>
          <p:nvSpPr>
            <p:cNvPr id="72" name="Text 70"/>
            <p:cNvSpPr/>
            <p:nvPr/>
          </p:nvSpPr>
          <p:spPr>
            <a:xfrm>
              <a:off x="6324448" y="464185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</a:t>
              </a:r>
              <a:endParaRPr lang="en-US" sz="1000" dirty="0"/>
            </a:p>
          </p:txBody>
        </p:sp>
        <p:sp>
          <p:nvSpPr>
            <p:cNvPr id="73" name="Text 71"/>
            <p:cNvSpPr/>
            <p:nvPr/>
          </p:nvSpPr>
          <p:spPr>
            <a:xfrm>
              <a:off x="7019773" y="456057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1000" dirty="0"/>
            </a:p>
          </p:txBody>
        </p:sp>
        <p:sp>
          <p:nvSpPr>
            <p:cNvPr id="74" name="Text 72"/>
            <p:cNvSpPr/>
            <p:nvPr/>
          </p:nvSpPr>
          <p:spPr>
            <a:xfrm>
              <a:off x="7715098" y="407289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</a:t>
              </a:r>
              <a:endParaRPr lang="en-US" sz="10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8410423" y="326009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</a:t>
              </a:r>
              <a:endParaRPr lang="en-US" sz="1000" dirty="0"/>
            </a:p>
          </p:txBody>
        </p:sp>
        <p:sp>
          <p:nvSpPr>
            <p:cNvPr id="76" name="Text 74"/>
            <p:cNvSpPr/>
            <p:nvPr/>
          </p:nvSpPr>
          <p:spPr>
            <a:xfrm>
              <a:off x="8884768" y="195961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PowerChart" descr="Gantt chart. 10 data series: Start, End, Milestone, After and 6 more. 5 categories: Phase 1 — Discovery, &gt; Interviews | Anna | 12 done, &gt; Synthesis | Ben, Phase 2 — Delivery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84600"/>
            <a:chOff x="3047848" y="1524000"/>
            <a:chExt cx="6096000" cy="37846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Gantt — sections, owners, remarks, deps, today, holiday, bracket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915192" y="1993900"/>
              <a:ext cx="874649" cy="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4915192" y="1993900"/>
              <a:ext cx="0" cy="4445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5789841" y="1993900"/>
              <a:ext cx="0" cy="4445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4915192" y="1822450"/>
              <a:ext cx="874649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Sprint 1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5539941" y="2247900"/>
              <a:ext cx="62475" cy="2882900"/>
            </a:xfrm>
            <a:prstGeom prst="rect">
              <a:avLst/>
            </a:prstGeom>
            <a:solidFill>
              <a:srgbClr val="EFE7E7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4790242" y="2247900"/>
              <a:ext cx="124950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5227567" y="2247900"/>
              <a:ext cx="124950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5664891" y="2247900"/>
              <a:ext cx="124950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6102216" y="2247900"/>
              <a:ext cx="124950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6539540" y="2247900"/>
              <a:ext cx="124950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6976865" y="2247900"/>
              <a:ext cx="124950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7414189" y="2247900"/>
              <a:ext cx="124950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7851514" y="2247900"/>
              <a:ext cx="124950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4477868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173068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29 Dec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915192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610392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 Jan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352517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5047717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 Jan</a:t>
              </a:r>
              <a:endParaRPr lang="en-US" sz="9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5789841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5485041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 Jan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227166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5922366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 Jan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664490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6359690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 Feb</a:t>
              </a:r>
              <a:endParaRPr lang="en-US" sz="9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101815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6797015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 Feb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539139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234339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 Feb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976464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7671664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23 Feb</a:t>
              </a:r>
              <a:endParaRPr lang="en-US" sz="9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3047848" y="2260600"/>
              <a:ext cx="6096000" cy="55118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3047848" y="2440940"/>
              <a:ext cx="609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Phase 1 — Discovery</a:t>
              </a:r>
              <a:endParaRPr lang="en-US" sz="10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3174848" y="3017520"/>
              <a:ext cx="12268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Interviews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052664" y="3017520"/>
              <a:ext cx="3505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Anna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453984" y="3023870"/>
              <a:ext cx="53365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 done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4477868" y="2824480"/>
              <a:ext cx="3498596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4915192" y="3210560"/>
              <a:ext cx="937124" cy="71120"/>
            </a:xfrm>
            <a:prstGeom prst="rect">
              <a:avLst/>
            </a:prstGeom>
            <a:solidFill>
              <a:srgbClr val="CFCDC5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4915192" y="3023870"/>
              <a:ext cx="1124549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4915192" y="3023870"/>
              <a:ext cx="1124549" cy="177800"/>
            </a:xfrm>
            <a:prstGeom prst="rect">
              <a:avLst/>
            </a:prstGeom>
            <a:solidFill>
              <a:srgbClr val="2262B1"/>
            </a:solidFill>
            <a:ln/>
          </p:spPr>
        </p:sp>
        <p:sp>
          <p:nvSpPr>
            <p:cNvPr id="43" name="Text 41"/>
            <p:cNvSpPr/>
            <p:nvPr/>
          </p:nvSpPr>
          <p:spPr>
            <a:xfrm>
              <a:off x="4915192" y="3023870"/>
              <a:ext cx="1124549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 Jan–23 Jan</a:t>
              </a:r>
              <a:endParaRPr lang="en-US" sz="9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3174848" y="3594100"/>
              <a:ext cx="12268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Synthesis</a:t>
              </a:r>
              <a:endParaRPr lang="en-US" sz="10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8052664" y="3594100"/>
              <a:ext cx="3505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Ben</a:t>
              </a:r>
              <a:endParaRPr lang="en-US" sz="10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4477868" y="3401060"/>
              <a:ext cx="3498596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5539941" y="3787140"/>
              <a:ext cx="749699" cy="71120"/>
            </a:xfrm>
            <a:prstGeom prst="rect">
              <a:avLst/>
            </a:prstGeom>
            <a:solidFill>
              <a:srgbClr val="CFCDC5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5789841" y="3600450"/>
              <a:ext cx="687224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5789841" y="3600450"/>
              <a:ext cx="412335" cy="177800"/>
            </a:xfrm>
            <a:prstGeom prst="rect">
              <a:avLst/>
            </a:prstGeom>
            <a:solidFill>
              <a:srgbClr val="2262B1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6397055" y="3609340"/>
              <a:ext cx="160020" cy="160020"/>
            </a:xfrm>
            <a:prstGeom prst="ellipse">
              <a:avLst/>
            </a:prstGeom>
            <a:solidFill>
              <a:srgbClr val="0B0B0B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3047848" y="3990340"/>
              <a:ext cx="6096000" cy="55118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52" name="Text 50"/>
            <p:cNvSpPr/>
            <p:nvPr/>
          </p:nvSpPr>
          <p:spPr>
            <a:xfrm>
              <a:off x="3047848" y="4170680"/>
              <a:ext cx="609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Phase 2 — Delivery</a:t>
              </a:r>
              <a:endParaRPr lang="en-US" sz="10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3174848" y="4747260"/>
              <a:ext cx="12268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Build</a:t>
              </a:r>
              <a:endParaRPr lang="en-US" sz="10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8052664" y="4747260"/>
              <a:ext cx="3505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Cato</a:t>
              </a:r>
              <a:endParaRPr lang="en-US" sz="10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8453984" y="4753610"/>
              <a:ext cx="53365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at risk</a:t>
              </a:r>
              <a:endParaRPr lang="en-US" sz="9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4477868" y="4554220"/>
              <a:ext cx="3498596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57" name="Shape 55"/>
            <p:cNvSpPr/>
            <p:nvPr/>
          </p:nvSpPr>
          <p:spPr>
            <a:xfrm>
              <a:off x="5977266" y="4940300"/>
              <a:ext cx="1311974" cy="71120"/>
            </a:xfrm>
            <a:prstGeom prst="rect">
              <a:avLst/>
            </a:prstGeom>
            <a:solidFill>
              <a:srgbClr val="CFCDC5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6227166" y="4753610"/>
              <a:ext cx="1561873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6227166" y="4753610"/>
              <a:ext cx="312375" cy="177800"/>
            </a:xfrm>
            <a:prstGeom prst="rect">
              <a:avLst/>
            </a:prstGeom>
            <a:solidFill>
              <a:srgbClr val="2262B1"/>
            </a:solidFill>
            <a:ln/>
          </p:spPr>
        </p:sp>
        <p:sp>
          <p:nvSpPr>
            <p:cNvPr id="60" name="Text 58"/>
            <p:cNvSpPr/>
            <p:nvPr/>
          </p:nvSpPr>
          <p:spPr>
            <a:xfrm>
              <a:off x="6227166" y="4753610"/>
              <a:ext cx="156187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 Jan–20 Feb</a:t>
              </a:r>
              <a:endParaRPr lang="en-US" sz="9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7709029" y="4762500"/>
              <a:ext cx="160020" cy="160020"/>
            </a:xfrm>
            <a:prstGeom prst="ellipse">
              <a:avLst/>
            </a:prstGeom>
            <a:solidFill>
              <a:srgbClr val="0B0B0B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6039741" y="3112770"/>
              <a:ext cx="0" cy="57658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3" name="Shape 61"/>
            <p:cNvSpPr/>
            <p:nvPr/>
          </p:nvSpPr>
          <p:spPr>
            <a:xfrm>
              <a:off x="5764441" y="3689350"/>
              <a:ext cx="2753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4" name="Shape 62"/>
            <p:cNvSpPr/>
            <p:nvPr/>
          </p:nvSpPr>
          <p:spPr>
            <a:xfrm rot="16200000">
              <a:off x="5777141" y="3644900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6477065" y="3689350"/>
              <a:ext cx="0" cy="115316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6" name="Shape 64"/>
            <p:cNvSpPr/>
            <p:nvPr/>
          </p:nvSpPr>
          <p:spPr>
            <a:xfrm>
              <a:off x="6201766" y="4842510"/>
              <a:ext cx="2753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7" name="Shape 65"/>
            <p:cNvSpPr/>
            <p:nvPr/>
          </p:nvSpPr>
          <p:spPr>
            <a:xfrm rot="16200000">
              <a:off x="6214466" y="4798060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6664490" y="2247900"/>
              <a:ext cx="0" cy="2882900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69" name="Text 67"/>
            <p:cNvSpPr/>
            <p:nvPr/>
          </p:nvSpPr>
          <p:spPr>
            <a:xfrm>
              <a:off x="6359690" y="5143500"/>
              <a:ext cx="6096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E3494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Today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PowerChart" descr="stacked column chart. 3 data series: Enterprise, SMB, Consumer. 4 categories: 2022, 2023, 2024, 2025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Manual label nudge (labelOffsets)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686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40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9594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89148" y="4411641"/>
              <a:ext cx="863600" cy="69375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38348" y="4663271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89148" y="3962739"/>
              <a:ext cx="863600" cy="44890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38348" y="40919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89148" y="3595455"/>
              <a:ext cx="863600" cy="36728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238348" y="368384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73248" y="3411305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84548" y="4289213"/>
              <a:ext cx="863600" cy="81618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533748" y="460205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84548" y="3758692"/>
              <a:ext cx="863600" cy="53052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533748" y="3928703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84548" y="3411813"/>
              <a:ext cx="863600" cy="34687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533748" y="349000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368648" y="322766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879948" y="4146381"/>
              <a:ext cx="863600" cy="95901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29148" y="45306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879948" y="3513836"/>
              <a:ext cx="863600" cy="63254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829148" y="3734858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879948" y="3126147"/>
              <a:ext cx="863600" cy="38768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829148" y="322474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664048" y="2941997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175348" y="3962739"/>
              <a:ext cx="863600" cy="1142661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7124548" y="4438819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175348" y="3248575"/>
              <a:ext cx="863600" cy="71416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124548" y="351040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175348" y="2799673"/>
              <a:ext cx="863600" cy="44890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7124548" y="2928874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959448" y="253932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113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073248" y="51054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8305648" y="2938399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305648" y="3519932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305648" y="4448344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PowerChart" descr="stacked column chart. 3 data series: Enterprise, SMB, Consumer. 4 categories: 2022, 2023, 2024, 2025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03650"/>
            <a:chOff x="3047848" y="1524000"/>
            <a:chExt cx="6096000" cy="38036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Connector lines + footnote (source line)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49784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68648" y="49784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4048" y="49784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959448" y="49784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89148" y="4283964"/>
              <a:ext cx="863600" cy="656336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38348" y="451688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89148" y="3859276"/>
              <a:ext cx="863600" cy="424688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38348" y="397637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89148" y="3511804"/>
              <a:ext cx="863600" cy="347472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238348" y="359029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73248" y="3327654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84548" y="4168140"/>
              <a:ext cx="863600" cy="77216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533748" y="445897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84548" y="3666236"/>
              <a:ext cx="863600" cy="501904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533748" y="3821938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84548" y="3338068"/>
              <a:ext cx="863600" cy="328168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533748" y="340690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368648" y="3153918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879948" y="4033012"/>
              <a:ext cx="863600" cy="907288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29148" y="4391406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879948" y="3434588"/>
              <a:ext cx="863600" cy="598424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829148" y="363855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879948" y="3067812"/>
              <a:ext cx="863600" cy="366776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829148" y="315595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664048" y="2883662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175348" y="3859276"/>
              <a:ext cx="863600" cy="1081024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7124548" y="4304538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175348" y="3183636"/>
              <a:ext cx="863600" cy="67564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124548" y="3426206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175348" y="2758948"/>
              <a:ext cx="863600" cy="424688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7124548" y="287604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959448" y="2574798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113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 flipV="1">
              <a:off x="4152748" y="4168140"/>
              <a:ext cx="431800" cy="115824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 flipV="1">
              <a:off x="4152748" y="3666236"/>
              <a:ext cx="431800" cy="19304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 flipV="1">
              <a:off x="4152748" y="3338068"/>
              <a:ext cx="431800" cy="173736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 flipV="1">
              <a:off x="5448148" y="4033012"/>
              <a:ext cx="431800" cy="135128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 flipV="1">
              <a:off x="5448148" y="3434588"/>
              <a:ext cx="431800" cy="231648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 flipV="1">
              <a:off x="5448148" y="3067812"/>
              <a:ext cx="431800" cy="270256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 flipV="1">
              <a:off x="6743548" y="3859276"/>
              <a:ext cx="431800" cy="173736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 flipV="1">
              <a:off x="6743548" y="3183636"/>
              <a:ext cx="431800" cy="250952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 flipV="1">
              <a:off x="6743548" y="2758948"/>
              <a:ext cx="431800" cy="308864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3073248" y="49403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8305648" y="2885567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8305648" y="3435731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8305648" y="4314063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3073248" y="5187950"/>
              <a:ext cx="6045200" cy="139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Source: Statistics Denmark, 2024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PowerChart" descr="stacked column chart. 2 data series: Base, New. 4 categories: 2021, 2022, 2023, 2024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Point highlight + speech-bubble callout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7151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86978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26805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306293" y="3505200"/>
              <a:ext cx="932180" cy="160020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55493" y="4210050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306293" y="3185160"/>
              <a:ext cx="932180" cy="32004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55493" y="3249930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704563" y="3345180"/>
              <a:ext cx="932180" cy="17602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653763" y="4130040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44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704563" y="2945130"/>
              <a:ext cx="932180" cy="40005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653763" y="3049905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102833" y="3225165"/>
              <a:ext cx="932180" cy="1880235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052033" y="4070033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102833" y="2385060"/>
              <a:ext cx="932180" cy="840105"/>
            </a:xfrm>
            <a:prstGeom prst="rect">
              <a:avLst/>
            </a:prstGeom>
            <a:solidFill>
              <a:srgbClr val="E34948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052033" y="2709863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21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501103" y="3025140"/>
              <a:ext cx="932180" cy="208026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7450303" y="3970020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7501103" y="2465070"/>
              <a:ext cx="932180" cy="56007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7450303" y="2649855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 flipV="1">
              <a:off x="4238473" y="3345180"/>
              <a:ext cx="466090" cy="16002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 flipV="1">
              <a:off x="4238473" y="2945130"/>
              <a:ext cx="466090" cy="24003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 flipV="1">
              <a:off x="5636743" y="3225165"/>
              <a:ext cx="466090" cy="120015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 flipV="1">
              <a:off x="5636743" y="2385060"/>
              <a:ext cx="466090" cy="56007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 flipV="1">
              <a:off x="7035013" y="3025140"/>
              <a:ext cx="466090" cy="200025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7035013" y="2385060"/>
              <a:ext cx="466090" cy="8001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3073248" y="5105400"/>
              <a:ext cx="55930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8717128" y="2659380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New</a:t>
              </a:r>
              <a:endParaRPr lang="en-US" sz="1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8717128" y="3979545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Base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 flipV="1">
              <a:off x="6568923" y="1959610"/>
              <a:ext cx="381000" cy="400050"/>
            </a:xfrm>
            <a:prstGeom prst="line">
              <a:avLst/>
            </a:prstGeom>
            <a:noFill/>
            <a:ln w="9525">
              <a:solidFill>
                <a:srgbClr val="0B0B0B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6427953" y="1731010"/>
              <a:ext cx="1043940" cy="241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6427953" y="1731010"/>
              <a:ext cx="1043940" cy="241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One-off boost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PowerChart" descr="clustered column chart. 1 data series: Margin. 4 categories: Q1, Q2, Q3, Q4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Shape 0"/>
            <p:cNvSpPr/>
            <p:nvPr/>
          </p:nvSpPr>
          <p:spPr>
            <a:xfrm>
              <a:off x="3479648" y="2438400"/>
              <a:ext cx="5613400" cy="533400"/>
            </a:xfrm>
            <a:prstGeom prst="rect">
              <a:avLst/>
            </a:prstGeom>
            <a:solidFill>
              <a:srgbClr val="F2F1EC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3517748" y="2451100"/>
              <a:ext cx="55372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Target range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Background band (target range) + line highlight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4796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8829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2863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6896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719889" y="3078480"/>
              <a:ext cx="922867" cy="20269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3669089" y="3996690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123239" y="2705100"/>
              <a:ext cx="922867" cy="2400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5072439" y="3810000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526589" y="2331720"/>
              <a:ext cx="922867" cy="277368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475789" y="3623310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929939" y="2491740"/>
              <a:ext cx="922867" cy="261366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7879139" y="3703320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49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owerChart" descr="scatter plot. 2 data series: X, Y. 5 categories: A, B, C, D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99200" cy="3810000"/>
            <a:chOff x="3047848" y="1524000"/>
            <a:chExt cx="62992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Scatter background bands (quadrant regions)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6956273" y="1879600"/>
              <a:ext cx="2085975" cy="3251200"/>
            </a:xfrm>
            <a:prstGeom prst="rect">
              <a:avLst/>
            </a:prstGeom>
            <a:solidFill>
              <a:srgbClr val="E8F0E4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6994373" y="1892300"/>
              <a:ext cx="2009775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Focus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4047067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3958167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79648" y="2963333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2874433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79648" y="18796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47848" y="1790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205709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479648" y="18796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484535" y="509270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527523" y="373803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570510" y="427990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7613498" y="292523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8656485" y="2383367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4586135" y="504825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629123" y="3693583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672110" y="423545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</a:t>
              </a:r>
              <a:endParaRPr lang="en-US" sz="10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715098" y="2880783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758085" y="2338917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PowerChart" descr="pie chart. 1 data series: Revenue. 4 categories: Retail, Online, Wholesale, Other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03650"/>
            <a:chOff x="3047848" y="1524000"/>
            <a:chExt cx="6096000" cy="38036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Exploding slice + slice color + 100% = note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796449" y="2186752"/>
              <a:ext cx="2598796" cy="2598796"/>
            </a:xfrm>
            <a:custGeom>
              <a:avLst/>
              <a:gdLst/>
              <a:ahLst/>
              <a:cxnLst/>
              <a:rect l="l" t="t" r="r" b="b"/>
              <a:pathLst>
                <a:path w="2598796" h="2598796">
                  <a:moveTo>
                    <a:pt x="1299398" y="0"/>
                  </a:moveTo>
                  <a:lnTo>
                    <a:pt x="1433289" y="6916"/>
                  </a:lnTo>
                  <a:lnTo>
                    <a:pt x="1565754" y="27592"/>
                  </a:lnTo>
                  <a:lnTo>
                    <a:pt x="1695384" y="61807"/>
                  </a:lnTo>
                  <a:lnTo>
                    <a:pt x="1820798" y="109198"/>
                  </a:lnTo>
                  <a:lnTo>
                    <a:pt x="1940662" y="169258"/>
                  </a:lnTo>
                  <a:lnTo>
                    <a:pt x="2053699" y="241350"/>
                  </a:lnTo>
                  <a:lnTo>
                    <a:pt x="2158706" y="324705"/>
                  </a:lnTo>
                  <a:lnTo>
                    <a:pt x="2254564" y="418437"/>
                  </a:lnTo>
                  <a:lnTo>
                    <a:pt x="2340255" y="521547"/>
                  </a:lnTo>
                  <a:lnTo>
                    <a:pt x="2414865" y="632938"/>
                  </a:lnTo>
                  <a:lnTo>
                    <a:pt x="2477600" y="751424"/>
                  </a:lnTo>
                  <a:lnTo>
                    <a:pt x="2527792" y="875743"/>
                  </a:lnTo>
                  <a:lnTo>
                    <a:pt x="2564907" y="1004572"/>
                  </a:lnTo>
                  <a:lnTo>
                    <a:pt x="2588550" y="1136540"/>
                  </a:lnTo>
                  <a:lnTo>
                    <a:pt x="2598469" y="1270242"/>
                  </a:lnTo>
                  <a:lnTo>
                    <a:pt x="2594559" y="1404254"/>
                  </a:lnTo>
                  <a:lnTo>
                    <a:pt x="2576860" y="1537150"/>
                  </a:lnTo>
                  <a:lnTo>
                    <a:pt x="2545562" y="1667515"/>
                  </a:lnTo>
                  <a:lnTo>
                    <a:pt x="2500998" y="1793961"/>
                  </a:lnTo>
                  <a:lnTo>
                    <a:pt x="2443642" y="1915142"/>
                  </a:lnTo>
                  <a:lnTo>
                    <a:pt x="2374105" y="2029768"/>
                  </a:lnTo>
                  <a:lnTo>
                    <a:pt x="2293127" y="2136619"/>
                  </a:lnTo>
                  <a:lnTo>
                    <a:pt x="2201570" y="2234557"/>
                  </a:lnTo>
                  <a:lnTo>
                    <a:pt x="2100408" y="2322539"/>
                  </a:lnTo>
                  <a:lnTo>
                    <a:pt x="1990720" y="2399630"/>
                  </a:lnTo>
                  <a:lnTo>
                    <a:pt x="1873671" y="2465008"/>
                  </a:lnTo>
                  <a:lnTo>
                    <a:pt x="1750510" y="2517977"/>
                  </a:lnTo>
                  <a:lnTo>
                    <a:pt x="1622545" y="2557973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543967" y="3294691"/>
              <a:ext cx="702310" cy="1809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Retail 46%</a:t>
              </a:r>
              <a:endParaRPr lang="en-US" sz="9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735348" y="2270851"/>
              <a:ext cx="2598796" cy="2598796"/>
            </a:xfrm>
            <a:custGeom>
              <a:avLst/>
              <a:gdLst/>
              <a:ahLst/>
              <a:cxnLst/>
              <a:rect l="l" t="t" r="r" b="b"/>
              <a:pathLst>
                <a:path w="2598796" h="2598796">
                  <a:moveTo>
                    <a:pt x="1622545" y="2557973"/>
                  </a:moveTo>
                  <a:lnTo>
                    <a:pt x="1490802" y="2584622"/>
                  </a:lnTo>
                  <a:lnTo>
                    <a:pt x="1357010" y="2597518"/>
                  </a:lnTo>
                  <a:lnTo>
                    <a:pt x="1222602" y="2596525"/>
                  </a:lnTo>
                  <a:lnTo>
                    <a:pt x="1089015" y="2581652"/>
                  </a:lnTo>
                  <a:lnTo>
                    <a:pt x="957680" y="2553059"/>
                  </a:lnTo>
                  <a:lnTo>
                    <a:pt x="830001" y="2511051"/>
                  </a:lnTo>
                  <a:lnTo>
                    <a:pt x="707345" y="2456078"/>
                  </a:lnTo>
                  <a:lnTo>
                    <a:pt x="591024" y="2388729"/>
                  </a:lnTo>
                  <a:lnTo>
                    <a:pt x="482283" y="2309724"/>
                  </a:lnTo>
                  <a:lnTo>
                    <a:pt x="382284" y="2219908"/>
                  </a:lnTo>
                  <a:lnTo>
                    <a:pt x="292100" y="2120242"/>
                  </a:lnTo>
                  <a:lnTo>
                    <a:pt x="212693" y="2011794"/>
                  </a:lnTo>
                  <a:lnTo>
                    <a:pt x="144914" y="1895722"/>
                  </a:lnTo>
                  <a:lnTo>
                    <a:pt x="89489" y="1773270"/>
                  </a:lnTo>
                  <a:lnTo>
                    <a:pt x="47009" y="1645747"/>
                  </a:lnTo>
                  <a:lnTo>
                    <a:pt x="17931" y="1514519"/>
                  </a:lnTo>
                  <a:lnTo>
                    <a:pt x="2564" y="138098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close/>
                </a:path>
              </a:pathLst>
            </a:custGeom>
            <a:solidFill>
              <a:srgbClr val="E3494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210056" y="4131527"/>
              <a:ext cx="702310" cy="1809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Online 28%</a:t>
              </a:r>
              <a:endParaRPr lang="en-US" sz="9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796449" y="2186752"/>
              <a:ext cx="2598796" cy="2598796"/>
            </a:xfrm>
            <a:custGeom>
              <a:avLst/>
              <a:gdLst/>
              <a:ahLst/>
              <a:cxnLst/>
              <a:rect l="l" t="t" r="r" b="b"/>
              <a:pathLst>
                <a:path w="2598796" h="2598796">
                  <a:moveTo>
                    <a:pt x="2564" y="1380988"/>
                  </a:moveTo>
                  <a:lnTo>
                    <a:pt x="1039" y="1247457"/>
                  </a:lnTo>
                  <a:lnTo>
                    <a:pt x="13226" y="1114475"/>
                  </a:lnTo>
                  <a:lnTo>
                    <a:pt x="38998" y="983445"/>
                  </a:lnTo>
                  <a:lnTo>
                    <a:pt x="78081" y="855753"/>
                  </a:lnTo>
                  <a:lnTo>
                    <a:pt x="130065" y="732746"/>
                  </a:lnTo>
                  <a:lnTo>
                    <a:pt x="194398" y="615724"/>
                  </a:lnTo>
                  <a:lnTo>
                    <a:pt x="270402" y="505923"/>
                  </a:lnTo>
                  <a:lnTo>
                    <a:pt x="357274" y="404503"/>
                  </a:lnTo>
                  <a:lnTo>
                    <a:pt x="454096" y="312534"/>
                  </a:lnTo>
                  <a:lnTo>
                    <a:pt x="559847" y="230988"/>
                  </a:lnTo>
                  <a:lnTo>
                    <a:pt x="673408" y="160727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940990" y="3007549"/>
              <a:ext cx="897763" cy="1809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Wholesale 18%</a:t>
              </a:r>
              <a:endParaRPr lang="en-US" sz="9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796449" y="2186752"/>
              <a:ext cx="2598796" cy="2598796"/>
            </a:xfrm>
            <a:custGeom>
              <a:avLst/>
              <a:gdLst/>
              <a:ahLst/>
              <a:cxnLst/>
              <a:rect l="l" t="t" r="r" b="b"/>
              <a:pathLst>
                <a:path w="2598796" h="2598796">
                  <a:moveTo>
                    <a:pt x="673408" y="160727"/>
                  </a:moveTo>
                  <a:lnTo>
                    <a:pt x="790848" y="103651"/>
                  </a:lnTo>
                  <a:lnTo>
                    <a:pt x="913423" y="58649"/>
                  </a:lnTo>
                  <a:lnTo>
                    <a:pt x="1039895" y="26176"/>
                  </a:lnTo>
                  <a:lnTo>
                    <a:pt x="1168988" y="6561"/>
                  </a:lnTo>
                  <a:lnTo>
                    <a:pt x="1299398" y="0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lnTo>
                    <a:pt x="1299398" y="1299398"/>
                  </a:lnTo>
                  <a:close/>
                </a:path>
              </a:pathLst>
            </a:cu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5752171" y="2147618"/>
              <a:ext cx="17371" cy="67656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147994" y="2033917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Other 8%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073248" y="5187950"/>
              <a:ext cx="6045200" cy="139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100% = 100   ·   Source: annual report FY24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PowerChart" descr="stacked column chart. 3 data series: Base, Plan, Risk. 3 categories: 2022, 2023, 2024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Pattern fills (SVG/preview; solid in PPT)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864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937608" y="5143500"/>
              <a:ext cx="1864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801968" y="5143500"/>
              <a:ext cx="1864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383974" y="3505200"/>
              <a:ext cx="1242907" cy="160020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333174" y="421005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383974" y="3105150"/>
              <a:ext cx="1242907" cy="40005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333174" y="3209925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383974" y="2865120"/>
              <a:ext cx="1242907" cy="24003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333174" y="2889885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248334" y="3345180"/>
              <a:ext cx="1242907" cy="17602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197534" y="413004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248334" y="2785110"/>
              <a:ext cx="1242907" cy="56007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5197534" y="2969895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248334" y="2465070"/>
              <a:ext cx="1242907" cy="32004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197534" y="252984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112694" y="3105150"/>
              <a:ext cx="1242907" cy="200025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7061894" y="4010025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112694" y="2465070"/>
              <a:ext cx="1242907" cy="64008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7061894" y="268986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112694" y="2105025"/>
              <a:ext cx="1242907" cy="360045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061894" y="2189798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 flipV="1">
              <a:off x="4626881" y="3345180"/>
              <a:ext cx="621453" cy="16002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 flipV="1">
              <a:off x="4626881" y="2785110"/>
              <a:ext cx="621453" cy="32004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 flipV="1">
              <a:off x="4626881" y="2465070"/>
              <a:ext cx="621453" cy="40005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 flipV="1">
              <a:off x="6491241" y="3105150"/>
              <a:ext cx="621453" cy="24003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 flipV="1">
              <a:off x="6491241" y="2465070"/>
              <a:ext cx="621453" cy="32004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 flipV="1">
              <a:off x="6491241" y="2105025"/>
              <a:ext cx="621453" cy="360045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3073248" y="5105400"/>
              <a:ext cx="55930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8717128" y="2199323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Risk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717128" y="2699385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Plan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717128" y="4019550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Base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PowerChart" descr="box-and-whisker plot. 3 categories: North, South, East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Boxplot from raw samples (Tukey whiskers, outliers)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479648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350781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221914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415214" y="3398520"/>
              <a:ext cx="0" cy="1066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4415214" y="403860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4183662" y="339852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183662" y="425196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3900653" y="3505200"/>
              <a:ext cx="1029123" cy="53340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3900653" y="3825240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339014" y="3522980"/>
              <a:ext cx="152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8987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×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387274" y="1877060"/>
              <a:ext cx="55880" cy="55880"/>
            </a:xfrm>
            <a:prstGeom prst="ellipse">
              <a:avLst/>
            </a:prstGeom>
            <a:solidFill>
              <a:srgbClr val="2A78D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3900653" y="3644509"/>
              <a:ext cx="1029123" cy="1566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54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</a:t>
              </a:r>
              <a:endParaRPr lang="en-US" sz="854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286348" y="2545080"/>
              <a:ext cx="0" cy="1066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286348" y="3291840"/>
              <a:ext cx="0" cy="32004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054795" y="254508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054795" y="361188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771786" y="2651760"/>
              <a:ext cx="1029123" cy="64008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771786" y="2971800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6210148" y="2906607"/>
              <a:ext cx="152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8987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×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8157481" y="3611880"/>
              <a:ext cx="0" cy="1066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8157481" y="425196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7925928" y="361188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925928" y="446532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7642919" y="3718560"/>
              <a:ext cx="1029123" cy="53340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642919" y="4038600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8081281" y="3736340"/>
              <a:ext cx="152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8987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×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8129541" y="2090420"/>
              <a:ext cx="55880" cy="55880"/>
            </a:xfrm>
            <a:prstGeom prst="ellipse">
              <a:avLst/>
            </a:prstGeom>
            <a:solidFill>
              <a:srgbClr val="2A78D6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7642919" y="3857869"/>
              <a:ext cx="1029123" cy="1566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54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854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PowerChart" descr="box-and-whisker plot (horizontal). 5 data series: Min, Q1, Median, Q3 and 1 more. 4 categories: North, South, East, West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73800" cy="3810000"/>
            <a:chOff x="3047848" y="1524000"/>
            <a:chExt cx="62738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Horizontal boxplot (same shared axis, rotated)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1875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50290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8705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7120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2190750"/>
              <a:ext cx="3937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3003550"/>
              <a:ext cx="3937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3816350"/>
              <a:ext cx="3937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047848" y="4629150"/>
              <a:ext cx="3937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West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702148" y="2286000"/>
              <a:ext cx="7366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4228948" y="2286000"/>
              <a:ext cx="3683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6438748" y="21854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4228948" y="21854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597248" y="2062480"/>
              <a:ext cx="1104900" cy="44704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4965548" y="2062480"/>
              <a:ext cx="0" cy="44704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584548" y="1891030"/>
              <a:ext cx="76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807048" y="3098800"/>
              <a:ext cx="11049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597248" y="3098800"/>
              <a:ext cx="7366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7911948" y="29982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4597248" y="29982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333848" y="2875280"/>
              <a:ext cx="1473200" cy="44704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6070448" y="2875280"/>
              <a:ext cx="0" cy="44704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689448" y="2703830"/>
              <a:ext cx="76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</a:t>
              </a:r>
              <a:endParaRPr lang="en-US" sz="9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333848" y="3911600"/>
              <a:ext cx="7366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3860648" y="3911600"/>
              <a:ext cx="3683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070448" y="38110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3860648" y="38110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4228948" y="3688080"/>
              <a:ext cx="1104900" cy="44704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4597248" y="3688080"/>
              <a:ext cx="0" cy="44704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4216248" y="3516630"/>
              <a:ext cx="76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070448" y="4724400"/>
              <a:ext cx="11049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4228948" y="4724400"/>
              <a:ext cx="7366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7175348" y="46238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4228948" y="46238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4965548" y="4500880"/>
              <a:ext cx="1104900" cy="44704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5333848" y="4500880"/>
              <a:ext cx="0" cy="44704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4952848" y="4329430"/>
              <a:ext cx="76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3492348" y="18796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PowerChart" descr="box-and-whisker plot. 10 data series: Min | 2024, Q1 | 2024, Median | 2024, Q3 | 2024 and 6 more. 3 categories: North, South, East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Grouped boxplots (2024 vs 2025)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479648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350781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221914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479648" y="18478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3606648" y="1803400"/>
              <a:ext cx="3505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033368" y="18478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4160368" y="1803400"/>
              <a:ext cx="3505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087766" y="339852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087766" y="446532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3948987" y="3398520"/>
              <a:ext cx="277558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948987" y="4678680"/>
              <a:ext cx="277558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3779368" y="3825240"/>
              <a:ext cx="616797" cy="64008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779368" y="4251960"/>
              <a:ext cx="616797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5958899" y="2545080"/>
              <a:ext cx="0" cy="6400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958899" y="403860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820120" y="254508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820120" y="446532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650501" y="3185160"/>
              <a:ext cx="616797" cy="85344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5650501" y="3611880"/>
              <a:ext cx="616797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7830033" y="361188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7830033" y="467868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7691253" y="361188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691253" y="489204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7521634" y="4038600"/>
              <a:ext cx="616797" cy="64008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521634" y="4465320"/>
              <a:ext cx="616797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4742663" y="318516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4742663" y="425196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4603883" y="318516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4603883" y="446532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4434264" y="3611880"/>
              <a:ext cx="616797" cy="640080"/>
            </a:xfrm>
            <a:prstGeom prst="rect">
              <a:avLst/>
            </a:prstGeom>
            <a:solidFill>
              <a:srgbClr val="E5F0EA"/>
            </a:solidFill>
            <a:ln w="12700">
              <a:solidFill>
                <a:srgbClr val="1BAF7A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4434264" y="4038600"/>
              <a:ext cx="616797" cy="0"/>
            </a:xfrm>
            <a:prstGeom prst="line">
              <a:avLst/>
            </a:prstGeom>
            <a:noFill/>
            <a:ln w="22225">
              <a:solidFill>
                <a:srgbClr val="1BAF7A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6613796" y="2331720"/>
              <a:ext cx="0" cy="6400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6613796" y="382524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6475017" y="233172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6475017" y="425196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6305398" y="2971800"/>
              <a:ext cx="616797" cy="853440"/>
            </a:xfrm>
            <a:prstGeom prst="rect">
              <a:avLst/>
            </a:prstGeom>
            <a:solidFill>
              <a:srgbClr val="E5F0EA"/>
            </a:solidFill>
            <a:ln w="12700">
              <a:solidFill>
                <a:srgbClr val="1BAF7A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6305398" y="3398520"/>
              <a:ext cx="616797" cy="0"/>
            </a:xfrm>
            <a:prstGeom prst="line">
              <a:avLst/>
            </a:prstGeom>
            <a:noFill/>
            <a:ln w="22225">
              <a:solidFill>
                <a:srgbClr val="1BAF7A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8484929" y="339852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8484929" y="446532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8346150" y="339852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8346150" y="467868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8" name="Shape 46"/>
            <p:cNvSpPr/>
            <p:nvPr/>
          </p:nvSpPr>
          <p:spPr>
            <a:xfrm>
              <a:off x="8176531" y="3825240"/>
              <a:ext cx="616797" cy="640080"/>
            </a:xfrm>
            <a:prstGeom prst="rect">
              <a:avLst/>
            </a:prstGeom>
            <a:solidFill>
              <a:srgbClr val="E5F0EA"/>
            </a:solidFill>
            <a:ln w="12700">
              <a:solidFill>
                <a:srgbClr val="1BAF7A"/>
              </a:solidFill>
              <a:prstDash val="solid"/>
            </a:ln>
          </p:spPr>
        </p:sp>
        <p:sp>
          <p:nvSpPr>
            <p:cNvPr id="49" name="Shape 47"/>
            <p:cNvSpPr/>
            <p:nvPr/>
          </p:nvSpPr>
          <p:spPr>
            <a:xfrm>
              <a:off x="8176531" y="4251960"/>
              <a:ext cx="616797" cy="0"/>
            </a:xfrm>
            <a:prstGeom prst="line">
              <a:avLst/>
            </a:prstGeom>
            <a:noFill/>
            <a:ln w="22225">
              <a:solidFill>
                <a:srgbClr val="1BAF7A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owerChart" descr="clustered column chart. 1 data series: Result. 4 categories: Trial 1, Trial 2, Trial 3, Trial 4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Error bars (Error / Error+ / Error- rows)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43764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27762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4796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Trial 1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8829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Trial 2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2863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Trial 3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6896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Trial 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719889" y="3121152"/>
              <a:ext cx="922867" cy="134416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669089" y="3697986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123239" y="2705100"/>
              <a:ext cx="922867" cy="17602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5072439" y="3489960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526589" y="2929128"/>
              <a:ext cx="922867" cy="153619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6475789" y="3601974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929939" y="2513076"/>
              <a:ext cx="922867" cy="195224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7879139" y="3393948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79648" y="446532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4181323" y="2961132"/>
              <a:ext cx="0" cy="32004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117823" y="2961132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117823" y="3281172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584673" y="2481072"/>
              <a:ext cx="0" cy="448056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521173" y="2481072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521173" y="2929128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6988023" y="2641092"/>
              <a:ext cx="0" cy="384048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6924523" y="2641092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924523" y="3025140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8391373" y="2385060"/>
              <a:ext cx="0" cy="384048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8327873" y="2385060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8327873" y="2769108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PowerChart" descr="clustered column chart. 1 data series: Actual. 4 categories: North, South, East, West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Shape 0"/>
            <p:cNvSpPr/>
            <p:nvPr/>
          </p:nvSpPr>
          <p:spPr>
            <a:xfrm>
              <a:off x="3073248" y="3705225"/>
              <a:ext cx="6019800" cy="1400175"/>
            </a:xfrm>
            <a:prstGeom prst="rect">
              <a:avLst/>
            </a:prstGeom>
            <a:solidFill>
              <a:srgbClr val="E4E2DA"/>
            </a:solidFill>
            <a:ln/>
          </p:spPr>
        </p:sp>
        <p:sp>
          <p:nvSpPr>
            <p:cNvPr id="3" name="Shape 1"/>
            <p:cNvSpPr/>
            <p:nvPr/>
          </p:nvSpPr>
          <p:spPr>
            <a:xfrm>
              <a:off x="3073248" y="2905125"/>
              <a:ext cx="6019800" cy="800100"/>
            </a:xfrm>
            <a:prstGeom prst="rect">
              <a:avLst/>
            </a:prstGeom>
            <a:solidFill>
              <a:srgbClr val="EFEEE8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Bullet chart (Target row + range bands)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73248" y="5143500"/>
              <a:ext cx="15049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578198" y="5143500"/>
              <a:ext cx="15049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083148" y="5143500"/>
              <a:ext cx="15049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588098" y="5143500"/>
              <a:ext cx="15049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West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330423" y="3425190"/>
              <a:ext cx="990600" cy="168021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279623" y="4170045"/>
              <a:ext cx="1092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835373" y="2905125"/>
              <a:ext cx="990600" cy="220027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4784573" y="3910013"/>
              <a:ext cx="1092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340323" y="3185160"/>
              <a:ext cx="990600" cy="192024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6289523" y="4050030"/>
              <a:ext cx="1092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845273" y="2665095"/>
              <a:ext cx="990600" cy="244030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7794473" y="3789998"/>
              <a:ext cx="1092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073248" y="5105400"/>
              <a:ext cx="6019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3495523" y="3105150"/>
              <a:ext cx="660400" cy="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5000473" y="3105150"/>
              <a:ext cx="660400" cy="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505423" y="2905125"/>
              <a:ext cx="660400" cy="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8010373" y="2785110"/>
              <a:ext cx="660400" cy="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PowerChart" descr="combination chart. 3 data series: Actual, Plan, Margin %. 3 categories: 2023, 2024, 2025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Combo: clustered columns + line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8186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891888" y="5143500"/>
              <a:ext cx="18186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710528" y="5143500"/>
              <a:ext cx="18186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382704" y="2971800"/>
              <a:ext cx="593513" cy="21336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3331904" y="3943350"/>
              <a:ext cx="6951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988918" y="3078480"/>
              <a:ext cx="593513" cy="202692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3938118" y="3996690"/>
              <a:ext cx="6951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201344" y="2651760"/>
              <a:ext cx="593513" cy="245364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5150544" y="3783330"/>
              <a:ext cx="6951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46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807558" y="2545080"/>
              <a:ext cx="593513" cy="256032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5756758" y="3729990"/>
              <a:ext cx="6951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019984" y="2331720"/>
              <a:ext cx="593513" cy="277368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6969184" y="3623310"/>
              <a:ext cx="6951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7626198" y="2171700"/>
              <a:ext cx="593513" cy="29337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7575398" y="3543300"/>
              <a:ext cx="6951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073248" y="5105400"/>
              <a:ext cx="545592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8579968" y="3552825"/>
              <a:ext cx="5638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Plan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579968" y="3724275"/>
              <a:ext cx="5638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Actual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554568" y="50165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8554568" y="42164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8554568" y="26162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8554568" y="18161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952088" y="259461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3601568" y="241554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 flipV="1">
              <a:off x="3982568" y="2385060"/>
              <a:ext cx="1818640" cy="240030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5770728" y="235458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5420208" y="217551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 flipV="1">
              <a:off x="5801208" y="2065020"/>
              <a:ext cx="1818640" cy="320040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589368" y="203454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7238848" y="185547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579968" y="1967548"/>
              <a:ext cx="5638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Margin 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owerChart" descr="clustered column chart. 2 data series: 2024, 2025. 4 categories: North, South, East, West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Dumbbell range (before vs after)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7151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86978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26805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West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721583" y="3454400"/>
              <a:ext cx="101600" cy="1016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848583" y="3416300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772383" y="3025140"/>
              <a:ext cx="0" cy="480060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3721583" y="297434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848583" y="2936240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119853" y="2854325"/>
              <a:ext cx="101600" cy="1016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246853" y="2816225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170653" y="2705100"/>
              <a:ext cx="0" cy="200025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5119853" y="265430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246853" y="2616200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518123" y="3134360"/>
              <a:ext cx="101600" cy="1016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45123" y="3096260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568923" y="3185160"/>
              <a:ext cx="0" cy="120015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518123" y="3254375"/>
              <a:ext cx="101600" cy="1016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645123" y="3216275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916393" y="2614295"/>
              <a:ext cx="101600" cy="1016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8043393" y="2576195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967193" y="2305050"/>
              <a:ext cx="0" cy="360045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7916393" y="225425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8043393" y="2216150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073248" y="5105400"/>
              <a:ext cx="55930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8717128" y="2219325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717128" y="2579370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PowerChart" descr="line chart. 3 data series: Revenue, Band low, Band high. 5 categories: 2023, 2024, 2025, 2026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Forecast with confidence band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27720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48116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68512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2026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88908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2027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083148" y="3428746"/>
              <a:ext cx="73237" cy="9779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6150034" y="3403854"/>
              <a:ext cx="73237" cy="29337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6216921" y="3378962"/>
              <a:ext cx="73237" cy="48895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6283808" y="3354070"/>
              <a:ext cx="73237" cy="68453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6350694" y="3329178"/>
              <a:ext cx="73237" cy="88011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6417581" y="3304286"/>
              <a:ext cx="73237" cy="107569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6484468" y="3279394"/>
              <a:ext cx="73237" cy="127127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6551354" y="3254502"/>
              <a:ext cx="73237" cy="146685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6618241" y="3229610"/>
              <a:ext cx="73237" cy="166243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6685128" y="3204718"/>
              <a:ext cx="73237" cy="185801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6752014" y="3179826"/>
              <a:ext cx="73237" cy="205359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6818901" y="3154934"/>
              <a:ext cx="73237" cy="224917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6885788" y="3130042"/>
              <a:ext cx="73237" cy="244475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6952674" y="3105150"/>
              <a:ext cx="73237" cy="264033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7019561" y="3080258"/>
              <a:ext cx="73237" cy="283591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7086448" y="3055366"/>
              <a:ext cx="73237" cy="303149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7153334" y="3030474"/>
              <a:ext cx="73237" cy="322707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7220221" y="3005582"/>
              <a:ext cx="73237" cy="342265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7287108" y="2980944"/>
              <a:ext cx="63681" cy="361188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7344439" y="2956560"/>
              <a:ext cx="63681" cy="379476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7401770" y="2932176"/>
              <a:ext cx="63681" cy="397764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7459102" y="2907792"/>
              <a:ext cx="63681" cy="416052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7516433" y="2883408"/>
              <a:ext cx="63681" cy="434340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7573765" y="2859024"/>
              <a:ext cx="63681" cy="452628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7631096" y="2834640"/>
              <a:ext cx="63681" cy="470916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7688428" y="2810256"/>
              <a:ext cx="63681" cy="489204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7745759" y="2785872"/>
              <a:ext cx="63681" cy="507492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7803090" y="2761488"/>
              <a:ext cx="63681" cy="525780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7860422" y="2737104"/>
              <a:ext cx="63681" cy="544068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7917753" y="2712720"/>
              <a:ext cx="63681" cy="562356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7975085" y="2688336"/>
              <a:ext cx="63681" cy="580644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8032416" y="2663952"/>
              <a:ext cx="63681" cy="598932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8089748" y="2639568"/>
              <a:ext cx="63681" cy="617220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8147079" y="2615184"/>
              <a:ext cx="63681" cy="635508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8204410" y="2590800"/>
              <a:ext cx="63681" cy="653796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8261742" y="2566416"/>
              <a:ext cx="63681" cy="672084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8319073" y="2542032"/>
              <a:ext cx="63681" cy="690372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8376405" y="2517648"/>
              <a:ext cx="63681" cy="708660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8433736" y="2493264"/>
              <a:ext cx="63681" cy="726948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6685128" y="1905000"/>
              <a:ext cx="0" cy="32004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dash"/>
            </a:ln>
          </p:spPr>
        </p:sp>
        <p:sp>
          <p:nvSpPr>
            <p:cNvPr id="48" name="Shape 46"/>
            <p:cNvSpPr/>
            <p:nvPr/>
          </p:nvSpPr>
          <p:spPr>
            <a:xfrm>
              <a:off x="3644748" y="379476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3294228" y="361569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50" name="Shape 48"/>
            <p:cNvSpPr/>
            <p:nvPr/>
          </p:nvSpPr>
          <p:spPr>
            <a:xfrm flipV="1">
              <a:off x="3675228" y="3633216"/>
              <a:ext cx="1203960" cy="19202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1" name="Shape 49"/>
            <p:cNvSpPr/>
            <p:nvPr/>
          </p:nvSpPr>
          <p:spPr>
            <a:xfrm>
              <a:off x="4848708" y="3602736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2" name="Text 50"/>
            <p:cNvSpPr/>
            <p:nvPr/>
          </p:nvSpPr>
          <p:spPr>
            <a:xfrm>
              <a:off x="4498188" y="3423666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46</a:t>
              </a:r>
              <a:endParaRPr lang="en-US" sz="1000" dirty="0"/>
            </a:p>
          </p:txBody>
        </p:sp>
        <p:sp>
          <p:nvSpPr>
            <p:cNvPr id="53" name="Shape 51"/>
            <p:cNvSpPr/>
            <p:nvPr/>
          </p:nvSpPr>
          <p:spPr>
            <a:xfrm flipV="1">
              <a:off x="4879188" y="3441192"/>
              <a:ext cx="1203960" cy="19202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>
              <a:off x="6052668" y="3410712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5702148" y="3231642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56" name="Shape 54"/>
            <p:cNvSpPr/>
            <p:nvPr/>
          </p:nvSpPr>
          <p:spPr>
            <a:xfrm flipV="1">
              <a:off x="6083148" y="3185160"/>
              <a:ext cx="1203960" cy="25603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dash"/>
            </a:ln>
          </p:spPr>
        </p:sp>
        <p:sp>
          <p:nvSpPr>
            <p:cNvPr id="57" name="Shape 55"/>
            <p:cNvSpPr/>
            <p:nvPr/>
          </p:nvSpPr>
          <p:spPr>
            <a:xfrm>
              <a:off x="7256628" y="3154680"/>
              <a:ext cx="60960" cy="60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58" name="Text 56"/>
            <p:cNvSpPr/>
            <p:nvPr/>
          </p:nvSpPr>
          <p:spPr>
            <a:xfrm>
              <a:off x="6906108" y="297561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1000" dirty="0"/>
            </a:p>
          </p:txBody>
        </p:sp>
        <p:sp>
          <p:nvSpPr>
            <p:cNvPr id="59" name="Shape 57"/>
            <p:cNvSpPr/>
            <p:nvPr/>
          </p:nvSpPr>
          <p:spPr>
            <a:xfrm flipV="1">
              <a:off x="7287108" y="2897124"/>
              <a:ext cx="1203960" cy="28803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dash"/>
            </a:ln>
          </p:spPr>
        </p:sp>
        <p:sp>
          <p:nvSpPr>
            <p:cNvPr id="60" name="Shape 58"/>
            <p:cNvSpPr/>
            <p:nvPr/>
          </p:nvSpPr>
          <p:spPr>
            <a:xfrm>
              <a:off x="8460588" y="2866644"/>
              <a:ext cx="60960" cy="60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61" name="Text 59"/>
            <p:cNvSpPr/>
            <p:nvPr/>
          </p:nvSpPr>
          <p:spPr>
            <a:xfrm>
              <a:off x="8110068" y="2687574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69</a:t>
              </a:r>
              <a:endParaRPr lang="en-US" sz="1000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3073248" y="5105400"/>
              <a:ext cx="6019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PowerChart" descr="waterfall chart. 1 data series: Delta. 5 categories: FY23, Volume, Price, Cost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Budget-vs-actual bridge (gap to target)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27720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Volume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48116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Price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68512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88908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FY24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273908" y="3270504"/>
              <a:ext cx="802640" cy="183489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3197708" y="4092702"/>
              <a:ext cx="9550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86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076548" y="3270504"/>
              <a:ext cx="40132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1" name="Shape 9"/>
            <p:cNvSpPr/>
            <p:nvPr/>
          </p:nvSpPr>
          <p:spPr>
            <a:xfrm>
              <a:off x="4477868" y="2971800"/>
              <a:ext cx="802640" cy="29870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4401668" y="3025902"/>
              <a:ext cx="9550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+14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280508" y="2971800"/>
              <a:ext cx="40132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4" name="Shape 12"/>
            <p:cNvSpPr/>
            <p:nvPr/>
          </p:nvSpPr>
          <p:spPr>
            <a:xfrm>
              <a:off x="5681828" y="2779776"/>
              <a:ext cx="802640" cy="19202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5605628" y="2780538"/>
              <a:ext cx="9550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+9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484468" y="2779776"/>
              <a:ext cx="40132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7" name="Shape 15"/>
            <p:cNvSpPr/>
            <p:nvPr/>
          </p:nvSpPr>
          <p:spPr>
            <a:xfrm>
              <a:off x="6885788" y="2779776"/>
              <a:ext cx="802640" cy="256032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809588" y="2812542"/>
              <a:ext cx="9550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-12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688428" y="3035808"/>
              <a:ext cx="40132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0" name="Shape 18"/>
            <p:cNvSpPr/>
            <p:nvPr/>
          </p:nvSpPr>
          <p:spPr>
            <a:xfrm>
              <a:off x="8089748" y="3035808"/>
              <a:ext cx="802640" cy="2069592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8013548" y="3975354"/>
              <a:ext cx="9550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073248" y="5105400"/>
              <a:ext cx="6019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8160868" y="2758440"/>
              <a:ext cx="660400" cy="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8089748" y="2758440"/>
              <a:ext cx="802640" cy="277368"/>
            </a:xfrm>
            <a:prstGeom prst="rect">
              <a:avLst/>
            </a:prstGeom>
            <a:solidFill>
              <a:srgbClr val="898781"/>
            </a:solidFill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8038948" y="2567940"/>
              <a:ext cx="9042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Gap +13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PowerChart" descr="heatmap. 3 data series: North, South, East. 4 categories: Q1, Q2, Q3, Q4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78250"/>
            <a:chOff x="3047848" y="1524000"/>
            <a:chExt cx="6096000" cy="37782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Heatmap with marginal totals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492348" y="1803400"/>
              <a:ext cx="1279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771873" y="1803400"/>
              <a:ext cx="1279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051398" y="1803400"/>
              <a:ext cx="1279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330923" y="1803400"/>
              <a:ext cx="1279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1993900"/>
              <a:ext cx="393700" cy="9059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492348" y="1993900"/>
              <a:ext cx="1266825" cy="893233"/>
            </a:xfrm>
            <a:prstGeom prst="rect">
              <a:avLst/>
            </a:prstGeom>
            <a:solidFill>
              <a:srgbClr val="AABDE7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3492348" y="1993900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771873" y="1993900"/>
              <a:ext cx="1266825" cy="893233"/>
            </a:xfrm>
            <a:prstGeom prst="rect">
              <a:avLst/>
            </a:prstGeom>
            <a:solidFill>
              <a:srgbClr val="8CA7E1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771873" y="1993900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051398" y="1993900"/>
              <a:ext cx="1266825" cy="893233"/>
            </a:xfrm>
            <a:prstGeom prst="rect">
              <a:avLst/>
            </a:prstGeom>
            <a:solidFill>
              <a:srgbClr val="799BDE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051398" y="1993900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330923" y="1993900"/>
              <a:ext cx="1266825" cy="8932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7330923" y="1993900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047848" y="2899833"/>
              <a:ext cx="393700" cy="9059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92348" y="2899833"/>
              <a:ext cx="1266825" cy="893233"/>
            </a:xfrm>
            <a:prstGeom prst="rect">
              <a:avLst/>
            </a:prstGeom>
            <a:solidFill>
              <a:srgbClr val="D8E0F3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3492348" y="2899833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771873" y="2899833"/>
              <a:ext cx="1266825" cy="893233"/>
            </a:xfrm>
            <a:prstGeom prst="rect">
              <a:avLst/>
            </a:prstGeom>
            <a:solidFill>
              <a:srgbClr val="CBD5F0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771873" y="2899833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051398" y="2899833"/>
              <a:ext cx="1266825" cy="893233"/>
            </a:xfrm>
            <a:prstGeom prst="rect">
              <a:avLst/>
            </a:prstGeom>
            <a:solidFill>
              <a:srgbClr val="D5DDF2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6051398" y="2899833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330923" y="2899833"/>
              <a:ext cx="1266825" cy="893233"/>
            </a:xfrm>
            <a:prstGeom prst="rect">
              <a:avLst/>
            </a:prstGeom>
            <a:solidFill>
              <a:srgbClr val="C3CFEE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7330923" y="2899833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36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047848" y="3805767"/>
              <a:ext cx="393700" cy="9059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492348" y="3805767"/>
              <a:ext cx="1266825" cy="893233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3492348" y="3805767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771873" y="3805767"/>
              <a:ext cx="1266825" cy="893233"/>
            </a:xfrm>
            <a:prstGeom prst="rect">
              <a:avLst/>
            </a:prstGeom>
            <a:solidFill>
              <a:srgbClr val="E8EDF8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4771873" y="3805767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051398" y="3805767"/>
              <a:ext cx="1266825" cy="893233"/>
            </a:xfrm>
            <a:prstGeom prst="rect">
              <a:avLst/>
            </a:prstGeom>
            <a:solidFill>
              <a:srgbClr val="DCE3F4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6051398" y="3805767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29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330923" y="3805767"/>
              <a:ext cx="1266825" cy="893233"/>
            </a:xfrm>
            <a:prstGeom prst="rect">
              <a:avLst/>
            </a:prstGeom>
            <a:solidFill>
              <a:srgbClr val="CED8F0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7330923" y="3805767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33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8635848" y="1993900"/>
              <a:ext cx="457200" cy="893233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8635848" y="1993900"/>
              <a:ext cx="431800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199</a:t>
              </a:r>
              <a:endParaRPr lang="en-US" sz="95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8635848" y="2899833"/>
              <a:ext cx="457200" cy="893233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8635848" y="2899833"/>
              <a:ext cx="431800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131</a:t>
              </a:r>
              <a:endParaRPr lang="en-US" sz="95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8635848" y="3805767"/>
              <a:ext cx="457200" cy="893233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39" name="Text 37"/>
            <p:cNvSpPr/>
            <p:nvPr/>
          </p:nvSpPr>
          <p:spPr>
            <a:xfrm>
              <a:off x="8635848" y="3805767"/>
              <a:ext cx="431800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109</a:t>
              </a:r>
              <a:endParaRPr lang="en-US" sz="95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492348" y="4737100"/>
              <a:ext cx="1266825" cy="19050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41" name="Text 39"/>
            <p:cNvSpPr/>
            <p:nvPr/>
          </p:nvSpPr>
          <p:spPr>
            <a:xfrm>
              <a:off x="3492348" y="4737100"/>
              <a:ext cx="12668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94</a:t>
              </a:r>
              <a:endParaRPr lang="en-US" sz="95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4771873" y="4737100"/>
              <a:ext cx="1266825" cy="19050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43" name="Text 41"/>
            <p:cNvSpPr/>
            <p:nvPr/>
          </p:nvSpPr>
          <p:spPr>
            <a:xfrm>
              <a:off x="4771873" y="4737100"/>
              <a:ext cx="12668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107</a:t>
              </a:r>
              <a:endParaRPr lang="en-US" sz="9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6051398" y="4737100"/>
              <a:ext cx="1266825" cy="19050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45" name="Text 43"/>
            <p:cNvSpPr/>
            <p:nvPr/>
          </p:nvSpPr>
          <p:spPr>
            <a:xfrm>
              <a:off x="6051398" y="4737100"/>
              <a:ext cx="12668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111</a:t>
              </a:r>
              <a:endParaRPr lang="en-US" sz="95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7330923" y="4737100"/>
              <a:ext cx="1266825" cy="19050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47" name="Text 45"/>
            <p:cNvSpPr/>
            <p:nvPr/>
          </p:nvSpPr>
          <p:spPr>
            <a:xfrm>
              <a:off x="7330923" y="4737100"/>
              <a:ext cx="12668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127</a:t>
              </a:r>
              <a:endParaRPr lang="en-US" sz="95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3492348" y="5029200"/>
              <a:ext cx="80433" cy="1143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3566431" y="5029200"/>
              <a:ext cx="80433" cy="114300"/>
            </a:xfrm>
            <a:prstGeom prst="rect">
              <a:avLst/>
            </a:prstGeom>
            <a:solidFill>
              <a:srgbClr val="ECF0FA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3640514" y="5029200"/>
              <a:ext cx="80433" cy="114300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3714598" y="5029200"/>
              <a:ext cx="80433" cy="114300"/>
            </a:xfrm>
            <a:prstGeom prst="rect">
              <a:avLst/>
            </a:prstGeom>
            <a:solidFill>
              <a:srgbClr val="E3E9F7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3788681" y="5029200"/>
              <a:ext cx="80433" cy="114300"/>
            </a:xfrm>
            <a:prstGeom prst="rect">
              <a:avLst/>
            </a:prstGeom>
            <a:solidFill>
              <a:srgbClr val="DEE5F5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3862764" y="5029200"/>
              <a:ext cx="80433" cy="114300"/>
            </a:xfrm>
            <a:prstGeom prst="rect">
              <a:avLst/>
            </a:prstGeom>
            <a:solidFill>
              <a:srgbClr val="D9E0F4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3936848" y="5029200"/>
              <a:ext cx="80433" cy="114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4010931" y="5029200"/>
              <a:ext cx="80433" cy="114300"/>
            </a:xfrm>
            <a:prstGeom prst="rect">
              <a:avLst/>
            </a:prstGeom>
            <a:solidFill>
              <a:srgbClr val="CED8F1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4085014" y="5029200"/>
              <a:ext cx="80433" cy="114300"/>
            </a:xfrm>
            <a:prstGeom prst="rect">
              <a:avLst/>
            </a:prstGeom>
            <a:solidFill>
              <a:srgbClr val="C9D4EF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4159098" y="5029200"/>
              <a:ext cx="80433" cy="114300"/>
            </a:xfrm>
            <a:prstGeom prst="rect">
              <a:avLst/>
            </a:prstGeom>
            <a:solidFill>
              <a:srgbClr val="C3CFED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4233181" y="5029200"/>
              <a:ext cx="80433" cy="114300"/>
            </a:xfrm>
            <a:prstGeom prst="rect">
              <a:avLst/>
            </a:prstGeom>
            <a:solidFill>
              <a:srgbClr val="BDCAEC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4307264" y="5029200"/>
              <a:ext cx="80433" cy="114300"/>
            </a:xfrm>
            <a:prstGeom prst="rect">
              <a:avLst/>
            </a:prstGeom>
            <a:solidFill>
              <a:srgbClr val="B6C6EA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4381348" y="5029200"/>
              <a:ext cx="80433" cy="114300"/>
            </a:xfrm>
            <a:prstGeom prst="rect">
              <a:avLst/>
            </a:prstGeom>
            <a:solidFill>
              <a:srgbClr val="B0C1E9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4455431" y="5029200"/>
              <a:ext cx="80433" cy="114300"/>
            </a:xfrm>
            <a:prstGeom prst="rect">
              <a:avLst/>
            </a:prstGeom>
            <a:solidFill>
              <a:srgbClr val="A9BBE7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4529514" y="5029200"/>
              <a:ext cx="80433" cy="114300"/>
            </a:xfrm>
            <a:prstGeom prst="rect">
              <a:avLst/>
            </a:prstGeom>
            <a:solidFill>
              <a:srgbClr val="A1B6E5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4603598" y="5029200"/>
              <a:ext cx="80433" cy="114300"/>
            </a:xfrm>
            <a:prstGeom prst="rect">
              <a:avLst/>
            </a:prstGeom>
            <a:solidFill>
              <a:srgbClr val="9AB1E4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4677681" y="5029200"/>
              <a:ext cx="80433" cy="114300"/>
            </a:xfrm>
            <a:prstGeom prst="rect">
              <a:avLst/>
            </a:prstGeom>
            <a:solidFill>
              <a:srgbClr val="91ABE2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4751764" y="5029200"/>
              <a:ext cx="80433" cy="114300"/>
            </a:xfrm>
            <a:prstGeom prst="rect">
              <a:avLst/>
            </a:prstGeom>
            <a:solidFill>
              <a:srgbClr val="88A5E0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4825848" y="5029200"/>
              <a:ext cx="80433" cy="114300"/>
            </a:xfrm>
            <a:prstGeom prst="rect">
              <a:avLst/>
            </a:prstGeom>
            <a:solidFill>
              <a:srgbClr val="7E9EDF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4899931" y="5029200"/>
              <a:ext cx="80433" cy="114300"/>
            </a:xfrm>
            <a:prstGeom prst="rect">
              <a:avLst/>
            </a:prstGeom>
            <a:solidFill>
              <a:srgbClr val="7398DD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4974014" y="5029200"/>
              <a:ext cx="80433" cy="114300"/>
            </a:xfrm>
            <a:prstGeom prst="rect">
              <a:avLst/>
            </a:prstGeom>
            <a:solidFill>
              <a:srgbClr val="6791DB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5048098" y="5029200"/>
              <a:ext cx="80433" cy="114300"/>
            </a:xfrm>
            <a:prstGeom prst="rect">
              <a:avLst/>
            </a:prstGeom>
            <a:solidFill>
              <a:srgbClr val="5889DA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5122181" y="5029200"/>
              <a:ext cx="80433" cy="114300"/>
            </a:xfrm>
            <a:prstGeom prst="rect">
              <a:avLst/>
            </a:prstGeom>
            <a:solidFill>
              <a:srgbClr val="4681D8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5196264" y="5029200"/>
              <a:ext cx="80433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2" name="Text 70"/>
            <p:cNvSpPr/>
            <p:nvPr/>
          </p:nvSpPr>
          <p:spPr>
            <a:xfrm>
              <a:off x="3492348" y="5149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850" dirty="0"/>
            </a:p>
          </p:txBody>
        </p:sp>
        <p:sp>
          <p:nvSpPr>
            <p:cNvPr id="73" name="Text 71"/>
            <p:cNvSpPr/>
            <p:nvPr/>
          </p:nvSpPr>
          <p:spPr>
            <a:xfrm>
              <a:off x="4381348" y="5149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PowerChart" descr="line chart. 4 data series: Brand A, Brand B, Brand C, Private label. 2 categories: 2020, 2025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03650"/>
            <a:chOff x="3047848" y="1524000"/>
            <a:chExt cx="6096000" cy="38036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Slope chart — market share, before vs after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272128" y="2044700"/>
              <a:ext cx="0" cy="30480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510128" y="1803400"/>
              <a:ext cx="1524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2020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7919568" y="2044700"/>
              <a:ext cx="0" cy="30480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7157568" y="1803400"/>
              <a:ext cx="1524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241648" y="3201336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 flipV="1">
              <a:off x="4272128" y="2288540"/>
              <a:ext cx="3647440" cy="94327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7889088" y="225806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3136566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A 24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995768" y="2193290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A 31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241648" y="2662321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272128" y="2692801"/>
              <a:ext cx="3647440" cy="26950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7889088" y="2931828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047848" y="2597551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B 28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995768" y="2867058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B 26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241648" y="3875104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 flipV="1">
              <a:off x="4272128" y="3501323"/>
              <a:ext cx="3647440" cy="404261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7889088" y="3470843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3047848" y="3810334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C 19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995768" y="3406073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C 22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241648" y="4818380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 flipV="1">
              <a:off x="4272128" y="4040338"/>
              <a:ext cx="3647440" cy="808522"/>
            </a:xfrm>
            <a:prstGeom prst="line">
              <a:avLst/>
            </a:prstGeom>
            <a:noFill/>
            <a:ln w="25400">
              <a:solidFill>
                <a:srgbClr val="008300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7889088" y="4009858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3047848" y="4753610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083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Private label 12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995768" y="3945088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083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Private label 18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3073248" y="5187950"/>
              <a:ext cx="6045200" cy="139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Source: internal market model, 2026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PowerChart" descr="waffle chart. 1 data series: Orders. 3 categories: Online, Retail, Wholesal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11194"/>
            <a:chOff x="3047848" y="1524000"/>
            <a:chExt cx="6096000" cy="3711194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Waffle — order mix by channel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0732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34161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37590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41019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44448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47877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51306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54735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58164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61593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30732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34161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37590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41019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44448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47877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51306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54735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58164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61593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30732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34161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37590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41019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44448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47877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51306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54735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58164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61593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30732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34161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37590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41019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44448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47877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51306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54735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58164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61593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30732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34161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37590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41019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44448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47877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51306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54735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58164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61593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30732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34161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37590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41019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44448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47877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51306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54735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58164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61593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30732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34161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37590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41019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44448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47877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51306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54735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58164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61593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30732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34161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37590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41019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44448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47877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51306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54735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58164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61593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3073248" y="21971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3416148" y="21971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5" name="Shape 83"/>
            <p:cNvSpPr/>
            <p:nvPr/>
          </p:nvSpPr>
          <p:spPr>
            <a:xfrm>
              <a:off x="3759048" y="21971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6" name="Shape 84"/>
            <p:cNvSpPr/>
            <p:nvPr/>
          </p:nvSpPr>
          <p:spPr>
            <a:xfrm>
              <a:off x="4101948" y="21971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7" name="Shape 85"/>
            <p:cNvSpPr/>
            <p:nvPr/>
          </p:nvSpPr>
          <p:spPr>
            <a:xfrm>
              <a:off x="4444848" y="21971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8" name="Shape 86"/>
            <p:cNvSpPr/>
            <p:nvPr/>
          </p:nvSpPr>
          <p:spPr>
            <a:xfrm>
              <a:off x="4787748" y="21971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89" name="Shape 87"/>
            <p:cNvSpPr/>
            <p:nvPr/>
          </p:nvSpPr>
          <p:spPr>
            <a:xfrm>
              <a:off x="5130648" y="21971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0" name="Shape 88"/>
            <p:cNvSpPr/>
            <p:nvPr/>
          </p:nvSpPr>
          <p:spPr>
            <a:xfrm>
              <a:off x="5473548" y="21971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1" name="Shape 89"/>
            <p:cNvSpPr/>
            <p:nvPr/>
          </p:nvSpPr>
          <p:spPr>
            <a:xfrm>
              <a:off x="5816448" y="21971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2" name="Shape 90"/>
            <p:cNvSpPr/>
            <p:nvPr/>
          </p:nvSpPr>
          <p:spPr>
            <a:xfrm>
              <a:off x="6159348" y="21971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3" name="Shape 91"/>
            <p:cNvSpPr/>
            <p:nvPr/>
          </p:nvSpPr>
          <p:spPr>
            <a:xfrm>
              <a:off x="30732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4" name="Shape 92"/>
            <p:cNvSpPr/>
            <p:nvPr/>
          </p:nvSpPr>
          <p:spPr>
            <a:xfrm>
              <a:off x="34161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5" name="Shape 93"/>
            <p:cNvSpPr/>
            <p:nvPr/>
          </p:nvSpPr>
          <p:spPr>
            <a:xfrm>
              <a:off x="37590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6" name="Shape 94"/>
            <p:cNvSpPr/>
            <p:nvPr/>
          </p:nvSpPr>
          <p:spPr>
            <a:xfrm>
              <a:off x="41019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7" name="Shape 95"/>
            <p:cNvSpPr/>
            <p:nvPr/>
          </p:nvSpPr>
          <p:spPr>
            <a:xfrm>
              <a:off x="44448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8" name="Shape 96"/>
            <p:cNvSpPr/>
            <p:nvPr/>
          </p:nvSpPr>
          <p:spPr>
            <a:xfrm>
              <a:off x="47877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51306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0" name="Shape 98"/>
            <p:cNvSpPr/>
            <p:nvPr/>
          </p:nvSpPr>
          <p:spPr>
            <a:xfrm>
              <a:off x="54735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1" name="Shape 99"/>
            <p:cNvSpPr/>
            <p:nvPr/>
          </p:nvSpPr>
          <p:spPr>
            <a:xfrm>
              <a:off x="58164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2" name="Shape 100"/>
            <p:cNvSpPr/>
            <p:nvPr/>
          </p:nvSpPr>
          <p:spPr>
            <a:xfrm>
              <a:off x="61593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3" name="Shape 101"/>
            <p:cNvSpPr/>
            <p:nvPr/>
          </p:nvSpPr>
          <p:spPr>
            <a:xfrm>
              <a:off x="6629248" y="3295650"/>
              <a:ext cx="114300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4" name="Text 102"/>
            <p:cNvSpPr/>
            <p:nvPr/>
          </p:nvSpPr>
          <p:spPr>
            <a:xfrm>
              <a:off x="6794348" y="3244850"/>
              <a:ext cx="2324100" cy="215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Online  52%</a:t>
              </a:r>
              <a:endParaRPr lang="en-US" sz="1000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6629248" y="3511550"/>
              <a:ext cx="114300" cy="1143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6" name="Text 104"/>
            <p:cNvSpPr/>
            <p:nvPr/>
          </p:nvSpPr>
          <p:spPr>
            <a:xfrm>
              <a:off x="6794348" y="3460750"/>
              <a:ext cx="2324100" cy="215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Retail  33%</a:t>
              </a:r>
              <a:endParaRPr lang="en-US" sz="1000" dirty="0"/>
            </a:p>
          </p:txBody>
        </p:sp>
        <p:sp>
          <p:nvSpPr>
            <p:cNvPr id="107" name="Shape 105"/>
            <p:cNvSpPr/>
            <p:nvPr/>
          </p:nvSpPr>
          <p:spPr>
            <a:xfrm>
              <a:off x="6629248" y="3727450"/>
              <a:ext cx="114300" cy="1143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8" name="Text 106"/>
            <p:cNvSpPr/>
            <p:nvPr/>
          </p:nvSpPr>
          <p:spPr>
            <a:xfrm>
              <a:off x="6794348" y="3676650"/>
              <a:ext cx="2324100" cy="215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Wholesale  15%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PowerChart" descr="pie chart. 1 data series: Revenue. 6 categories: EMEA, Americas, APAC, Nordics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507740"/>
            <a:chOff x="3047848" y="1524000"/>
            <a:chExt cx="6096000" cy="350774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Bar-of-pie — revenue with the long tail detailed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13608" y="2105660"/>
              <a:ext cx="2926080" cy="2926080"/>
            </a:xfrm>
            <a:custGeom>
              <a:avLst/>
              <a:gdLst/>
              <a:ahLst/>
              <a:cxnLst/>
              <a:rect l="l" t="t" r="r" b="b"/>
              <a:pathLst>
                <a:path w="2926080" h="2926080">
                  <a:moveTo>
                    <a:pt x="2646664" y="2322993"/>
                  </a:moveTo>
                  <a:lnTo>
                    <a:pt x="2550291" y="2442005"/>
                  </a:lnTo>
                  <a:lnTo>
                    <a:pt x="2442005" y="2550291"/>
                  </a:lnTo>
                  <a:lnTo>
                    <a:pt x="2322993" y="2646664"/>
                  </a:lnTo>
                  <a:lnTo>
                    <a:pt x="2194560" y="2730070"/>
                  </a:lnTo>
                  <a:lnTo>
                    <a:pt x="2058112" y="2799594"/>
                  </a:lnTo>
                  <a:lnTo>
                    <a:pt x="1915144" y="2854474"/>
                  </a:lnTo>
                  <a:lnTo>
                    <a:pt x="1767223" y="2894109"/>
                  </a:lnTo>
                  <a:lnTo>
                    <a:pt x="1615969" y="2918065"/>
                  </a:lnTo>
                  <a:lnTo>
                    <a:pt x="1463040" y="2926080"/>
                  </a:lnTo>
                  <a:lnTo>
                    <a:pt x="1310111" y="2918065"/>
                  </a:lnTo>
                  <a:lnTo>
                    <a:pt x="1158857" y="2894109"/>
                  </a:lnTo>
                  <a:lnTo>
                    <a:pt x="1010936" y="2854474"/>
                  </a:lnTo>
                  <a:lnTo>
                    <a:pt x="867968" y="2799594"/>
                  </a:lnTo>
                  <a:lnTo>
                    <a:pt x="731520" y="2730070"/>
                  </a:lnTo>
                  <a:lnTo>
                    <a:pt x="603087" y="2646664"/>
                  </a:lnTo>
                  <a:lnTo>
                    <a:pt x="484075" y="2550291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4671744" y="4375566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 27%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13608" y="2105660"/>
              <a:ext cx="2926080" cy="2926080"/>
            </a:xfrm>
            <a:custGeom>
              <a:avLst/>
              <a:gdLst/>
              <a:ahLst/>
              <a:cxnLst/>
              <a:rect l="l" t="t" r="r" b="b"/>
              <a:pathLst>
                <a:path w="2926080" h="2926080">
                  <a:moveTo>
                    <a:pt x="484075" y="2550291"/>
                  </a:moveTo>
                  <a:lnTo>
                    <a:pt x="375789" y="2442005"/>
                  </a:lnTo>
                  <a:lnTo>
                    <a:pt x="279416" y="2322993"/>
                  </a:lnTo>
                  <a:lnTo>
                    <a:pt x="196010" y="2194560"/>
                  </a:lnTo>
                  <a:lnTo>
                    <a:pt x="126486" y="2058112"/>
                  </a:lnTo>
                  <a:lnTo>
                    <a:pt x="71606" y="1915144"/>
                  </a:lnTo>
                  <a:lnTo>
                    <a:pt x="31971" y="1767223"/>
                  </a:lnTo>
                  <a:lnTo>
                    <a:pt x="8015" y="1615969"/>
                  </a:lnTo>
                  <a:lnTo>
                    <a:pt x="0" y="1463040"/>
                  </a:lnTo>
                  <a:lnTo>
                    <a:pt x="8015" y="1310111"/>
                  </a:lnTo>
                  <a:lnTo>
                    <a:pt x="31971" y="1158857"/>
                  </a:lnTo>
                  <a:lnTo>
                    <a:pt x="71606" y="1010936"/>
                  </a:lnTo>
                  <a:lnTo>
                    <a:pt x="126486" y="867968"/>
                  </a:lnTo>
                  <a:lnTo>
                    <a:pt x="196010" y="731520"/>
                  </a:lnTo>
                  <a:lnTo>
                    <a:pt x="279416" y="603087"/>
                  </a:lnTo>
                  <a:lnTo>
                    <a:pt x="375789" y="484075"/>
                  </a:lnTo>
                  <a:lnTo>
                    <a:pt x="484075" y="375789"/>
                  </a:lnTo>
                  <a:lnTo>
                    <a:pt x="603087" y="279416"/>
                  </a:lnTo>
                  <a:lnTo>
                    <a:pt x="731520" y="196010"/>
                  </a:lnTo>
                  <a:lnTo>
                    <a:pt x="867968" y="126486"/>
                  </a:lnTo>
                  <a:lnTo>
                    <a:pt x="1010936" y="71606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552505" y="3284856"/>
              <a:ext cx="873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 33%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13608" y="2105660"/>
              <a:ext cx="2926080" cy="2926080"/>
            </a:xfrm>
            <a:custGeom>
              <a:avLst/>
              <a:gdLst/>
              <a:ahLst/>
              <a:cxnLst/>
              <a:rect l="l" t="t" r="r" b="b"/>
              <a:pathLst>
                <a:path w="2926080" h="2926080">
                  <a:moveTo>
                    <a:pt x="1010936" y="71606"/>
                  </a:moveTo>
                  <a:lnTo>
                    <a:pt x="1158857" y="31971"/>
                  </a:lnTo>
                  <a:lnTo>
                    <a:pt x="1310111" y="8015"/>
                  </a:lnTo>
                  <a:lnTo>
                    <a:pt x="1463040" y="0"/>
                  </a:lnTo>
                  <a:lnTo>
                    <a:pt x="1615969" y="8015"/>
                  </a:lnTo>
                  <a:lnTo>
                    <a:pt x="1767223" y="31971"/>
                  </a:lnTo>
                  <a:lnTo>
                    <a:pt x="1915144" y="71606"/>
                  </a:lnTo>
                  <a:lnTo>
                    <a:pt x="2058112" y="126486"/>
                  </a:lnTo>
                  <a:lnTo>
                    <a:pt x="2194560" y="196010"/>
                  </a:lnTo>
                  <a:lnTo>
                    <a:pt x="2322993" y="279416"/>
                  </a:lnTo>
                  <a:lnTo>
                    <a:pt x="2442005" y="375789"/>
                  </a:lnTo>
                  <a:lnTo>
                    <a:pt x="2550291" y="484075"/>
                  </a:lnTo>
                  <a:lnTo>
                    <a:pt x="2646664" y="603087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857232" y="2610761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 20%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13608" y="2105660"/>
              <a:ext cx="2926080" cy="2926080"/>
            </a:xfrm>
            <a:custGeom>
              <a:avLst/>
              <a:gdLst/>
              <a:ahLst/>
              <a:cxnLst/>
              <a:rect l="l" t="t" r="r" b="b"/>
              <a:pathLst>
                <a:path w="2926080" h="2926080">
                  <a:moveTo>
                    <a:pt x="2646664" y="603087"/>
                  </a:moveTo>
                  <a:lnTo>
                    <a:pt x="2730070" y="731520"/>
                  </a:lnTo>
                  <a:lnTo>
                    <a:pt x="2799594" y="867968"/>
                  </a:lnTo>
                  <a:lnTo>
                    <a:pt x="2854474" y="1010936"/>
                  </a:lnTo>
                  <a:lnTo>
                    <a:pt x="2894109" y="1158857"/>
                  </a:lnTo>
                  <a:lnTo>
                    <a:pt x="2918065" y="1310111"/>
                  </a:lnTo>
                  <a:lnTo>
                    <a:pt x="2926080" y="1463040"/>
                  </a:lnTo>
                  <a:lnTo>
                    <a:pt x="2918065" y="1615969"/>
                  </a:lnTo>
                  <a:lnTo>
                    <a:pt x="2894109" y="1767223"/>
                  </a:lnTo>
                  <a:lnTo>
                    <a:pt x="2854474" y="1915144"/>
                  </a:lnTo>
                  <a:lnTo>
                    <a:pt x="2799594" y="2058112"/>
                  </a:lnTo>
                  <a:lnTo>
                    <a:pt x="2730070" y="2194560"/>
                  </a:lnTo>
                  <a:lnTo>
                    <a:pt x="2646664" y="2322993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close/>
                </a:path>
              </a:pathLst>
            </a:custGeom>
            <a:solidFill>
              <a:srgbClr val="898781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5449722" y="3473450"/>
              <a:ext cx="6680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Other 20%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 flipV="1">
              <a:off x="6060272" y="2178812"/>
              <a:ext cx="889016" cy="529935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dash"/>
            </a:ln>
          </p:spPr>
        </p:sp>
        <p:sp>
          <p:nvSpPr>
            <p:cNvPr id="12" name="Shape 10"/>
            <p:cNvSpPr/>
            <p:nvPr/>
          </p:nvSpPr>
          <p:spPr>
            <a:xfrm>
              <a:off x="6060272" y="4428653"/>
              <a:ext cx="889016" cy="529935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dash"/>
            </a:ln>
          </p:spPr>
        </p:sp>
        <p:sp>
          <p:nvSpPr>
            <p:cNvPr id="13" name="Shape 11"/>
            <p:cNvSpPr/>
            <p:nvPr/>
          </p:nvSpPr>
          <p:spPr>
            <a:xfrm>
              <a:off x="6949288" y="2178812"/>
              <a:ext cx="355600" cy="926592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368388" y="2546858"/>
              <a:ext cx="1750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Nordics 7%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949288" y="3105404"/>
              <a:ext cx="355600" cy="694944"/>
            </a:xfrm>
            <a:prstGeom prst="rect">
              <a:avLst/>
            </a:prstGeom>
            <a:solidFill>
              <a:srgbClr val="4A3AA7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7368388" y="3357626"/>
              <a:ext cx="1750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Benelux 5%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949288" y="3800348"/>
              <a:ext cx="355600" cy="1158240"/>
            </a:xfrm>
            <a:prstGeom prst="rect">
              <a:avLst/>
            </a:prstGeom>
            <a:solidFill>
              <a:srgbClr val="E3494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7368388" y="4284218"/>
              <a:ext cx="1750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DACH 8%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PowerChart" descr="line chart. 3 data series: Brand A, Brand B, Brand C. 4 categories: 2022, 2023, 2024, 2025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Small multiples — one panel per brand, shared scale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1803400"/>
              <a:ext cx="1947333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A</a:t>
              </a:r>
              <a:endParaRPr lang="en-US" sz="12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3479648" y="4220248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3335097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3479648" y="2449945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4131348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3246197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047848" y="2361045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479648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845831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212014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578198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632259" y="3304617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 flipV="1">
              <a:off x="3662739" y="2981036"/>
              <a:ext cx="366183" cy="35406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998443" y="2950556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 flipV="1">
              <a:off x="4028923" y="2671233"/>
              <a:ext cx="366183" cy="30980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364626" y="2640753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 flipV="1">
              <a:off x="4395106" y="2184400"/>
              <a:ext cx="366183" cy="48683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4730809" y="21539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3479648" y="5105400"/>
              <a:ext cx="1464733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5122181" y="1803400"/>
              <a:ext cx="1947333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B</a:t>
              </a:r>
              <a:endParaRPr lang="en-US" sz="12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553981" y="4220248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5553981" y="3335097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5553981" y="2449945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5122181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122181" y="4131348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122181" y="3246197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5122181" y="2361045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553981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5920164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286348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652531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5706593" y="3747193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 flipV="1">
              <a:off x="5737073" y="3689158"/>
              <a:ext cx="366183" cy="8851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6072776" y="3658678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6103256" y="3689158"/>
              <a:ext cx="366183" cy="4425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6438959" y="370293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 flipV="1">
              <a:off x="6469439" y="3556385"/>
              <a:ext cx="366183" cy="17703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6805143" y="352590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5553981" y="5105400"/>
              <a:ext cx="1464733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7196514" y="1803400"/>
              <a:ext cx="1947333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C</a:t>
              </a:r>
              <a:endParaRPr lang="en-US" sz="12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7628314" y="4220248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7628314" y="3335097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7628314" y="2449945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7196514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7196514" y="4131348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7196514" y="3246197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7196514" y="2361045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7628314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7994498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8360681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8726864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7780926" y="4543829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 flipV="1">
              <a:off x="7811406" y="4308764"/>
              <a:ext cx="366183" cy="265545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57" name="Shape 55"/>
            <p:cNvSpPr/>
            <p:nvPr/>
          </p:nvSpPr>
          <p:spPr>
            <a:xfrm>
              <a:off x="8147109" y="4278284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8" name="Shape 56"/>
            <p:cNvSpPr/>
            <p:nvPr/>
          </p:nvSpPr>
          <p:spPr>
            <a:xfrm flipV="1">
              <a:off x="8177589" y="3954703"/>
              <a:ext cx="366183" cy="354061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>
              <a:off x="8513293" y="3924223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0" name="Shape 58"/>
            <p:cNvSpPr/>
            <p:nvPr/>
          </p:nvSpPr>
          <p:spPr>
            <a:xfrm flipV="1">
              <a:off x="8543773" y="3290839"/>
              <a:ext cx="366183" cy="663864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61" name="Shape 59"/>
            <p:cNvSpPr/>
            <p:nvPr/>
          </p:nvSpPr>
          <p:spPr>
            <a:xfrm>
              <a:off x="8879476" y="3260359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2" name="Shape 60"/>
            <p:cNvSpPr/>
            <p:nvPr/>
          </p:nvSpPr>
          <p:spPr>
            <a:xfrm>
              <a:off x="7628314" y="5105400"/>
              <a:ext cx="1464733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PowerChart" descr="bubble chart. 3 data series: X, Y, Size. 5 categories: Alpha, Bravo, Core, Delta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99200" cy="3810000"/>
            <a:chOff x="3047848" y="1524000"/>
            <a:chExt cx="62992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Bubble size legend + quadrant matrix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1879600"/>
              <a:ext cx="2085975" cy="1625600"/>
            </a:xfrm>
            <a:prstGeom prst="rect">
              <a:avLst/>
            </a:prstGeom>
            <a:solidFill>
              <a:srgbClr val="F2F1EC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3530448" y="1905000"/>
              <a:ext cx="1984375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Question marks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565623" y="1879600"/>
              <a:ext cx="3476625" cy="1625600"/>
            </a:xfrm>
            <a:prstGeom prst="rect">
              <a:avLst/>
            </a:prstGeom>
            <a:solidFill>
              <a:srgbClr val="FAF9F6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5616423" y="1905000"/>
              <a:ext cx="3375025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900" b="1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Stars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3505200"/>
              <a:ext cx="2085975" cy="1625600"/>
            </a:xfrm>
            <a:prstGeom prst="rect">
              <a:avLst/>
            </a:prstGeom>
            <a:solidFill>
              <a:srgbClr val="FAF9F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3530448" y="3530600"/>
              <a:ext cx="1984375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Dogs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565623" y="3505200"/>
              <a:ext cx="3476625" cy="1625600"/>
            </a:xfrm>
            <a:prstGeom prst="rect">
              <a:avLst/>
            </a:prstGeom>
            <a:solidFill>
              <a:srgbClr val="F2F1EC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5616423" y="3530600"/>
              <a:ext cx="3375025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900" b="1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Cash cows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565623" y="1879600"/>
              <a:ext cx="0" cy="32512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dash"/>
            </a:ln>
          </p:spPr>
        </p:sp>
        <p:sp>
          <p:nvSpPr>
            <p:cNvPr id="12" name="Shape 10"/>
            <p:cNvSpPr/>
            <p:nvPr/>
          </p:nvSpPr>
          <p:spPr>
            <a:xfrm>
              <a:off x="3479648" y="3505200"/>
              <a:ext cx="55626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dash"/>
            </a:ln>
          </p:spPr>
        </p:sp>
        <p:sp>
          <p:nvSpPr>
            <p:cNvPr id="13" name="Shape 11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479648" y="4047067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047848" y="3958167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79648" y="2963333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3047848" y="2874433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479648" y="18796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3047848" y="1790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236570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3479648" y="18796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8406232" y="1908861"/>
              <a:ext cx="585216" cy="585216"/>
            </a:xfrm>
            <a:prstGeom prst="ellipse">
              <a:avLst/>
            </a:pr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8406232" y="1737411"/>
              <a:ext cx="58521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890821" y="2080267"/>
              <a:ext cx="413810" cy="413810"/>
            </a:xfrm>
            <a:prstGeom prst="ellipse">
              <a:avLst/>
            </a:pr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890821" y="1823114"/>
              <a:ext cx="41381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8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663665" y="1857925"/>
              <a:ext cx="585216" cy="585216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4260919" y="2701617"/>
              <a:ext cx="523433" cy="523433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7772607" y="3007613"/>
              <a:ext cx="453306" cy="453306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5716998" y="3850779"/>
              <a:ext cx="392575" cy="392575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3319380" y="4699599"/>
              <a:ext cx="320536" cy="320536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7274281" y="2067983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Delta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809752" y="2880783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Bravo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8251313" y="3151717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Echo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6134973" y="3964517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Core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3665316" y="4777317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Alpha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owerChart" descr="line chart. 2 data series: Brand A, Brand B. 5 categories: 2021, 2022, 2023, 2024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Datamark axis (Tufte range frame)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28848" y="5105400"/>
              <a:ext cx="50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047848" y="5016500"/>
              <a:ext cx="355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28848" y="1905000"/>
              <a:ext cx="50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1816100"/>
              <a:ext cx="355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479648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475836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472024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468212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464400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947262" y="315468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 flipV="1">
              <a:off x="3977742" y="3025140"/>
              <a:ext cx="996188" cy="16002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4943450" y="299466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 flipV="1">
              <a:off x="4973930" y="2905125"/>
              <a:ext cx="996188" cy="12001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5939638" y="2874645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 flipV="1">
              <a:off x="5970118" y="2665095"/>
              <a:ext cx="996188" cy="24003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6935826" y="2634615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 flipV="1">
              <a:off x="6966306" y="2465070"/>
              <a:ext cx="996188" cy="20002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7932014" y="243459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3947262" y="347472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 flipV="1">
              <a:off x="3977742" y="3425190"/>
              <a:ext cx="996188" cy="8001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4943450" y="339471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4973930" y="3425190"/>
              <a:ext cx="996188" cy="4000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5939638" y="343471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 flipV="1">
              <a:off x="5970118" y="3305175"/>
              <a:ext cx="996188" cy="16002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935826" y="327469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 flipV="1">
              <a:off x="6966306" y="3145155"/>
              <a:ext cx="996188" cy="16002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932014" y="311467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3479648" y="5105400"/>
              <a:ext cx="49809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8511388" y="2379345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A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511388" y="3059430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B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PowerChart" descr="heatmap. 3 data series: North, South, East. 4 categories: Q1, Q2, Q3, Q4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78250"/>
            <a:chOff x="3047848" y="1524000"/>
            <a:chExt cx="6096000" cy="37782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Diverging heatmap (YoY change, %)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492348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898873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305398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711923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1993900"/>
              <a:ext cx="393700" cy="9863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492348" y="1993900"/>
              <a:ext cx="1393825" cy="973667"/>
            </a:xfrm>
            <a:prstGeom prst="rect">
              <a:avLst/>
            </a:prstGeom>
            <a:solidFill>
              <a:srgbClr val="C6D1EE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3492348" y="1993900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4.0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898873" y="1993900"/>
              <a:ext cx="1393825" cy="973667"/>
            </a:xfrm>
            <a:prstGeom prst="rect">
              <a:avLst/>
            </a:prstGeom>
            <a:solidFill>
              <a:srgbClr val="9FB4E5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898873" y="1993900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6.0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305398" y="1993900"/>
              <a:ext cx="1393825" cy="973667"/>
            </a:xfrm>
            <a:prstGeom prst="rect">
              <a:avLst/>
            </a:prstGeom>
            <a:solidFill>
              <a:srgbClr val="F9E6E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305398" y="1993900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-2.0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711923" y="1993900"/>
              <a:ext cx="1393825" cy="973667"/>
            </a:xfrm>
            <a:prstGeom prst="rect">
              <a:avLst/>
            </a:prstGeom>
            <a:solidFill>
              <a:srgbClr val="6690DB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7711923" y="1993900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8.0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047848" y="2980267"/>
              <a:ext cx="393700" cy="9863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92348" y="2980267"/>
              <a:ext cx="1393825" cy="973667"/>
            </a:xfrm>
            <a:prstGeom prst="rect">
              <a:avLst/>
            </a:prstGeom>
            <a:solidFill>
              <a:srgbClr val="F0B8B8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3492348" y="2980267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-5.0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898873" y="2980267"/>
              <a:ext cx="1393825" cy="973667"/>
            </a:xfrm>
            <a:prstGeom prst="rect">
              <a:avLst/>
            </a:prstGeom>
            <a:solidFill>
              <a:srgbClr val="F6D8D8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898873" y="2980267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-3.0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305398" y="2980267"/>
              <a:ext cx="1393825" cy="973667"/>
            </a:xfrm>
            <a:prstGeom prst="rect">
              <a:avLst/>
            </a:prstGeom>
            <a:solidFill>
              <a:srgbClr val="E5EAF7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6305398" y="2980267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711923" y="2980267"/>
              <a:ext cx="1393825" cy="973667"/>
            </a:xfrm>
            <a:prstGeom prst="rect">
              <a:avLst/>
            </a:prstGeom>
            <a:solidFill>
              <a:srgbClr val="F2F5FB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7711923" y="2980267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1.0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047848" y="3966633"/>
              <a:ext cx="393700" cy="9863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492348" y="3966633"/>
              <a:ext cx="1393825" cy="973667"/>
            </a:xfrm>
            <a:prstGeom prst="rect">
              <a:avLst/>
            </a:prstGeom>
            <a:solidFill>
              <a:srgbClr val="F2F5FB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3492348" y="3966633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1.0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898873" y="3966633"/>
              <a:ext cx="1393825" cy="973667"/>
            </a:xfrm>
            <a:prstGeom prst="rect">
              <a:avLst/>
            </a:prstGeom>
            <a:solidFill>
              <a:srgbClr val="D6DEF2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4898873" y="3966633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3.0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305398" y="3966633"/>
              <a:ext cx="1393825" cy="973667"/>
            </a:xfrm>
            <a:prstGeom prst="rect">
              <a:avLst/>
            </a:prstGeom>
            <a:solidFill>
              <a:srgbClr val="B4C3E9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6305398" y="3966633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5.0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711923" y="3966633"/>
              <a:ext cx="1393825" cy="97366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7711923" y="3966633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9.0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3492348" y="5029200"/>
              <a:ext cx="80433" cy="114300"/>
            </a:xfrm>
            <a:prstGeom prst="rect">
              <a:avLst/>
            </a:prstGeom>
            <a:solidFill>
              <a:srgbClr val="F0B8B8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3566431" y="5029200"/>
              <a:ext cx="80433" cy="114300"/>
            </a:xfrm>
            <a:prstGeom prst="rect">
              <a:avLst/>
            </a:prstGeom>
            <a:solidFill>
              <a:srgbClr val="F2C3C3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3640514" y="5029200"/>
              <a:ext cx="80433" cy="114300"/>
            </a:xfrm>
            <a:prstGeom prst="rect">
              <a:avLst/>
            </a:prstGeom>
            <a:solidFill>
              <a:srgbClr val="F4CDCC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3714598" y="5029200"/>
              <a:ext cx="80433" cy="114300"/>
            </a:xfrm>
            <a:prstGeom prst="rect">
              <a:avLst/>
            </a:prstGeom>
            <a:solidFill>
              <a:srgbClr val="F6D6D6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3788681" y="5029200"/>
              <a:ext cx="80433" cy="114300"/>
            </a:xfrm>
            <a:prstGeom prst="rect">
              <a:avLst/>
            </a:prstGeom>
            <a:solidFill>
              <a:srgbClr val="F7DEDE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3862764" y="5029200"/>
              <a:ext cx="80433" cy="114300"/>
            </a:xfrm>
            <a:prstGeom prst="rect">
              <a:avLst/>
            </a:prstGeom>
            <a:solidFill>
              <a:srgbClr val="F9E7E7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3936848" y="5029200"/>
              <a:ext cx="80433" cy="114300"/>
            </a:xfrm>
            <a:prstGeom prst="rect">
              <a:avLst/>
            </a:prstGeom>
            <a:solidFill>
              <a:srgbClr val="FBEFEF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4010931" y="5029200"/>
              <a:ext cx="80433" cy="114300"/>
            </a:xfrm>
            <a:prstGeom prst="rect">
              <a:avLst/>
            </a:prstGeom>
            <a:solidFill>
              <a:srgbClr val="FDF6F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4085014" y="5029200"/>
              <a:ext cx="80433" cy="114300"/>
            </a:xfrm>
            <a:prstGeom prst="rect">
              <a:avLst/>
            </a:prstGeom>
            <a:solidFill>
              <a:srgbClr val="FFFDFD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4159098" y="5029200"/>
              <a:ext cx="80433" cy="114300"/>
            </a:xfrm>
            <a:prstGeom prst="rect">
              <a:avLst/>
            </a:prstGeom>
            <a:solidFill>
              <a:srgbClr val="F9FAFD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4233181" y="5029200"/>
              <a:ext cx="80433" cy="1143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4307264" y="5029200"/>
              <a:ext cx="80433" cy="114300"/>
            </a:xfrm>
            <a:prstGeom prst="rect">
              <a:avLst/>
            </a:prstGeom>
            <a:solidFill>
              <a:srgbClr val="E9EDF8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4381348" y="5029200"/>
              <a:ext cx="80433" cy="114300"/>
            </a:xfrm>
            <a:prstGeom prst="rect">
              <a:avLst/>
            </a:prstGeom>
            <a:solidFill>
              <a:srgbClr val="E1E6F5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4455431" y="5029200"/>
              <a:ext cx="80433" cy="114300"/>
            </a:xfrm>
            <a:prstGeom prst="rect">
              <a:avLst/>
            </a:prstGeom>
            <a:solidFill>
              <a:srgbClr val="D8DFF3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4529514" y="5029200"/>
              <a:ext cx="80433" cy="114300"/>
            </a:xfrm>
            <a:prstGeom prst="rect">
              <a:avLst/>
            </a:prstGeom>
            <a:solidFill>
              <a:srgbClr val="CED7F0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4603598" y="5029200"/>
              <a:ext cx="80433" cy="114300"/>
            </a:xfrm>
            <a:prstGeom prst="rect">
              <a:avLst/>
            </a:prstGeom>
            <a:solidFill>
              <a:srgbClr val="C4CFED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4677681" y="5029200"/>
              <a:ext cx="80433" cy="114300"/>
            </a:xfrm>
            <a:prstGeom prst="rect">
              <a:avLst/>
            </a:prstGeom>
            <a:solidFill>
              <a:srgbClr val="B9C7EB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4751764" y="5029200"/>
              <a:ext cx="80433" cy="114300"/>
            </a:xfrm>
            <a:prstGeom prst="rect">
              <a:avLst/>
            </a:prstGeom>
            <a:solidFill>
              <a:srgbClr val="ADBEE8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4825848" y="5029200"/>
              <a:ext cx="80433" cy="114300"/>
            </a:xfrm>
            <a:prstGeom prst="rect">
              <a:avLst/>
            </a:prstGeom>
            <a:solidFill>
              <a:srgbClr val="A0B5E5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4899931" y="5029200"/>
              <a:ext cx="80433" cy="114300"/>
            </a:xfrm>
            <a:prstGeom prst="rect">
              <a:avLst/>
            </a:prstGeom>
            <a:solidFill>
              <a:srgbClr val="92ABE2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4974014" y="5029200"/>
              <a:ext cx="80433" cy="114300"/>
            </a:xfrm>
            <a:prstGeom prst="rect">
              <a:avLst/>
            </a:prstGeom>
            <a:solidFill>
              <a:srgbClr val="81A0DF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5048098" y="5029200"/>
              <a:ext cx="80433" cy="114300"/>
            </a:xfrm>
            <a:prstGeom prst="rect">
              <a:avLst/>
            </a:prstGeom>
            <a:solidFill>
              <a:srgbClr val="6E94DC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5122181" y="5029200"/>
              <a:ext cx="80433" cy="114300"/>
            </a:xfrm>
            <a:prstGeom prst="rect">
              <a:avLst/>
            </a:prstGeom>
            <a:solidFill>
              <a:srgbClr val="5487D9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5196264" y="5029200"/>
              <a:ext cx="80433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8" name="Text 56"/>
            <p:cNvSpPr/>
            <p:nvPr/>
          </p:nvSpPr>
          <p:spPr>
            <a:xfrm>
              <a:off x="3492348" y="5149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-5.0</a:t>
              </a:r>
              <a:endParaRPr lang="en-US" sz="85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4381348" y="5149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9.0</a:t>
              </a:r>
              <a:endParaRPr lang="en-US" sz="85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4000348" y="5149850"/>
              <a:ext cx="254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PowerChart" descr="tile-grid map. 1 data series: Stores. 10 categories: CA, TX, NY, FL and 6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84600"/>
            <a:chOff x="3047848" y="1524000"/>
            <a:chExt cx="6096000" cy="37846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US tile map (auto-detected layout)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754285" y="1828800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3754285" y="1828800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AK</a:t>
              </a:r>
              <a:endParaRPr lang="en-US" sz="967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8076254" y="1828800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8076254" y="1828800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</a:t>
              </a:r>
              <a:endParaRPr lang="en-US" sz="967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290441" y="2221706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7290441" y="2221706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VT</a:t>
              </a:r>
              <a:endParaRPr lang="en-US" sz="967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7683348" y="2221706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7683348" y="2221706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NH</a:t>
              </a:r>
              <a:endParaRPr lang="en-US" sz="967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076254" y="2221706"/>
              <a:ext cx="361156" cy="361156"/>
            </a:xfrm>
            <a:prstGeom prst="rect">
              <a:avLst/>
            </a:prstGeom>
            <a:solidFill>
              <a:srgbClr val="DFE6F5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076254" y="2243534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</a:t>
              </a:r>
              <a:endParaRPr lang="en-US" sz="967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076254" y="2402284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8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147191" y="2614613"/>
              <a:ext cx="361156" cy="361156"/>
            </a:xfrm>
            <a:prstGeom prst="rect">
              <a:avLst/>
            </a:prstGeom>
            <a:solidFill>
              <a:srgbClr val="D8E0F3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147191" y="2636441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</a:t>
              </a:r>
              <a:endParaRPr lang="en-US" sz="967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147191" y="2795191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44</a:t>
              </a:r>
              <a:endParaRPr lang="en-US" sz="8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540098" y="2614613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540098" y="2614613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MT</a:t>
              </a:r>
              <a:endParaRPr lang="en-US" sz="967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933004" y="2614613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933004" y="2614613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ND</a:t>
              </a:r>
              <a:endParaRPr lang="en-US" sz="967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325910" y="2614613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5325910" y="2614613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SD</a:t>
              </a:r>
              <a:endParaRPr lang="en-US" sz="967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718816" y="2614613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5718816" y="2614613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MN</a:t>
              </a:r>
              <a:endParaRPr lang="en-US" sz="967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111723" y="2614613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6111723" y="2614613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WI</a:t>
              </a:r>
              <a:endParaRPr lang="en-US" sz="967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504629" y="2614613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6504629" y="2614613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MI</a:t>
              </a:r>
              <a:endParaRPr lang="en-US" sz="967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290441" y="2614613"/>
              <a:ext cx="361156" cy="361156"/>
            </a:xfrm>
            <a:prstGeom prst="rect">
              <a:avLst/>
            </a:prstGeom>
            <a:solidFill>
              <a:srgbClr val="96AEE3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7290441" y="2636441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NY</a:t>
              </a:r>
              <a:endParaRPr lang="en-US" sz="967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290441" y="2795191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88</a:t>
              </a:r>
              <a:endParaRPr lang="en-US" sz="8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683348" y="2614613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7683348" y="2614613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CT</a:t>
              </a:r>
              <a:endParaRPr lang="en-US" sz="967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8076254" y="2614613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8076254" y="2614613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RI</a:t>
              </a:r>
              <a:endParaRPr lang="en-US" sz="967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147191" y="3007519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4147191" y="3007519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OR</a:t>
              </a:r>
              <a:endParaRPr lang="en-US" sz="967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4540098" y="3007519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39" name="Text 37"/>
            <p:cNvSpPr/>
            <p:nvPr/>
          </p:nvSpPr>
          <p:spPr>
            <a:xfrm>
              <a:off x="4540098" y="3007519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ID</a:t>
              </a:r>
              <a:endParaRPr lang="en-US" sz="967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4933004" y="3007519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1" name="Text 39"/>
            <p:cNvSpPr/>
            <p:nvPr/>
          </p:nvSpPr>
          <p:spPr>
            <a:xfrm>
              <a:off x="4933004" y="3007519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WY</a:t>
              </a:r>
              <a:endParaRPr lang="en-US" sz="967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5325910" y="3007519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3" name="Text 41"/>
            <p:cNvSpPr/>
            <p:nvPr/>
          </p:nvSpPr>
          <p:spPr>
            <a:xfrm>
              <a:off x="5325910" y="3007519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NE</a:t>
              </a:r>
              <a:endParaRPr lang="en-US" sz="967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5718816" y="3007519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5" name="Text 43"/>
            <p:cNvSpPr/>
            <p:nvPr/>
          </p:nvSpPr>
          <p:spPr>
            <a:xfrm>
              <a:off x="5718816" y="3007519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IA</a:t>
              </a:r>
              <a:endParaRPr lang="en-US" sz="967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6111723" y="3007519"/>
              <a:ext cx="361156" cy="361156"/>
            </a:xfrm>
            <a:prstGeom prst="rect">
              <a:avLst/>
            </a:prstGeom>
            <a:solidFill>
              <a:srgbClr val="CFD9F1"/>
            </a:solidFill>
            <a:ln/>
          </p:spPr>
        </p:sp>
        <p:sp>
          <p:nvSpPr>
            <p:cNvPr id="47" name="Text 45"/>
            <p:cNvSpPr/>
            <p:nvPr/>
          </p:nvSpPr>
          <p:spPr>
            <a:xfrm>
              <a:off x="6111723" y="3029347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IL</a:t>
              </a:r>
              <a:endParaRPr lang="en-US" sz="967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6111723" y="3188097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8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6504629" y="3007519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0" name="Text 48"/>
            <p:cNvSpPr/>
            <p:nvPr/>
          </p:nvSpPr>
          <p:spPr>
            <a:xfrm>
              <a:off x="6504629" y="3007519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</a:t>
              </a:r>
              <a:endParaRPr lang="en-US" sz="967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897535" y="3007519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2" name="Text 50"/>
            <p:cNvSpPr/>
            <p:nvPr/>
          </p:nvSpPr>
          <p:spPr>
            <a:xfrm>
              <a:off x="6897535" y="3007519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OH</a:t>
              </a:r>
              <a:endParaRPr lang="en-US" sz="967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7290441" y="3007519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4" name="Text 52"/>
            <p:cNvSpPr/>
            <p:nvPr/>
          </p:nvSpPr>
          <p:spPr>
            <a:xfrm>
              <a:off x="7290441" y="3007519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</a:t>
              </a:r>
              <a:endParaRPr lang="en-US" sz="967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7683348" y="3007519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6" name="Text 54"/>
            <p:cNvSpPr/>
            <p:nvPr/>
          </p:nvSpPr>
          <p:spPr>
            <a:xfrm>
              <a:off x="7683348" y="3007519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NJ</a:t>
              </a:r>
              <a:endParaRPr lang="en-US" sz="967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3754285" y="3400425"/>
              <a:ext cx="361156" cy="36115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8" name="Text 56"/>
            <p:cNvSpPr/>
            <p:nvPr/>
          </p:nvSpPr>
          <p:spPr>
            <a:xfrm>
              <a:off x="3754285" y="3422253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</a:t>
              </a:r>
              <a:endParaRPr lang="en-US" sz="967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3754285" y="3581003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8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4147191" y="3400425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61" name="Text 59"/>
            <p:cNvSpPr/>
            <p:nvPr/>
          </p:nvSpPr>
          <p:spPr>
            <a:xfrm>
              <a:off x="4147191" y="3400425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NV</a:t>
              </a:r>
              <a:endParaRPr lang="en-US" sz="967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4540098" y="3400425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63" name="Text 61"/>
            <p:cNvSpPr/>
            <p:nvPr/>
          </p:nvSpPr>
          <p:spPr>
            <a:xfrm>
              <a:off x="4540098" y="3400425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UT</a:t>
              </a:r>
              <a:endParaRPr lang="en-US" sz="967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4933004" y="3400425"/>
              <a:ext cx="361156" cy="361156"/>
            </a:xfrm>
            <a:prstGeom prst="rect">
              <a:avLst/>
            </a:prstGeom>
            <a:solidFill>
              <a:srgbClr val="E9EEF9"/>
            </a:solidFill>
            <a:ln/>
          </p:spPr>
        </p:sp>
        <p:sp>
          <p:nvSpPr>
            <p:cNvPr id="65" name="Text 63"/>
            <p:cNvSpPr/>
            <p:nvPr/>
          </p:nvSpPr>
          <p:spPr>
            <a:xfrm>
              <a:off x="4933004" y="3422253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</a:t>
              </a:r>
              <a:endParaRPr lang="en-US" sz="967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4933004" y="3581003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29</a:t>
              </a:r>
              <a:endParaRPr lang="en-US" sz="80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5325910" y="3400425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68" name="Text 66"/>
            <p:cNvSpPr/>
            <p:nvPr/>
          </p:nvSpPr>
          <p:spPr>
            <a:xfrm>
              <a:off x="5325910" y="3400425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KS</a:t>
              </a:r>
              <a:endParaRPr lang="en-US" sz="967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5718816" y="3400425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0" name="Text 68"/>
            <p:cNvSpPr/>
            <p:nvPr/>
          </p:nvSpPr>
          <p:spPr>
            <a:xfrm>
              <a:off x="5718816" y="3400425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</a:t>
              </a:r>
              <a:endParaRPr lang="en-US" sz="967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6111723" y="3400425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2" name="Text 70"/>
            <p:cNvSpPr/>
            <p:nvPr/>
          </p:nvSpPr>
          <p:spPr>
            <a:xfrm>
              <a:off x="6111723" y="3400425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KY</a:t>
              </a:r>
              <a:endParaRPr lang="en-US" sz="967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6504629" y="3400425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4" name="Text 72"/>
            <p:cNvSpPr/>
            <p:nvPr/>
          </p:nvSpPr>
          <p:spPr>
            <a:xfrm>
              <a:off x="6504629" y="3400425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WV</a:t>
              </a:r>
              <a:endParaRPr lang="en-US" sz="967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6897535" y="3400425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6" name="Text 74"/>
            <p:cNvSpPr/>
            <p:nvPr/>
          </p:nvSpPr>
          <p:spPr>
            <a:xfrm>
              <a:off x="6897535" y="3400425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DC</a:t>
              </a:r>
              <a:endParaRPr lang="en-US" sz="967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7290441" y="3400425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8" name="Text 76"/>
            <p:cNvSpPr/>
            <p:nvPr/>
          </p:nvSpPr>
          <p:spPr>
            <a:xfrm>
              <a:off x="7290441" y="3400425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MD</a:t>
              </a:r>
              <a:endParaRPr lang="en-US" sz="967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7683348" y="3400425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0" name="Text 78"/>
            <p:cNvSpPr/>
            <p:nvPr/>
          </p:nvSpPr>
          <p:spPr>
            <a:xfrm>
              <a:off x="7683348" y="3400425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</a:t>
              </a:r>
              <a:endParaRPr lang="en-US" sz="967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4540098" y="3793331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2" name="Text 80"/>
            <p:cNvSpPr/>
            <p:nvPr/>
          </p:nvSpPr>
          <p:spPr>
            <a:xfrm>
              <a:off x="4540098" y="3793331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AZ</a:t>
              </a:r>
              <a:endParaRPr lang="en-US" sz="967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4933004" y="3793331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4" name="Text 82"/>
            <p:cNvSpPr/>
            <p:nvPr/>
          </p:nvSpPr>
          <p:spPr>
            <a:xfrm>
              <a:off x="4933004" y="3793331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NM</a:t>
              </a:r>
              <a:endParaRPr lang="en-US" sz="967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5325910" y="3793331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6" name="Text 84"/>
            <p:cNvSpPr/>
            <p:nvPr/>
          </p:nvSpPr>
          <p:spPr>
            <a:xfrm>
              <a:off x="5325910" y="3793331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OK</a:t>
              </a:r>
              <a:endParaRPr lang="en-US" sz="967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5718816" y="3793331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8" name="Text 86"/>
            <p:cNvSpPr/>
            <p:nvPr/>
          </p:nvSpPr>
          <p:spPr>
            <a:xfrm>
              <a:off x="5718816" y="3793331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AR</a:t>
              </a:r>
              <a:endParaRPr lang="en-US" sz="967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6111723" y="3793331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0" name="Text 88"/>
            <p:cNvSpPr/>
            <p:nvPr/>
          </p:nvSpPr>
          <p:spPr>
            <a:xfrm>
              <a:off x="6111723" y="3793331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TN</a:t>
              </a:r>
              <a:endParaRPr lang="en-US" sz="967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6504629" y="3793331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2" name="Text 90"/>
            <p:cNvSpPr/>
            <p:nvPr/>
          </p:nvSpPr>
          <p:spPr>
            <a:xfrm>
              <a:off x="6504629" y="3793331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VA</a:t>
              </a:r>
              <a:endParaRPr lang="en-US" sz="967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6897535" y="3793331"/>
              <a:ext cx="361156" cy="361156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94" name="Text 92"/>
            <p:cNvSpPr/>
            <p:nvPr/>
          </p:nvSpPr>
          <p:spPr>
            <a:xfrm>
              <a:off x="6897535" y="3815159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NC</a:t>
              </a:r>
              <a:endParaRPr lang="en-US" sz="967" dirty="0"/>
            </a:p>
          </p:txBody>
        </p:sp>
        <p:sp>
          <p:nvSpPr>
            <p:cNvPr id="95" name="Text 93"/>
            <p:cNvSpPr/>
            <p:nvPr/>
          </p:nvSpPr>
          <p:spPr>
            <a:xfrm>
              <a:off x="6897535" y="3973909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800" dirty="0"/>
            </a:p>
          </p:txBody>
        </p:sp>
        <p:sp>
          <p:nvSpPr>
            <p:cNvPr id="96" name="Shape 94"/>
            <p:cNvSpPr/>
            <p:nvPr/>
          </p:nvSpPr>
          <p:spPr>
            <a:xfrm>
              <a:off x="4933004" y="4186238"/>
              <a:ext cx="361156" cy="361156"/>
            </a:xfrm>
            <a:prstGeom prst="rect">
              <a:avLst/>
            </a:prstGeom>
            <a:solidFill>
              <a:srgbClr val="87A4E0"/>
            </a:solidFill>
            <a:ln/>
          </p:spPr>
        </p:sp>
        <p:sp>
          <p:nvSpPr>
            <p:cNvPr id="97" name="Text 95"/>
            <p:cNvSpPr/>
            <p:nvPr/>
          </p:nvSpPr>
          <p:spPr>
            <a:xfrm>
              <a:off x="4933004" y="4208066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TX</a:t>
              </a:r>
              <a:endParaRPr lang="en-US" sz="967" dirty="0"/>
            </a:p>
          </p:txBody>
        </p:sp>
        <p:sp>
          <p:nvSpPr>
            <p:cNvPr id="98" name="Text 96"/>
            <p:cNvSpPr/>
            <p:nvPr/>
          </p:nvSpPr>
          <p:spPr>
            <a:xfrm>
              <a:off x="4933004" y="4366816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95</a:t>
              </a:r>
              <a:endParaRPr lang="en-US" sz="800" dirty="0"/>
            </a:p>
          </p:txBody>
        </p:sp>
        <p:sp>
          <p:nvSpPr>
            <p:cNvPr id="99" name="Shape 97"/>
            <p:cNvSpPr/>
            <p:nvPr/>
          </p:nvSpPr>
          <p:spPr>
            <a:xfrm>
              <a:off x="5325910" y="4186238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0" name="Text 98"/>
            <p:cNvSpPr/>
            <p:nvPr/>
          </p:nvSpPr>
          <p:spPr>
            <a:xfrm>
              <a:off x="5325910" y="4186238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</a:t>
              </a:r>
              <a:endParaRPr lang="en-US" sz="967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5718816" y="4186238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2" name="Text 100"/>
            <p:cNvSpPr/>
            <p:nvPr/>
          </p:nvSpPr>
          <p:spPr>
            <a:xfrm>
              <a:off x="5718816" y="4186238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MS</a:t>
              </a:r>
              <a:endParaRPr lang="en-US" sz="967" dirty="0"/>
            </a:p>
          </p:txBody>
        </p:sp>
        <p:sp>
          <p:nvSpPr>
            <p:cNvPr id="103" name="Shape 101"/>
            <p:cNvSpPr/>
            <p:nvPr/>
          </p:nvSpPr>
          <p:spPr>
            <a:xfrm>
              <a:off x="6111723" y="4186238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4" name="Text 102"/>
            <p:cNvSpPr/>
            <p:nvPr/>
          </p:nvSpPr>
          <p:spPr>
            <a:xfrm>
              <a:off x="6111723" y="4186238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</a:t>
              </a:r>
              <a:endParaRPr lang="en-US" sz="967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6504629" y="4186238"/>
              <a:ext cx="361156" cy="361156"/>
            </a:xfrm>
            <a:prstGeom prst="rect">
              <a:avLst/>
            </a:prstGeom>
            <a:solidFill>
              <a:srgbClr val="ECF0F9"/>
            </a:solidFill>
            <a:ln/>
          </p:spPr>
        </p:sp>
        <p:sp>
          <p:nvSpPr>
            <p:cNvPr id="106" name="Text 104"/>
            <p:cNvSpPr/>
            <p:nvPr/>
          </p:nvSpPr>
          <p:spPr>
            <a:xfrm>
              <a:off x="6504629" y="4208066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GA</a:t>
              </a:r>
              <a:endParaRPr lang="en-US" sz="967" dirty="0"/>
            </a:p>
          </p:txBody>
        </p:sp>
        <p:sp>
          <p:nvSpPr>
            <p:cNvPr id="107" name="Text 105"/>
            <p:cNvSpPr/>
            <p:nvPr/>
          </p:nvSpPr>
          <p:spPr>
            <a:xfrm>
              <a:off x="6504629" y="4366816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27</a:t>
              </a:r>
              <a:endParaRPr lang="en-US" sz="800" dirty="0"/>
            </a:p>
          </p:txBody>
        </p:sp>
        <p:sp>
          <p:nvSpPr>
            <p:cNvPr id="108" name="Shape 106"/>
            <p:cNvSpPr/>
            <p:nvPr/>
          </p:nvSpPr>
          <p:spPr>
            <a:xfrm>
              <a:off x="6897535" y="4186238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9" name="Text 107"/>
            <p:cNvSpPr/>
            <p:nvPr/>
          </p:nvSpPr>
          <p:spPr>
            <a:xfrm>
              <a:off x="6897535" y="4186238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</a:t>
              </a:r>
              <a:endParaRPr lang="en-US" sz="967" dirty="0"/>
            </a:p>
          </p:txBody>
        </p:sp>
        <p:sp>
          <p:nvSpPr>
            <p:cNvPr id="110" name="Shape 108"/>
            <p:cNvSpPr/>
            <p:nvPr/>
          </p:nvSpPr>
          <p:spPr>
            <a:xfrm>
              <a:off x="3754285" y="4579144"/>
              <a:ext cx="361156" cy="361156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11" name="Text 109"/>
            <p:cNvSpPr/>
            <p:nvPr/>
          </p:nvSpPr>
          <p:spPr>
            <a:xfrm>
              <a:off x="3754285" y="4579144"/>
              <a:ext cx="361156" cy="3611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HI</a:t>
              </a:r>
              <a:endParaRPr lang="en-US" sz="967" dirty="0"/>
            </a:p>
          </p:txBody>
        </p:sp>
        <p:sp>
          <p:nvSpPr>
            <p:cNvPr id="112" name="Shape 110"/>
            <p:cNvSpPr/>
            <p:nvPr/>
          </p:nvSpPr>
          <p:spPr>
            <a:xfrm>
              <a:off x="6504629" y="4579144"/>
              <a:ext cx="361156" cy="361156"/>
            </a:xfrm>
            <a:prstGeom prst="rect">
              <a:avLst/>
            </a:prstGeom>
            <a:solidFill>
              <a:srgbClr val="AEC0E8"/>
            </a:solidFill>
            <a:ln/>
          </p:spPr>
        </p:sp>
        <p:sp>
          <p:nvSpPr>
            <p:cNvPr id="113" name="Text 111"/>
            <p:cNvSpPr/>
            <p:nvPr/>
          </p:nvSpPr>
          <p:spPr>
            <a:xfrm>
              <a:off x="6504629" y="4600972"/>
              <a:ext cx="36115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67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FL</a:t>
              </a:r>
              <a:endParaRPr lang="en-US" sz="967" dirty="0"/>
            </a:p>
          </p:txBody>
        </p:sp>
        <p:sp>
          <p:nvSpPr>
            <p:cNvPr id="114" name="Text 112"/>
            <p:cNvSpPr/>
            <p:nvPr/>
          </p:nvSpPr>
          <p:spPr>
            <a:xfrm>
              <a:off x="6504629" y="4759722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800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3754285" y="5035550"/>
              <a:ext cx="69850" cy="1143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116" name="Shape 114"/>
            <p:cNvSpPr/>
            <p:nvPr/>
          </p:nvSpPr>
          <p:spPr>
            <a:xfrm>
              <a:off x="3817785" y="5035550"/>
              <a:ext cx="69850" cy="114300"/>
            </a:xfrm>
            <a:prstGeom prst="rect">
              <a:avLst/>
            </a:prstGeom>
            <a:solidFill>
              <a:srgbClr val="ECF0FA"/>
            </a:solidFill>
            <a:ln/>
          </p:spPr>
        </p:sp>
        <p:sp>
          <p:nvSpPr>
            <p:cNvPr id="117" name="Shape 115"/>
            <p:cNvSpPr/>
            <p:nvPr/>
          </p:nvSpPr>
          <p:spPr>
            <a:xfrm>
              <a:off x="3881285" y="5035550"/>
              <a:ext cx="69850" cy="114300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118" name="Shape 116"/>
            <p:cNvSpPr/>
            <p:nvPr/>
          </p:nvSpPr>
          <p:spPr>
            <a:xfrm>
              <a:off x="3944785" y="5035550"/>
              <a:ext cx="69850" cy="114300"/>
            </a:xfrm>
            <a:prstGeom prst="rect">
              <a:avLst/>
            </a:prstGeom>
            <a:solidFill>
              <a:srgbClr val="E3E9F7"/>
            </a:solidFill>
            <a:ln/>
          </p:spPr>
        </p:sp>
        <p:sp>
          <p:nvSpPr>
            <p:cNvPr id="119" name="Shape 117"/>
            <p:cNvSpPr/>
            <p:nvPr/>
          </p:nvSpPr>
          <p:spPr>
            <a:xfrm>
              <a:off x="4008285" y="5035550"/>
              <a:ext cx="69850" cy="114300"/>
            </a:xfrm>
            <a:prstGeom prst="rect">
              <a:avLst/>
            </a:prstGeom>
            <a:solidFill>
              <a:srgbClr val="DEE5F5"/>
            </a:solidFill>
            <a:ln/>
          </p:spPr>
        </p:sp>
        <p:sp>
          <p:nvSpPr>
            <p:cNvPr id="120" name="Shape 118"/>
            <p:cNvSpPr/>
            <p:nvPr/>
          </p:nvSpPr>
          <p:spPr>
            <a:xfrm>
              <a:off x="4071785" y="5035550"/>
              <a:ext cx="69850" cy="114300"/>
            </a:xfrm>
            <a:prstGeom prst="rect">
              <a:avLst/>
            </a:prstGeom>
            <a:solidFill>
              <a:srgbClr val="D9E0F4"/>
            </a:solidFill>
            <a:ln/>
          </p:spPr>
        </p:sp>
        <p:sp>
          <p:nvSpPr>
            <p:cNvPr id="121" name="Shape 119"/>
            <p:cNvSpPr/>
            <p:nvPr/>
          </p:nvSpPr>
          <p:spPr>
            <a:xfrm>
              <a:off x="4135285" y="5035550"/>
              <a:ext cx="69850" cy="114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122" name="Shape 120"/>
            <p:cNvSpPr/>
            <p:nvPr/>
          </p:nvSpPr>
          <p:spPr>
            <a:xfrm>
              <a:off x="4198785" y="5035550"/>
              <a:ext cx="69850" cy="114300"/>
            </a:xfrm>
            <a:prstGeom prst="rect">
              <a:avLst/>
            </a:prstGeom>
            <a:solidFill>
              <a:srgbClr val="CED8F1"/>
            </a:solidFill>
            <a:ln/>
          </p:spPr>
        </p:sp>
        <p:sp>
          <p:nvSpPr>
            <p:cNvPr id="123" name="Shape 121"/>
            <p:cNvSpPr/>
            <p:nvPr/>
          </p:nvSpPr>
          <p:spPr>
            <a:xfrm>
              <a:off x="4262285" y="5035550"/>
              <a:ext cx="69850" cy="114300"/>
            </a:xfrm>
            <a:prstGeom prst="rect">
              <a:avLst/>
            </a:prstGeom>
            <a:solidFill>
              <a:srgbClr val="C9D4EF"/>
            </a:solidFill>
            <a:ln/>
          </p:spPr>
        </p:sp>
        <p:sp>
          <p:nvSpPr>
            <p:cNvPr id="124" name="Shape 122"/>
            <p:cNvSpPr/>
            <p:nvPr/>
          </p:nvSpPr>
          <p:spPr>
            <a:xfrm>
              <a:off x="4325785" y="5035550"/>
              <a:ext cx="69850" cy="114300"/>
            </a:xfrm>
            <a:prstGeom prst="rect">
              <a:avLst/>
            </a:prstGeom>
            <a:solidFill>
              <a:srgbClr val="C3CFED"/>
            </a:solidFill>
            <a:ln/>
          </p:spPr>
        </p:sp>
        <p:sp>
          <p:nvSpPr>
            <p:cNvPr id="125" name="Shape 123"/>
            <p:cNvSpPr/>
            <p:nvPr/>
          </p:nvSpPr>
          <p:spPr>
            <a:xfrm>
              <a:off x="4389285" y="5035550"/>
              <a:ext cx="69850" cy="114300"/>
            </a:xfrm>
            <a:prstGeom prst="rect">
              <a:avLst/>
            </a:prstGeom>
            <a:solidFill>
              <a:srgbClr val="BDCAEC"/>
            </a:solidFill>
            <a:ln/>
          </p:spPr>
        </p:sp>
        <p:sp>
          <p:nvSpPr>
            <p:cNvPr id="126" name="Shape 124"/>
            <p:cNvSpPr/>
            <p:nvPr/>
          </p:nvSpPr>
          <p:spPr>
            <a:xfrm>
              <a:off x="4452785" y="5035550"/>
              <a:ext cx="69850" cy="114300"/>
            </a:xfrm>
            <a:prstGeom prst="rect">
              <a:avLst/>
            </a:prstGeom>
            <a:solidFill>
              <a:srgbClr val="B6C6EA"/>
            </a:solidFill>
            <a:ln/>
          </p:spPr>
        </p:sp>
        <p:sp>
          <p:nvSpPr>
            <p:cNvPr id="127" name="Shape 125"/>
            <p:cNvSpPr/>
            <p:nvPr/>
          </p:nvSpPr>
          <p:spPr>
            <a:xfrm>
              <a:off x="4516285" y="5035550"/>
              <a:ext cx="69850" cy="114300"/>
            </a:xfrm>
            <a:prstGeom prst="rect">
              <a:avLst/>
            </a:prstGeom>
            <a:solidFill>
              <a:srgbClr val="B0C1E9"/>
            </a:solidFill>
            <a:ln/>
          </p:spPr>
        </p:sp>
        <p:sp>
          <p:nvSpPr>
            <p:cNvPr id="128" name="Shape 126"/>
            <p:cNvSpPr/>
            <p:nvPr/>
          </p:nvSpPr>
          <p:spPr>
            <a:xfrm>
              <a:off x="4579785" y="5035550"/>
              <a:ext cx="69850" cy="114300"/>
            </a:xfrm>
            <a:prstGeom prst="rect">
              <a:avLst/>
            </a:prstGeom>
            <a:solidFill>
              <a:srgbClr val="A9BBE7"/>
            </a:solidFill>
            <a:ln/>
          </p:spPr>
        </p:sp>
        <p:sp>
          <p:nvSpPr>
            <p:cNvPr id="129" name="Shape 127"/>
            <p:cNvSpPr/>
            <p:nvPr/>
          </p:nvSpPr>
          <p:spPr>
            <a:xfrm>
              <a:off x="4643285" y="5035550"/>
              <a:ext cx="69850" cy="114300"/>
            </a:xfrm>
            <a:prstGeom prst="rect">
              <a:avLst/>
            </a:prstGeom>
            <a:solidFill>
              <a:srgbClr val="A1B6E5"/>
            </a:solidFill>
            <a:ln/>
          </p:spPr>
        </p:sp>
        <p:sp>
          <p:nvSpPr>
            <p:cNvPr id="130" name="Shape 128"/>
            <p:cNvSpPr/>
            <p:nvPr/>
          </p:nvSpPr>
          <p:spPr>
            <a:xfrm>
              <a:off x="4706785" y="5035550"/>
              <a:ext cx="69850" cy="114300"/>
            </a:xfrm>
            <a:prstGeom prst="rect">
              <a:avLst/>
            </a:prstGeom>
            <a:solidFill>
              <a:srgbClr val="9AB1E4"/>
            </a:solidFill>
            <a:ln/>
          </p:spPr>
        </p:sp>
        <p:sp>
          <p:nvSpPr>
            <p:cNvPr id="131" name="Shape 129"/>
            <p:cNvSpPr/>
            <p:nvPr/>
          </p:nvSpPr>
          <p:spPr>
            <a:xfrm>
              <a:off x="4770285" y="5035550"/>
              <a:ext cx="69850" cy="114300"/>
            </a:xfrm>
            <a:prstGeom prst="rect">
              <a:avLst/>
            </a:prstGeom>
            <a:solidFill>
              <a:srgbClr val="91ABE2"/>
            </a:solidFill>
            <a:ln/>
          </p:spPr>
        </p:sp>
        <p:sp>
          <p:nvSpPr>
            <p:cNvPr id="132" name="Shape 130"/>
            <p:cNvSpPr/>
            <p:nvPr/>
          </p:nvSpPr>
          <p:spPr>
            <a:xfrm>
              <a:off x="4833785" y="5035550"/>
              <a:ext cx="69850" cy="114300"/>
            </a:xfrm>
            <a:prstGeom prst="rect">
              <a:avLst/>
            </a:prstGeom>
            <a:solidFill>
              <a:srgbClr val="88A5E0"/>
            </a:solidFill>
            <a:ln/>
          </p:spPr>
        </p:sp>
        <p:sp>
          <p:nvSpPr>
            <p:cNvPr id="133" name="Shape 131"/>
            <p:cNvSpPr/>
            <p:nvPr/>
          </p:nvSpPr>
          <p:spPr>
            <a:xfrm>
              <a:off x="4897285" y="5035550"/>
              <a:ext cx="69850" cy="114300"/>
            </a:xfrm>
            <a:prstGeom prst="rect">
              <a:avLst/>
            </a:prstGeom>
            <a:solidFill>
              <a:srgbClr val="7E9EDF"/>
            </a:solidFill>
            <a:ln/>
          </p:spPr>
        </p:sp>
        <p:sp>
          <p:nvSpPr>
            <p:cNvPr id="134" name="Shape 132"/>
            <p:cNvSpPr/>
            <p:nvPr/>
          </p:nvSpPr>
          <p:spPr>
            <a:xfrm>
              <a:off x="4960785" y="5035550"/>
              <a:ext cx="69850" cy="114300"/>
            </a:xfrm>
            <a:prstGeom prst="rect">
              <a:avLst/>
            </a:prstGeom>
            <a:solidFill>
              <a:srgbClr val="7398DD"/>
            </a:solidFill>
            <a:ln/>
          </p:spPr>
        </p:sp>
        <p:sp>
          <p:nvSpPr>
            <p:cNvPr id="135" name="Shape 133"/>
            <p:cNvSpPr/>
            <p:nvPr/>
          </p:nvSpPr>
          <p:spPr>
            <a:xfrm>
              <a:off x="5024285" y="5035550"/>
              <a:ext cx="69850" cy="114300"/>
            </a:xfrm>
            <a:prstGeom prst="rect">
              <a:avLst/>
            </a:prstGeom>
            <a:solidFill>
              <a:srgbClr val="6791DB"/>
            </a:solidFill>
            <a:ln/>
          </p:spPr>
        </p:sp>
        <p:sp>
          <p:nvSpPr>
            <p:cNvPr id="136" name="Shape 134"/>
            <p:cNvSpPr/>
            <p:nvPr/>
          </p:nvSpPr>
          <p:spPr>
            <a:xfrm>
              <a:off x="5087785" y="5035550"/>
              <a:ext cx="69850" cy="114300"/>
            </a:xfrm>
            <a:prstGeom prst="rect">
              <a:avLst/>
            </a:prstGeom>
            <a:solidFill>
              <a:srgbClr val="5889DA"/>
            </a:solidFill>
            <a:ln/>
          </p:spPr>
        </p:sp>
        <p:sp>
          <p:nvSpPr>
            <p:cNvPr id="137" name="Shape 135"/>
            <p:cNvSpPr/>
            <p:nvPr/>
          </p:nvSpPr>
          <p:spPr>
            <a:xfrm>
              <a:off x="5151285" y="5035550"/>
              <a:ext cx="69850" cy="114300"/>
            </a:xfrm>
            <a:prstGeom prst="rect">
              <a:avLst/>
            </a:prstGeom>
            <a:solidFill>
              <a:srgbClr val="4681D8"/>
            </a:solidFill>
            <a:ln/>
          </p:spPr>
        </p:sp>
        <p:sp>
          <p:nvSpPr>
            <p:cNvPr id="138" name="Shape 136"/>
            <p:cNvSpPr/>
            <p:nvPr/>
          </p:nvSpPr>
          <p:spPr>
            <a:xfrm>
              <a:off x="5214785" y="5035550"/>
              <a:ext cx="69850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9" name="Text 137"/>
            <p:cNvSpPr/>
            <p:nvPr/>
          </p:nvSpPr>
          <p:spPr>
            <a:xfrm>
              <a:off x="3754285" y="5156200"/>
              <a:ext cx="762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850" dirty="0"/>
            </a:p>
          </p:txBody>
        </p:sp>
        <p:sp>
          <p:nvSpPr>
            <p:cNvPr id="140" name="Text 138"/>
            <p:cNvSpPr/>
            <p:nvPr/>
          </p:nvSpPr>
          <p:spPr>
            <a:xfrm>
              <a:off x="4516285" y="5156200"/>
              <a:ext cx="762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850" dirty="0"/>
            </a:p>
          </p:txBody>
        </p:sp>
        <p:sp>
          <p:nvSpPr>
            <p:cNvPr id="141" name="Shape 139"/>
            <p:cNvSpPr/>
            <p:nvPr/>
          </p:nvSpPr>
          <p:spPr>
            <a:xfrm>
              <a:off x="5405285" y="5035550"/>
              <a:ext cx="114300" cy="114300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42" name="Text 140"/>
            <p:cNvSpPr/>
            <p:nvPr/>
          </p:nvSpPr>
          <p:spPr>
            <a:xfrm>
              <a:off x="5544985" y="5010150"/>
              <a:ext cx="76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 data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owerChart" descr="line chart. 1 data series: Orders. 5 categories: Jan, Feb, Mar, Apr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Highlighted max point (per-cell color on line)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27720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48116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68512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Apr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88908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May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644748" y="315468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294228" y="297561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 flipV="1">
              <a:off x="3675228" y="2945130"/>
              <a:ext cx="1203960" cy="24003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4848708" y="291465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498188" y="273558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135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 flipV="1">
              <a:off x="4879188" y="2257044"/>
              <a:ext cx="1203960" cy="68808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6039968" y="2213864"/>
              <a:ext cx="86360" cy="86360"/>
            </a:xfrm>
            <a:prstGeom prst="rect">
              <a:avLst/>
            </a:prstGeom>
            <a:solidFill>
              <a:srgbClr val="E3494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5702148" y="2047494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E3494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178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083148" y="2257044"/>
              <a:ext cx="1203960" cy="44805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7256628" y="26746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906108" y="249555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150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 flipV="1">
              <a:off x="7287108" y="2513076"/>
              <a:ext cx="1203960" cy="19202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8460588" y="2482596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8110068" y="2303526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162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073248" y="5105400"/>
              <a:ext cx="6019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PowerChart" descr="line chart. 1 data series: Base rate. 6 categories: Jan, Feb, Mar, Apr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Stepped line (staircase)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4038600"/>
              <a:ext cx="484378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2971800"/>
              <a:ext cx="484378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1905000"/>
              <a:ext cx="484378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0.0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1.0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3.0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479648" y="5143500"/>
              <a:ext cx="80729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286944" y="5143500"/>
              <a:ext cx="80729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094241" y="5143500"/>
              <a:ext cx="80729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901538" y="5143500"/>
              <a:ext cx="80729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Apr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708834" y="5143500"/>
              <a:ext cx="80729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May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516131" y="5143500"/>
              <a:ext cx="80729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Jun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852816" y="29413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883296" y="2971800"/>
              <a:ext cx="807297" cy="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4690593" y="2971800"/>
              <a:ext cx="0" cy="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660113" y="29413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690593" y="2971800"/>
              <a:ext cx="807297" cy="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497889" y="2438400"/>
              <a:ext cx="0" cy="53340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467409" y="24079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497889" y="2438400"/>
              <a:ext cx="807297" cy="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6305186" y="2438400"/>
              <a:ext cx="0" cy="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6274706" y="24079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305186" y="2438400"/>
              <a:ext cx="807297" cy="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7112483" y="1905000"/>
              <a:ext cx="0" cy="53340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7082003" y="18745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112483" y="1905000"/>
              <a:ext cx="807297" cy="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7919779" y="1905000"/>
              <a:ext cx="0" cy="26670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889299" y="21412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3479648" y="5105400"/>
              <a:ext cx="48437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8374228" y="2085975"/>
              <a:ext cx="7696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Base rate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PowerChart" descr="area chart. 2 data series: Mobile, Desktop. 5 categories: 2021, 2022, 2023, 2024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Stepped area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40386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29718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19050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479648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475836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472024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468212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464400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977742" y="4422648"/>
              <a:ext cx="1002538" cy="68275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4973930" y="4145280"/>
              <a:ext cx="1002538" cy="9601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5970118" y="3825240"/>
              <a:ext cx="1002538" cy="128016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6966306" y="3526536"/>
              <a:ext cx="1002538" cy="157886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3977742" y="3633216"/>
              <a:ext cx="1002538" cy="78943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4973930" y="3377184"/>
              <a:ext cx="1002538" cy="76809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5970118" y="3099816"/>
              <a:ext cx="1002538" cy="72542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6966306" y="2886456"/>
              <a:ext cx="1002538" cy="64008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3479648" y="5105400"/>
              <a:ext cx="49809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8511388" y="3120771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Desktop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511388" y="4230243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Mobile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PowerChart" descr="butterfly chart. 2 data series: Women, Men. 5 categories: &lt;30, 30–39, 40–49, 50–59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71900"/>
            <a:chOff x="3047848" y="1524000"/>
            <a:chExt cx="6096000" cy="37719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Butterfly with value ticks on both flanks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479648" y="1803400"/>
              <a:ext cx="236855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Women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6343498" y="1803400"/>
              <a:ext cx="236855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Men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256060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6935635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4663923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7527773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4071785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8119910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3479648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8712048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848198" y="224282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&lt;30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604709" y="2134023"/>
              <a:ext cx="1243489" cy="4080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604709" y="2242820"/>
              <a:ext cx="124348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343498" y="2134023"/>
              <a:ext cx="1125061" cy="4080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6343498" y="2242820"/>
              <a:ext cx="112506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380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848198" y="285496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30–39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042178" y="2746163"/>
              <a:ext cx="1806019" cy="4080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042178" y="2854960"/>
              <a:ext cx="180601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610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343498" y="2746163"/>
              <a:ext cx="1924447" cy="4080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6343498" y="2854960"/>
              <a:ext cx="192444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650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848198" y="346710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40–49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249426" y="3358303"/>
              <a:ext cx="1598771" cy="4080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4249426" y="3467100"/>
              <a:ext cx="159877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540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343498" y="3358303"/>
              <a:ext cx="1776413" cy="4080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6343498" y="3467100"/>
              <a:ext cx="17764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600</a:t>
              </a:r>
              <a:endParaRPr lang="en-US" sz="10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848198" y="407924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50–59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900778" y="3970443"/>
              <a:ext cx="947420" cy="4080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4900778" y="4079240"/>
              <a:ext cx="9474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320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6343498" y="3970443"/>
              <a:ext cx="1213882" cy="4080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6343498" y="4079240"/>
              <a:ext cx="121388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410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5848198" y="469138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60+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5492915" y="4582583"/>
              <a:ext cx="355282" cy="4080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5492915" y="4691380"/>
              <a:ext cx="35528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6343498" y="4582583"/>
              <a:ext cx="473710" cy="4080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6343498" y="4691380"/>
              <a:ext cx="47371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160</a:t>
              </a:r>
              <a:endParaRPr lang="en-US" sz="10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5848198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6343498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5632298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85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127598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85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5040160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200</a:t>
              </a:r>
              <a:endParaRPr lang="en-US" sz="85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719735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200</a:t>
              </a:r>
              <a:endParaRPr lang="en-US" sz="85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4448023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400</a:t>
              </a:r>
              <a:endParaRPr lang="en-US" sz="85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7311873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400</a:t>
              </a:r>
              <a:endParaRPr lang="en-US" sz="85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3855885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600</a:t>
              </a:r>
              <a:endParaRPr lang="en-US" sz="85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7904010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600</a:t>
              </a:r>
              <a:endParaRPr lang="en-US" sz="85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3263748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800</a:t>
              </a:r>
              <a:endParaRPr lang="en-US" sz="85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8496148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800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PowerChart" descr="clustered column chart. 2 data series: 2024, 2025. 4 categories: Q1, Q2, Q3, Q4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Clustered overlap (Excel-style, 45%)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7151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86978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26805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312643" y="3425190"/>
              <a:ext cx="588706" cy="168021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3261843" y="4170045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643416" y="3065145"/>
              <a:ext cx="588706" cy="204025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592616" y="3990023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710913" y="3185160"/>
              <a:ext cx="588706" cy="192024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4660113" y="4050030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041686" y="2905125"/>
              <a:ext cx="588706" cy="220027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4990886" y="3910013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109183" y="3305175"/>
              <a:ext cx="588706" cy="180022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6058383" y="4110038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439956" y="2785110"/>
              <a:ext cx="588706" cy="232029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389156" y="3850005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507453" y="2665095"/>
              <a:ext cx="588706" cy="244030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7456653" y="3789998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7838226" y="2305050"/>
              <a:ext cx="588706" cy="280035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7787426" y="3609975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073248" y="5105400"/>
              <a:ext cx="55930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8717128" y="3619500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717128" y="3799523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PowerChart" descr="stacked column chart. 3 data series: Enterprise, SMB, Consumer. 4 categories: 2022, 2023, 2024, 2025."/>
          <p:cNvGrpSpPr/>
          <p:nvPr>
            <p:custDataLst>
              <p:tags r:id="rId3"/>
            </p:custDataLst>
          </p:nvPr>
        </p:nvGrpSpPr>
        <p:grpSpPr>
          <a:xfrm>
            <a:off x="3022448" y="1524000"/>
            <a:ext cx="6121400" cy="3797300"/>
            <a:chOff x="3022448" y="1524000"/>
            <a:chExt cx="61214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Narrow gap width (histogram look, gapWidth 0)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686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40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9594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073248" y="4411641"/>
              <a:ext cx="1295400" cy="69375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22448" y="4663271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073248" y="3962739"/>
              <a:ext cx="1295400" cy="44890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22448" y="4091940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073248" y="3595455"/>
              <a:ext cx="1295400" cy="36728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22448" y="3683847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73248" y="3411305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368648" y="4289213"/>
              <a:ext cx="1295400" cy="81618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317848" y="4602057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368648" y="3758692"/>
              <a:ext cx="1295400" cy="53052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317848" y="3928703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368648" y="3411813"/>
              <a:ext cx="1295400" cy="34687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317848" y="3490002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368648" y="322766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664048" y="4146381"/>
              <a:ext cx="1295400" cy="95901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613248" y="4530640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664048" y="3513836"/>
              <a:ext cx="1295400" cy="63254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613248" y="3734858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664048" y="3126147"/>
              <a:ext cx="1295400" cy="38768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613248" y="3224742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664048" y="2941997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959448" y="3962739"/>
              <a:ext cx="1295400" cy="1142661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6908648" y="4438819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959448" y="3248575"/>
              <a:ext cx="1295400" cy="71416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6908648" y="3510407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959448" y="2799673"/>
              <a:ext cx="1295400" cy="44890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908648" y="2928874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959448" y="261552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113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073248" y="51054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8305648" y="2938399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305648" y="3519932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305648" y="4448344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PowerChart" descr="area chart. 1 data series: Net income. 6 categories: 2020, 2021, 2022, 2023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Area with negative values (net income over time)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05400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4465320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3185160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3479648" y="2545080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3479648" y="1905000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-20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43764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047848" y="3736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47848" y="30962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047848" y="24561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79648" y="5143500"/>
              <a:ext cx="79586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2020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275514" y="5143500"/>
              <a:ext cx="79586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071381" y="5143500"/>
              <a:ext cx="79586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867248" y="5143500"/>
              <a:ext cx="79586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663114" y="5143500"/>
              <a:ext cx="79586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458981" y="5143500"/>
              <a:ext cx="79586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877581" y="3081147"/>
              <a:ext cx="56092" cy="76009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3927323" y="3129153"/>
              <a:ext cx="56092" cy="7440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3977064" y="3177159"/>
              <a:ext cx="56092" cy="72809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4026806" y="3225165"/>
              <a:ext cx="56092" cy="71208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4076548" y="3273171"/>
              <a:ext cx="56092" cy="69608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4126289" y="3321177"/>
              <a:ext cx="56092" cy="68008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4176031" y="3369183"/>
              <a:ext cx="56092" cy="66408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4225773" y="3417189"/>
              <a:ext cx="56092" cy="64808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4275514" y="3465195"/>
              <a:ext cx="56092" cy="63207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4325256" y="3513201"/>
              <a:ext cx="56092" cy="61607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4374998" y="3561207"/>
              <a:ext cx="56092" cy="60007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4424739" y="3609213"/>
              <a:ext cx="56092" cy="58407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4474481" y="3657219"/>
              <a:ext cx="56092" cy="56807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4524223" y="3705225"/>
              <a:ext cx="56092" cy="55206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4573964" y="3753231"/>
              <a:ext cx="56092" cy="53606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4623706" y="3801237"/>
              <a:ext cx="56092" cy="52006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4673448" y="3825240"/>
              <a:ext cx="56092" cy="52606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4723189" y="3825240"/>
              <a:ext cx="56092" cy="55406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4772931" y="3825240"/>
              <a:ext cx="56092" cy="58207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4822673" y="3825240"/>
              <a:ext cx="56092" cy="61007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4872414" y="3825240"/>
              <a:ext cx="56092" cy="63808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4922156" y="3825240"/>
              <a:ext cx="56092" cy="66608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4971898" y="3825240"/>
              <a:ext cx="56092" cy="69408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5021639" y="3825240"/>
              <a:ext cx="56092" cy="72209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5071381" y="3825240"/>
              <a:ext cx="56092" cy="7500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5121123" y="3825240"/>
              <a:ext cx="56092" cy="77809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5170864" y="3825240"/>
              <a:ext cx="56092" cy="80610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5220606" y="3825240"/>
              <a:ext cx="56092" cy="83410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5270348" y="3825240"/>
              <a:ext cx="56092" cy="86210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5320089" y="3825240"/>
              <a:ext cx="56092" cy="89011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5369831" y="3825240"/>
              <a:ext cx="56092" cy="91811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5419573" y="3825240"/>
              <a:ext cx="56092" cy="94611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5469314" y="3817239"/>
              <a:ext cx="56092" cy="93811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5519056" y="3801237"/>
              <a:ext cx="56092" cy="89411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5568798" y="3785235"/>
              <a:ext cx="56092" cy="85010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5618539" y="3769233"/>
              <a:ext cx="56092" cy="80610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5668281" y="3753231"/>
              <a:ext cx="56092" cy="76209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5718023" y="3737229"/>
              <a:ext cx="56092" cy="71809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5767764" y="3721227"/>
              <a:ext cx="56092" cy="67408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5817506" y="3705225"/>
              <a:ext cx="56092" cy="63007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5867248" y="3689223"/>
              <a:ext cx="56092" cy="58607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5916989" y="3673221"/>
              <a:ext cx="56092" cy="54206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5966731" y="3657219"/>
              <a:ext cx="56092" cy="49806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6016473" y="3641217"/>
              <a:ext cx="56092" cy="45405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6066214" y="3625215"/>
              <a:ext cx="56092" cy="41005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6115956" y="3609213"/>
              <a:ext cx="56092" cy="36604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6165698" y="3593211"/>
              <a:ext cx="56092" cy="32204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6215439" y="3577209"/>
              <a:ext cx="56092" cy="27803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6265181" y="3541205"/>
              <a:ext cx="56092" cy="28403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6314923" y="3485198"/>
              <a:ext cx="56092" cy="34004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6364664" y="3429191"/>
              <a:ext cx="56092" cy="39604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6414406" y="3373184"/>
              <a:ext cx="56092" cy="45205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6464148" y="3317177"/>
              <a:ext cx="56092" cy="50806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6513889" y="3261170"/>
              <a:ext cx="56092" cy="56407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6563631" y="3205163"/>
              <a:ext cx="56092" cy="62007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6613373" y="3149156"/>
              <a:ext cx="56092" cy="67608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6663114" y="3093149"/>
              <a:ext cx="56092" cy="73209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6712856" y="3037142"/>
              <a:ext cx="56092" cy="78809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6762598" y="2981135"/>
              <a:ext cx="56092" cy="84410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6812339" y="2925128"/>
              <a:ext cx="56092" cy="90011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6862081" y="2869121"/>
              <a:ext cx="56092" cy="95611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6911823" y="2813114"/>
              <a:ext cx="56092" cy="101212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6961564" y="2757107"/>
              <a:ext cx="56092" cy="10681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7011306" y="2701100"/>
              <a:ext cx="56092" cy="112414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7061048" y="2657094"/>
              <a:ext cx="56092" cy="116814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5" name="Shape 83"/>
            <p:cNvSpPr/>
            <p:nvPr/>
          </p:nvSpPr>
          <p:spPr>
            <a:xfrm>
              <a:off x="7110789" y="2625090"/>
              <a:ext cx="56092" cy="120015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6" name="Shape 84"/>
            <p:cNvSpPr/>
            <p:nvPr/>
          </p:nvSpPr>
          <p:spPr>
            <a:xfrm>
              <a:off x="7160531" y="2593086"/>
              <a:ext cx="56092" cy="123215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7" name="Shape 85"/>
            <p:cNvSpPr/>
            <p:nvPr/>
          </p:nvSpPr>
          <p:spPr>
            <a:xfrm>
              <a:off x="7210273" y="2561082"/>
              <a:ext cx="56092" cy="126415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8" name="Shape 86"/>
            <p:cNvSpPr/>
            <p:nvPr/>
          </p:nvSpPr>
          <p:spPr>
            <a:xfrm>
              <a:off x="7260014" y="2529078"/>
              <a:ext cx="56092" cy="129616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9" name="Shape 87"/>
            <p:cNvSpPr/>
            <p:nvPr/>
          </p:nvSpPr>
          <p:spPr>
            <a:xfrm>
              <a:off x="7309756" y="2497074"/>
              <a:ext cx="56092" cy="132816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0" name="Shape 88"/>
            <p:cNvSpPr/>
            <p:nvPr/>
          </p:nvSpPr>
          <p:spPr>
            <a:xfrm>
              <a:off x="7359498" y="2465070"/>
              <a:ext cx="56092" cy="136017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1" name="Shape 89"/>
            <p:cNvSpPr/>
            <p:nvPr/>
          </p:nvSpPr>
          <p:spPr>
            <a:xfrm>
              <a:off x="7409239" y="2433066"/>
              <a:ext cx="56092" cy="139217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2" name="Shape 90"/>
            <p:cNvSpPr/>
            <p:nvPr/>
          </p:nvSpPr>
          <p:spPr>
            <a:xfrm>
              <a:off x="7458981" y="2401062"/>
              <a:ext cx="56092" cy="142417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3" name="Shape 91"/>
            <p:cNvSpPr/>
            <p:nvPr/>
          </p:nvSpPr>
          <p:spPr>
            <a:xfrm>
              <a:off x="7508723" y="2369058"/>
              <a:ext cx="56092" cy="145618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4" name="Shape 92"/>
            <p:cNvSpPr/>
            <p:nvPr/>
          </p:nvSpPr>
          <p:spPr>
            <a:xfrm>
              <a:off x="7558464" y="2337054"/>
              <a:ext cx="56092" cy="148818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5" name="Shape 93"/>
            <p:cNvSpPr/>
            <p:nvPr/>
          </p:nvSpPr>
          <p:spPr>
            <a:xfrm>
              <a:off x="7608206" y="2305050"/>
              <a:ext cx="56092" cy="152019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6" name="Shape 94"/>
            <p:cNvSpPr/>
            <p:nvPr/>
          </p:nvSpPr>
          <p:spPr>
            <a:xfrm>
              <a:off x="7657948" y="2273046"/>
              <a:ext cx="56092" cy="15521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7" name="Shape 95"/>
            <p:cNvSpPr/>
            <p:nvPr/>
          </p:nvSpPr>
          <p:spPr>
            <a:xfrm>
              <a:off x="7707689" y="2241042"/>
              <a:ext cx="56092" cy="158419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8" name="Shape 96"/>
            <p:cNvSpPr/>
            <p:nvPr/>
          </p:nvSpPr>
          <p:spPr>
            <a:xfrm>
              <a:off x="7757431" y="2209038"/>
              <a:ext cx="56092" cy="161620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7807173" y="2177034"/>
              <a:ext cx="56092" cy="164820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0" name="Shape 98"/>
            <p:cNvSpPr/>
            <p:nvPr/>
          </p:nvSpPr>
          <p:spPr>
            <a:xfrm>
              <a:off x="3479648" y="3825240"/>
              <a:ext cx="47752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01" name="Text 99"/>
            <p:cNvSpPr/>
            <p:nvPr/>
          </p:nvSpPr>
          <p:spPr>
            <a:xfrm>
              <a:off x="8305648" y="2907411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Net income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PowerChart" descr="scatter plot. 2 data series: X, Y. 6 categories: 2019, 2020, 2021, 2022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99200" cy="3810000"/>
            <a:chOff x="3047848" y="1524000"/>
            <a:chExt cx="62992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Trajectory trail (one entity over time)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79648" y="448056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43916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383032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37414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79648" y="318008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30911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79648" y="252984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47848" y="24409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479648" y="18796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047848" y="1790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236570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3479648" y="18796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3479648" y="4480560"/>
              <a:ext cx="1112520" cy="260096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 rot="6180000">
              <a:off x="3935641" y="4548243"/>
              <a:ext cx="101600" cy="1016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24" name="Shape 22"/>
            <p:cNvSpPr/>
            <p:nvPr/>
          </p:nvSpPr>
          <p:spPr>
            <a:xfrm flipV="1">
              <a:off x="4592168" y="3830320"/>
              <a:ext cx="695325" cy="910336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 rot="2220000">
              <a:off x="4858194" y="4275059"/>
              <a:ext cx="101600" cy="1016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5287493" y="3830320"/>
              <a:ext cx="1668780" cy="130048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 rot="5640000">
              <a:off x="6020436" y="3840597"/>
              <a:ext cx="101600" cy="1016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28" name="Shape 26"/>
            <p:cNvSpPr/>
            <p:nvPr/>
          </p:nvSpPr>
          <p:spPr>
            <a:xfrm flipV="1">
              <a:off x="6956273" y="2854960"/>
              <a:ext cx="973455" cy="1105408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 rot="2460000">
              <a:off x="7358627" y="3394988"/>
              <a:ext cx="101600" cy="1016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30" name="Shape 28"/>
            <p:cNvSpPr/>
            <p:nvPr/>
          </p:nvSpPr>
          <p:spPr>
            <a:xfrm flipV="1">
              <a:off x="7929728" y="2009648"/>
              <a:ext cx="1112520" cy="845312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 rot="3180000">
              <a:off x="8394739" y="2412238"/>
              <a:ext cx="101600" cy="1016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3441548" y="444246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4554068" y="4702556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5249393" y="379222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6918173" y="392226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7891628" y="281686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9004148" y="197154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3543148" y="4398010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2019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4655668" y="4658106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2020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5350993" y="3747770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7019773" y="3877818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7993228" y="2772410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8679028" y="1927098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PowerChart" descr="box-and-whisker plot. 10 data series: s1, s2, s3, s4 and 6 more. 3 categories: North, South, East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Boxplot with jittered raw-data dots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43764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3736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30962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24561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479648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350781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221914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415214" y="2865120"/>
              <a:ext cx="0" cy="56007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415214" y="4145280"/>
              <a:ext cx="0" cy="32004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4183662" y="286512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183662" y="446532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3900653" y="3425190"/>
              <a:ext cx="1029123" cy="72009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900653" y="3825240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4493341" y="444627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178869" y="412623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687696" y="412623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4373224" y="412623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4058752" y="380619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4567578" y="380619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4253106" y="380619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4761933" y="348615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4447461" y="316611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4132989" y="284607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3900653" y="3634740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</a:t>
              </a:r>
              <a:endParaRPr lang="en-US" sz="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6286348" y="1905000"/>
              <a:ext cx="0" cy="56007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6286348" y="3505200"/>
              <a:ext cx="0" cy="32004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054795" y="190500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054795" y="382524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5771786" y="2465070"/>
              <a:ext cx="1029123" cy="104013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5771786" y="3185160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6364475" y="380619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6050003" y="348615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6558829" y="348615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6244357" y="348615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5929885" y="316611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6438712" y="316611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6124240" y="284607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6633066" y="252603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6318594" y="220599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6004122" y="188595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5771786" y="2994660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</a:t>
              </a:r>
              <a:endParaRPr lang="en-US" sz="9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8157481" y="3505200"/>
              <a:ext cx="0" cy="32004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8157481" y="4465320"/>
              <a:ext cx="0" cy="32004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8" name="Shape 46"/>
            <p:cNvSpPr/>
            <p:nvPr/>
          </p:nvSpPr>
          <p:spPr>
            <a:xfrm>
              <a:off x="7925928" y="350520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9" name="Shape 47"/>
            <p:cNvSpPr/>
            <p:nvPr/>
          </p:nvSpPr>
          <p:spPr>
            <a:xfrm>
              <a:off x="7925928" y="478536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>
              <a:off x="7642919" y="3825240"/>
              <a:ext cx="1029123" cy="64008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51" name="Shape 49"/>
            <p:cNvSpPr/>
            <p:nvPr/>
          </p:nvSpPr>
          <p:spPr>
            <a:xfrm>
              <a:off x="7642919" y="4145280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52" name="Shape 50"/>
            <p:cNvSpPr/>
            <p:nvPr/>
          </p:nvSpPr>
          <p:spPr>
            <a:xfrm>
              <a:off x="8235608" y="476631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7921136" y="444627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>
              <a:off x="8429963" y="444627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55" name="Shape 53"/>
            <p:cNvSpPr/>
            <p:nvPr/>
          </p:nvSpPr>
          <p:spPr>
            <a:xfrm>
              <a:off x="8115491" y="444627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>
              <a:off x="7801018" y="412623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57" name="Shape 55"/>
            <p:cNvSpPr/>
            <p:nvPr/>
          </p:nvSpPr>
          <p:spPr>
            <a:xfrm>
              <a:off x="8309845" y="412623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58" name="Shape 56"/>
            <p:cNvSpPr/>
            <p:nvPr/>
          </p:nvSpPr>
          <p:spPr>
            <a:xfrm>
              <a:off x="7995373" y="412623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>
              <a:off x="8504199" y="380619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60" name="Shape 58"/>
            <p:cNvSpPr/>
            <p:nvPr/>
          </p:nvSpPr>
          <p:spPr>
            <a:xfrm>
              <a:off x="8189727" y="380619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61" name="Shape 59"/>
            <p:cNvSpPr/>
            <p:nvPr/>
          </p:nvSpPr>
          <p:spPr>
            <a:xfrm>
              <a:off x="7875255" y="348615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62" name="Text 60"/>
            <p:cNvSpPr/>
            <p:nvPr/>
          </p:nvSpPr>
          <p:spPr>
            <a:xfrm>
              <a:off x="7642919" y="3954780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PowerChart" descr="scatter plot. 3 data series: X, Y, Color. 8 categories: Alpha, Bravo, Core, Delta and 4 more."/>
          <p:cNvGrpSpPr/>
          <p:nvPr>
            <p:custDataLst>
              <p:tags r:id="rId3"/>
            </p:custDataLst>
          </p:nvPr>
        </p:nvGrpSpPr>
        <p:grpSpPr>
          <a:xfrm>
            <a:off x="2971648" y="1524000"/>
            <a:ext cx="6375400" cy="3810000"/>
            <a:chOff x="2971648" y="1524000"/>
            <a:chExt cx="63754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Continuous color scale (a Color row)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79648" y="452628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44373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392176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38328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79648" y="331724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3228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79648" y="271272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47848" y="26238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479648" y="21082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047848" y="2019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205709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3479648" y="2108200"/>
              <a:ext cx="0" cy="30226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3479648" y="1936750"/>
              <a:ext cx="53975" cy="88900"/>
            </a:xfrm>
            <a:prstGeom prst="rect">
              <a:avLst/>
            </a:prstGeom>
            <a:solidFill>
              <a:srgbClr val="EFF2FA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3527273" y="1936750"/>
              <a:ext cx="53975" cy="88900"/>
            </a:xfrm>
            <a:prstGeom prst="rect">
              <a:avLst/>
            </a:prstGeom>
            <a:solidFill>
              <a:srgbClr val="EAEFF9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3574898" y="1936750"/>
              <a:ext cx="53975" cy="88900"/>
            </a:xfrm>
            <a:prstGeom prst="rect">
              <a:avLst/>
            </a:prstGeom>
            <a:solidFill>
              <a:srgbClr val="E6EBF7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3622523" y="1936750"/>
              <a:ext cx="53975" cy="88900"/>
            </a:xfrm>
            <a:prstGeom prst="rect">
              <a:avLst/>
            </a:prstGeom>
            <a:solidFill>
              <a:srgbClr val="E1E7F6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3670148" y="1936750"/>
              <a:ext cx="53975" cy="88900"/>
            </a:xfrm>
            <a:prstGeom prst="rect">
              <a:avLst/>
            </a:prstGeom>
            <a:solidFill>
              <a:srgbClr val="DCE3F5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3717773" y="1936750"/>
              <a:ext cx="53975" cy="88900"/>
            </a:xfrm>
            <a:prstGeom prst="rect">
              <a:avLst/>
            </a:prstGeom>
            <a:solidFill>
              <a:srgbClr val="D8DFF3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3765398" y="1936750"/>
              <a:ext cx="53975" cy="88900"/>
            </a:xfrm>
            <a:prstGeom prst="rect">
              <a:avLst/>
            </a:prstGeom>
            <a:solidFill>
              <a:srgbClr val="D2DBF2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3813023" y="1936750"/>
              <a:ext cx="53975" cy="88900"/>
            </a:xfrm>
            <a:prstGeom prst="rect">
              <a:avLst/>
            </a:prstGeom>
            <a:solidFill>
              <a:srgbClr val="CDD7F0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3860648" y="1936750"/>
              <a:ext cx="53975" cy="88900"/>
            </a:xfrm>
            <a:prstGeom prst="rect">
              <a:avLst/>
            </a:prstGeom>
            <a:solidFill>
              <a:srgbClr val="C8D3EF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3908273" y="1936750"/>
              <a:ext cx="53975" cy="88900"/>
            </a:xfrm>
            <a:prstGeom prst="rect">
              <a:avLst/>
            </a:prstGeom>
            <a:solidFill>
              <a:srgbClr val="C2CFED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3955898" y="1936750"/>
              <a:ext cx="53975" cy="88900"/>
            </a:xfrm>
            <a:prstGeom prst="rect">
              <a:avLst/>
            </a:prstGeom>
            <a:solidFill>
              <a:srgbClr val="BCCAEC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4003523" y="1936750"/>
              <a:ext cx="53975" cy="88900"/>
            </a:xfrm>
            <a:prstGeom prst="rect">
              <a:avLst/>
            </a:prstGeom>
            <a:solidFill>
              <a:srgbClr val="B6C5EA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4051148" y="1936750"/>
              <a:ext cx="53975" cy="88900"/>
            </a:xfrm>
            <a:prstGeom prst="rect">
              <a:avLst/>
            </a:prstGeom>
            <a:solidFill>
              <a:srgbClr val="B0C1E9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4098773" y="1936750"/>
              <a:ext cx="53975" cy="88900"/>
            </a:xfrm>
            <a:prstGeom prst="rect">
              <a:avLst/>
            </a:prstGeom>
            <a:solidFill>
              <a:srgbClr val="A9BCE7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4146398" y="1936750"/>
              <a:ext cx="53975" cy="88900"/>
            </a:xfrm>
            <a:prstGeom prst="rect">
              <a:avLst/>
            </a:prstGeom>
            <a:solidFill>
              <a:srgbClr val="A2B7E6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4194023" y="1936750"/>
              <a:ext cx="53975" cy="88900"/>
            </a:xfrm>
            <a:prstGeom prst="rect">
              <a:avLst/>
            </a:prstGeom>
            <a:solidFill>
              <a:srgbClr val="9BB1E4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4241648" y="1936750"/>
              <a:ext cx="53975" cy="88900"/>
            </a:xfrm>
            <a:prstGeom prst="rect">
              <a:avLst/>
            </a:prstGeom>
            <a:solidFill>
              <a:srgbClr val="93ACE2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4289273" y="1936750"/>
              <a:ext cx="53975" cy="88900"/>
            </a:xfrm>
            <a:prstGeom prst="rect">
              <a:avLst/>
            </a:prstGeom>
            <a:solidFill>
              <a:srgbClr val="8AA6E1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4336898" y="1936750"/>
              <a:ext cx="53975" cy="88900"/>
            </a:xfrm>
            <a:prstGeom prst="rect">
              <a:avLst/>
            </a:prstGeom>
            <a:solidFill>
              <a:srgbClr val="81A0DF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4384523" y="1936750"/>
              <a:ext cx="53975" cy="88900"/>
            </a:xfrm>
            <a:prstGeom prst="rect">
              <a:avLst/>
            </a:prstGeom>
            <a:solidFill>
              <a:srgbClr val="779ADE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4432148" y="1936750"/>
              <a:ext cx="53975" cy="88900"/>
            </a:xfrm>
            <a:prstGeom prst="rect">
              <a:avLst/>
            </a:prstGeom>
            <a:solidFill>
              <a:srgbClr val="6B93DC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4479773" y="1936750"/>
              <a:ext cx="53975" cy="88900"/>
            </a:xfrm>
            <a:prstGeom prst="rect">
              <a:avLst/>
            </a:prstGeom>
            <a:solidFill>
              <a:srgbClr val="5E8CDA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4527398" y="1936750"/>
              <a:ext cx="53975" cy="88900"/>
            </a:xfrm>
            <a:prstGeom prst="rect">
              <a:avLst/>
            </a:prstGeom>
            <a:solidFill>
              <a:srgbClr val="4E84D9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4575023" y="1936750"/>
              <a:ext cx="53975" cy="88900"/>
            </a:xfrm>
            <a:prstGeom prst="rect">
              <a:avLst/>
            </a:prstGeom>
            <a:solidFill>
              <a:srgbClr val="397CD7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2971648" y="1917700"/>
              <a:ext cx="482600" cy="127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Color</a:t>
              </a:r>
              <a:endParaRPr lang="en-US" sz="85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3479648" y="2032000"/>
              <a:ext cx="1143000" cy="127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75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3479648" y="2032000"/>
              <a:ext cx="1143000" cy="127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7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75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4275938" y="4488180"/>
              <a:ext cx="76200" cy="76200"/>
            </a:xfrm>
            <a:prstGeom prst="ellipse">
              <a:avLst/>
            </a:prstGeom>
            <a:solidFill>
              <a:srgbClr val="F1F4FB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>
              <a:off x="5179860" y="2976880"/>
              <a:ext cx="76200" cy="76200"/>
            </a:xfrm>
            <a:prstGeom prst="ellipse">
              <a:avLst/>
            </a:prstGeom>
            <a:solidFill>
              <a:srgbClr val="D6DEF3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1" name="Shape 49"/>
            <p:cNvSpPr/>
            <p:nvPr/>
          </p:nvSpPr>
          <p:spPr>
            <a:xfrm>
              <a:off x="6222848" y="3762756"/>
              <a:ext cx="76200" cy="76200"/>
            </a:xfrm>
            <a:prstGeom prst="ellipse">
              <a:avLst/>
            </a:prstGeom>
            <a:solidFill>
              <a:srgbClr val="BBC9EB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2" name="Shape 50"/>
            <p:cNvSpPr/>
            <p:nvPr/>
          </p:nvSpPr>
          <p:spPr>
            <a:xfrm>
              <a:off x="7265835" y="2070100"/>
              <a:ext cx="76200" cy="76200"/>
            </a:xfrm>
            <a:prstGeom prst="ellipse">
              <a:avLst/>
            </a:prstGeom>
            <a:solidFill>
              <a:srgbClr val="A5B9E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7752563" y="4185920"/>
              <a:ext cx="76200" cy="76200"/>
            </a:xfrm>
            <a:prstGeom prst="ellipse">
              <a:avLst/>
            </a:prstGeom>
            <a:solidFill>
              <a:srgbClr val="7C9DDE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>
              <a:off x="8586953" y="267462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5" name="Shape 53"/>
            <p:cNvSpPr/>
            <p:nvPr/>
          </p:nvSpPr>
          <p:spPr>
            <a:xfrm>
              <a:off x="5527523" y="4971796"/>
              <a:ext cx="76200" cy="76200"/>
            </a:xfrm>
            <a:prstGeom prst="ellipse">
              <a:avLst/>
            </a:prstGeom>
            <a:solidFill>
              <a:srgbClr val="E2E8F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>
              <a:off x="6779108" y="3279140"/>
              <a:ext cx="76200" cy="76200"/>
            </a:xfrm>
            <a:prstGeom prst="ellipse">
              <a:avLst/>
            </a:prstGeom>
            <a:solidFill>
              <a:srgbClr val="C4D0EE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7" name="Text 55"/>
            <p:cNvSpPr/>
            <p:nvPr/>
          </p:nvSpPr>
          <p:spPr>
            <a:xfrm>
              <a:off x="4377538" y="444373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Alpha</a:t>
              </a:r>
              <a:endParaRPr lang="en-US" sz="10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5281460" y="293243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Bravo</a:t>
              </a:r>
              <a:endParaRPr lang="en-US" sz="10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6324448" y="3718306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Core</a:t>
              </a:r>
              <a:endParaRPr lang="en-US" sz="100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7119785" y="217170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Delta</a:t>
              </a:r>
              <a:endParaRPr lang="en-US" sz="10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7854163" y="4141470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Echo</a:t>
              </a:r>
              <a:endParaRPr lang="en-US" sz="10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8056093" y="2630170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Foxtrot</a:t>
              </a:r>
              <a:endParaRPr lang="en-US" sz="10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5629123" y="4927346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Golf</a:t>
              </a:r>
              <a:endParaRPr lang="en-US" sz="100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6880708" y="323469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Hotel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PowerChart" descr="line chart. 2 data series: A, B. 7 categories: Jan, Feb, Mar, Apr and 3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Smoothed line (Catmull-Rom)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4305300"/>
              <a:ext cx="539242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3505200"/>
              <a:ext cx="539242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2705100"/>
              <a:ext cx="539242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3479648" y="1905000"/>
              <a:ext cx="539242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42164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3416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047848" y="26162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479648" y="5143500"/>
              <a:ext cx="7703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249993" y="5143500"/>
              <a:ext cx="7703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020339" y="5143500"/>
              <a:ext cx="7703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790685" y="5143500"/>
              <a:ext cx="7703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Apr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561030" y="5143500"/>
              <a:ext cx="7703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May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331376" y="5143500"/>
              <a:ext cx="7703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Jun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8101722" y="5143500"/>
              <a:ext cx="7703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Jul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 flipV="1">
              <a:off x="3864820" y="4267331"/>
              <a:ext cx="26988" cy="3796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 flipV="1">
              <a:off x="3891809" y="4217203"/>
              <a:ext cx="32443" cy="5012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 flipV="1">
              <a:off x="3924251" y="4156820"/>
              <a:ext cx="37332" cy="6038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 flipV="1">
              <a:off x="3961584" y="4088085"/>
              <a:ext cx="41658" cy="6873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 flipV="1">
              <a:off x="4003242" y="4012905"/>
              <a:ext cx="45420" cy="7518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 flipV="1">
              <a:off x="4048662" y="3933183"/>
              <a:ext cx="48617" cy="7972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 flipV="1">
              <a:off x="4097278" y="3850824"/>
              <a:ext cx="51250" cy="8235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 flipV="1">
              <a:off x="4148528" y="3767733"/>
              <a:ext cx="53319" cy="8309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 flipV="1">
              <a:off x="4201847" y="3685813"/>
              <a:ext cx="54823" cy="8191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 flipV="1">
              <a:off x="4256670" y="3606971"/>
              <a:ext cx="55764" cy="7884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 flipV="1">
              <a:off x="4312433" y="3533109"/>
              <a:ext cx="56140" cy="7386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 flipV="1">
              <a:off x="4368573" y="3466133"/>
              <a:ext cx="55952" cy="6697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 flipV="1">
              <a:off x="4424525" y="3407947"/>
              <a:ext cx="55199" cy="5818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 flipV="1">
              <a:off x="4479724" y="3360455"/>
              <a:ext cx="53883" cy="4749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 flipV="1">
              <a:off x="4533607" y="3325563"/>
              <a:ext cx="52002" cy="3489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 flipV="1">
              <a:off x="4585609" y="3305175"/>
              <a:ext cx="49557" cy="2038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 flipV="1">
              <a:off x="4635166" y="3301659"/>
              <a:ext cx="48147" cy="351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4683313" y="3301659"/>
              <a:ext cx="48147" cy="1289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4731459" y="3314551"/>
              <a:ext cx="48147" cy="2695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4779606" y="3341508"/>
              <a:ext cx="48147" cy="3867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4827753" y="3380184"/>
              <a:ext cx="48147" cy="4805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4875899" y="3428237"/>
              <a:ext cx="48147" cy="5508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4924046" y="3483322"/>
              <a:ext cx="48147" cy="5977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4972192" y="3543095"/>
              <a:ext cx="48147" cy="6211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5020339" y="3605213"/>
              <a:ext cx="48147" cy="6211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5068486" y="3667330"/>
              <a:ext cx="48147" cy="5977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5116632" y="3727103"/>
              <a:ext cx="48147" cy="5508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5164779" y="3782188"/>
              <a:ext cx="48147" cy="4805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5212925" y="3830241"/>
              <a:ext cx="48147" cy="3867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8" name="Shape 46"/>
            <p:cNvSpPr/>
            <p:nvPr/>
          </p:nvSpPr>
          <p:spPr>
            <a:xfrm>
              <a:off x="5261072" y="3868917"/>
              <a:ext cx="48147" cy="2695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9" name="Shape 47"/>
            <p:cNvSpPr/>
            <p:nvPr/>
          </p:nvSpPr>
          <p:spPr>
            <a:xfrm>
              <a:off x="5309219" y="3895874"/>
              <a:ext cx="48147" cy="1289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 flipV="1">
              <a:off x="5357365" y="3905250"/>
              <a:ext cx="48147" cy="351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1" name="Shape 49"/>
            <p:cNvSpPr/>
            <p:nvPr/>
          </p:nvSpPr>
          <p:spPr>
            <a:xfrm flipV="1">
              <a:off x="5405512" y="3883763"/>
              <a:ext cx="48147" cy="2148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2" name="Shape 50"/>
            <p:cNvSpPr/>
            <p:nvPr/>
          </p:nvSpPr>
          <p:spPr>
            <a:xfrm flipV="1">
              <a:off x="5453658" y="3845868"/>
              <a:ext cx="48147" cy="3789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 flipV="1">
              <a:off x="5501805" y="3793908"/>
              <a:ext cx="48147" cy="5196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 flipV="1">
              <a:off x="5549952" y="3730228"/>
              <a:ext cx="48147" cy="6368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5" name="Shape 53"/>
            <p:cNvSpPr/>
            <p:nvPr/>
          </p:nvSpPr>
          <p:spPr>
            <a:xfrm flipV="1">
              <a:off x="5598098" y="3657172"/>
              <a:ext cx="48147" cy="7305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 flipV="1">
              <a:off x="5646245" y="3577084"/>
              <a:ext cx="48147" cy="8008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7" name="Shape 55"/>
            <p:cNvSpPr/>
            <p:nvPr/>
          </p:nvSpPr>
          <p:spPr>
            <a:xfrm flipV="1">
              <a:off x="5694392" y="3492308"/>
              <a:ext cx="48147" cy="8477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8" name="Shape 56"/>
            <p:cNvSpPr/>
            <p:nvPr/>
          </p:nvSpPr>
          <p:spPr>
            <a:xfrm flipV="1">
              <a:off x="5742538" y="3405188"/>
              <a:ext cx="48147" cy="8712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 flipV="1">
              <a:off x="5790685" y="3318067"/>
              <a:ext cx="48147" cy="8712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0" name="Shape 58"/>
            <p:cNvSpPr/>
            <p:nvPr/>
          </p:nvSpPr>
          <p:spPr>
            <a:xfrm flipV="1">
              <a:off x="5838831" y="3233291"/>
              <a:ext cx="48147" cy="8477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1" name="Shape 59"/>
            <p:cNvSpPr/>
            <p:nvPr/>
          </p:nvSpPr>
          <p:spPr>
            <a:xfrm flipV="1">
              <a:off x="5886978" y="3153203"/>
              <a:ext cx="48147" cy="8008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2" name="Shape 60"/>
            <p:cNvSpPr/>
            <p:nvPr/>
          </p:nvSpPr>
          <p:spPr>
            <a:xfrm flipV="1">
              <a:off x="5935125" y="3080147"/>
              <a:ext cx="48147" cy="7305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3" name="Shape 61"/>
            <p:cNvSpPr/>
            <p:nvPr/>
          </p:nvSpPr>
          <p:spPr>
            <a:xfrm flipV="1">
              <a:off x="5983271" y="3016467"/>
              <a:ext cx="48147" cy="6368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4" name="Shape 62"/>
            <p:cNvSpPr/>
            <p:nvPr/>
          </p:nvSpPr>
          <p:spPr>
            <a:xfrm flipV="1">
              <a:off x="6031418" y="2964507"/>
              <a:ext cx="48147" cy="5196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5" name="Shape 63"/>
            <p:cNvSpPr/>
            <p:nvPr/>
          </p:nvSpPr>
          <p:spPr>
            <a:xfrm flipV="1">
              <a:off x="6079564" y="2926612"/>
              <a:ext cx="48147" cy="3789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6" name="Shape 64"/>
            <p:cNvSpPr/>
            <p:nvPr/>
          </p:nvSpPr>
          <p:spPr>
            <a:xfrm flipV="1">
              <a:off x="6127711" y="2905125"/>
              <a:ext cx="48147" cy="2148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7" name="Shape 65"/>
            <p:cNvSpPr/>
            <p:nvPr/>
          </p:nvSpPr>
          <p:spPr>
            <a:xfrm flipV="1">
              <a:off x="6175858" y="2901389"/>
              <a:ext cx="48147" cy="373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8" name="Shape 66"/>
            <p:cNvSpPr/>
            <p:nvPr/>
          </p:nvSpPr>
          <p:spPr>
            <a:xfrm>
              <a:off x="6224004" y="2901389"/>
              <a:ext cx="48147" cy="1229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9" name="Shape 67"/>
            <p:cNvSpPr/>
            <p:nvPr/>
          </p:nvSpPr>
          <p:spPr>
            <a:xfrm>
              <a:off x="6272151" y="2913681"/>
              <a:ext cx="48147" cy="2606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0" name="Shape 68"/>
            <p:cNvSpPr/>
            <p:nvPr/>
          </p:nvSpPr>
          <p:spPr>
            <a:xfrm>
              <a:off x="6320297" y="2939744"/>
              <a:ext cx="48147" cy="3757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1" name="Shape 69"/>
            <p:cNvSpPr/>
            <p:nvPr/>
          </p:nvSpPr>
          <p:spPr>
            <a:xfrm>
              <a:off x="6368444" y="2977322"/>
              <a:ext cx="48147" cy="4683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2" name="Shape 70"/>
            <p:cNvSpPr/>
            <p:nvPr/>
          </p:nvSpPr>
          <p:spPr>
            <a:xfrm>
              <a:off x="6416591" y="3024158"/>
              <a:ext cx="48147" cy="5384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3" name="Shape 71"/>
            <p:cNvSpPr/>
            <p:nvPr/>
          </p:nvSpPr>
          <p:spPr>
            <a:xfrm>
              <a:off x="6464737" y="3077998"/>
              <a:ext cx="48147" cy="5858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4" name="Shape 72"/>
            <p:cNvSpPr/>
            <p:nvPr/>
          </p:nvSpPr>
          <p:spPr>
            <a:xfrm>
              <a:off x="6512884" y="3136585"/>
              <a:ext cx="48147" cy="6107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5" name="Shape 73"/>
            <p:cNvSpPr/>
            <p:nvPr/>
          </p:nvSpPr>
          <p:spPr>
            <a:xfrm>
              <a:off x="6561030" y="3197662"/>
              <a:ext cx="48147" cy="6131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6" name="Shape 74"/>
            <p:cNvSpPr/>
            <p:nvPr/>
          </p:nvSpPr>
          <p:spPr>
            <a:xfrm>
              <a:off x="6609177" y="3258973"/>
              <a:ext cx="48147" cy="5929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7" name="Shape 75"/>
            <p:cNvSpPr/>
            <p:nvPr/>
          </p:nvSpPr>
          <p:spPr>
            <a:xfrm>
              <a:off x="6657324" y="3318263"/>
              <a:ext cx="48147" cy="5501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8" name="Shape 76"/>
            <p:cNvSpPr/>
            <p:nvPr/>
          </p:nvSpPr>
          <p:spPr>
            <a:xfrm>
              <a:off x="6705470" y="3373274"/>
              <a:ext cx="48147" cy="4847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9" name="Shape 77"/>
            <p:cNvSpPr/>
            <p:nvPr/>
          </p:nvSpPr>
          <p:spPr>
            <a:xfrm>
              <a:off x="6753617" y="3421752"/>
              <a:ext cx="48147" cy="3968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0" name="Shape 78"/>
            <p:cNvSpPr/>
            <p:nvPr/>
          </p:nvSpPr>
          <p:spPr>
            <a:xfrm>
              <a:off x="6801763" y="3461440"/>
              <a:ext cx="48147" cy="2864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1" name="Shape 79"/>
            <p:cNvSpPr/>
            <p:nvPr/>
          </p:nvSpPr>
          <p:spPr>
            <a:xfrm>
              <a:off x="6849910" y="3490081"/>
              <a:ext cx="48147" cy="1533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2" name="Shape 80"/>
            <p:cNvSpPr/>
            <p:nvPr/>
          </p:nvSpPr>
          <p:spPr>
            <a:xfrm flipV="1">
              <a:off x="6898057" y="3505200"/>
              <a:ext cx="48147" cy="22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3" name="Shape 81"/>
            <p:cNvSpPr/>
            <p:nvPr/>
          </p:nvSpPr>
          <p:spPr>
            <a:xfrm flipV="1">
              <a:off x="6946203" y="3488211"/>
              <a:ext cx="48147" cy="1698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4" name="Shape 82"/>
            <p:cNvSpPr/>
            <p:nvPr/>
          </p:nvSpPr>
          <p:spPr>
            <a:xfrm flipV="1">
              <a:off x="6994350" y="3456170"/>
              <a:ext cx="48147" cy="3204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5" name="Shape 83"/>
            <p:cNvSpPr/>
            <p:nvPr/>
          </p:nvSpPr>
          <p:spPr>
            <a:xfrm flipV="1">
              <a:off x="7042497" y="3411219"/>
              <a:ext cx="48147" cy="4495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6" name="Shape 84"/>
            <p:cNvSpPr/>
            <p:nvPr/>
          </p:nvSpPr>
          <p:spPr>
            <a:xfrm flipV="1">
              <a:off x="7090643" y="3355494"/>
              <a:ext cx="48147" cy="5572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7" name="Shape 85"/>
            <p:cNvSpPr/>
            <p:nvPr/>
          </p:nvSpPr>
          <p:spPr>
            <a:xfrm flipV="1">
              <a:off x="7138790" y="3291135"/>
              <a:ext cx="48147" cy="6435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8" name="Shape 86"/>
            <p:cNvSpPr/>
            <p:nvPr/>
          </p:nvSpPr>
          <p:spPr>
            <a:xfrm flipV="1">
              <a:off x="7186936" y="3220282"/>
              <a:ext cx="48147" cy="7085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9" name="Shape 87"/>
            <p:cNvSpPr/>
            <p:nvPr/>
          </p:nvSpPr>
          <p:spPr>
            <a:xfrm flipV="1">
              <a:off x="7235083" y="3145072"/>
              <a:ext cx="48147" cy="7521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0" name="Shape 88"/>
            <p:cNvSpPr/>
            <p:nvPr/>
          </p:nvSpPr>
          <p:spPr>
            <a:xfrm flipV="1">
              <a:off x="7283230" y="3067645"/>
              <a:ext cx="48147" cy="7742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1" name="Shape 89"/>
            <p:cNvSpPr/>
            <p:nvPr/>
          </p:nvSpPr>
          <p:spPr>
            <a:xfrm flipV="1">
              <a:off x="7331376" y="2990141"/>
              <a:ext cx="48147" cy="7750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2" name="Shape 90"/>
            <p:cNvSpPr/>
            <p:nvPr/>
          </p:nvSpPr>
          <p:spPr>
            <a:xfrm flipV="1">
              <a:off x="7379523" y="2914697"/>
              <a:ext cx="48147" cy="7544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3" name="Shape 91"/>
            <p:cNvSpPr/>
            <p:nvPr/>
          </p:nvSpPr>
          <p:spPr>
            <a:xfrm flipV="1">
              <a:off x="7427669" y="2843452"/>
              <a:ext cx="48147" cy="7124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4" name="Shape 92"/>
            <p:cNvSpPr/>
            <p:nvPr/>
          </p:nvSpPr>
          <p:spPr>
            <a:xfrm flipV="1">
              <a:off x="7475816" y="2778547"/>
              <a:ext cx="48147" cy="6490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5" name="Shape 93"/>
            <p:cNvSpPr/>
            <p:nvPr/>
          </p:nvSpPr>
          <p:spPr>
            <a:xfrm flipV="1">
              <a:off x="7523963" y="2722119"/>
              <a:ext cx="48147" cy="5642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6" name="Shape 94"/>
            <p:cNvSpPr/>
            <p:nvPr/>
          </p:nvSpPr>
          <p:spPr>
            <a:xfrm flipV="1">
              <a:off x="7572109" y="2676307"/>
              <a:ext cx="48147" cy="4581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7" name="Shape 95"/>
            <p:cNvSpPr/>
            <p:nvPr/>
          </p:nvSpPr>
          <p:spPr>
            <a:xfrm flipV="1">
              <a:off x="7620256" y="2643251"/>
              <a:ext cx="48147" cy="3305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8" name="Shape 96"/>
            <p:cNvSpPr/>
            <p:nvPr/>
          </p:nvSpPr>
          <p:spPr>
            <a:xfrm flipV="1">
              <a:off x="7668402" y="2625090"/>
              <a:ext cx="48147" cy="1816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9" name="Shape 97"/>
            <p:cNvSpPr/>
            <p:nvPr/>
          </p:nvSpPr>
          <p:spPr>
            <a:xfrm>
              <a:off x="7716549" y="2625090"/>
              <a:ext cx="49557" cy="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0" name="Shape 98"/>
            <p:cNvSpPr/>
            <p:nvPr/>
          </p:nvSpPr>
          <p:spPr>
            <a:xfrm>
              <a:off x="7766106" y="2625090"/>
              <a:ext cx="52002" cy="492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1" name="Shape 99"/>
            <p:cNvSpPr/>
            <p:nvPr/>
          </p:nvSpPr>
          <p:spPr>
            <a:xfrm>
              <a:off x="7818108" y="2630012"/>
              <a:ext cx="53883" cy="1895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2" name="Shape 100"/>
            <p:cNvSpPr/>
            <p:nvPr/>
          </p:nvSpPr>
          <p:spPr>
            <a:xfrm>
              <a:off x="7871991" y="2648970"/>
              <a:ext cx="55199" cy="2800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3" name="Shape 101"/>
            <p:cNvSpPr/>
            <p:nvPr/>
          </p:nvSpPr>
          <p:spPr>
            <a:xfrm>
              <a:off x="7927190" y="2676971"/>
              <a:ext cx="55952" cy="3558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4" name="Shape 102"/>
            <p:cNvSpPr/>
            <p:nvPr/>
          </p:nvSpPr>
          <p:spPr>
            <a:xfrm>
              <a:off x="7983142" y="2712552"/>
              <a:ext cx="56140" cy="4169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5" name="Shape 103"/>
            <p:cNvSpPr/>
            <p:nvPr/>
          </p:nvSpPr>
          <p:spPr>
            <a:xfrm>
              <a:off x="8039282" y="2754247"/>
              <a:ext cx="55764" cy="4634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6" name="Shape 104"/>
            <p:cNvSpPr/>
            <p:nvPr/>
          </p:nvSpPr>
          <p:spPr>
            <a:xfrm>
              <a:off x="8095045" y="2800590"/>
              <a:ext cx="54823" cy="4952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7" name="Shape 105"/>
            <p:cNvSpPr/>
            <p:nvPr/>
          </p:nvSpPr>
          <p:spPr>
            <a:xfrm>
              <a:off x="8149868" y="2850118"/>
              <a:ext cx="53319" cy="5124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8" name="Shape 106"/>
            <p:cNvSpPr/>
            <p:nvPr/>
          </p:nvSpPr>
          <p:spPr>
            <a:xfrm>
              <a:off x="8203187" y="2901365"/>
              <a:ext cx="51250" cy="5150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9" name="Shape 107"/>
            <p:cNvSpPr/>
            <p:nvPr/>
          </p:nvSpPr>
          <p:spPr>
            <a:xfrm>
              <a:off x="8254437" y="2952865"/>
              <a:ext cx="48617" cy="5028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10" name="Shape 108"/>
            <p:cNvSpPr/>
            <p:nvPr/>
          </p:nvSpPr>
          <p:spPr>
            <a:xfrm>
              <a:off x="8303054" y="3003155"/>
              <a:ext cx="45420" cy="4761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11" name="Shape 109"/>
            <p:cNvSpPr/>
            <p:nvPr/>
          </p:nvSpPr>
          <p:spPr>
            <a:xfrm>
              <a:off x="8348473" y="3050768"/>
              <a:ext cx="41658" cy="4347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12" name="Shape 110"/>
            <p:cNvSpPr/>
            <p:nvPr/>
          </p:nvSpPr>
          <p:spPr>
            <a:xfrm>
              <a:off x="8390131" y="3094240"/>
              <a:ext cx="37332" cy="3786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13" name="Shape 111"/>
            <p:cNvSpPr/>
            <p:nvPr/>
          </p:nvSpPr>
          <p:spPr>
            <a:xfrm>
              <a:off x="8427464" y="3132106"/>
              <a:ext cx="32443" cy="3079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14" name="Shape 112"/>
            <p:cNvSpPr/>
            <p:nvPr/>
          </p:nvSpPr>
          <p:spPr>
            <a:xfrm>
              <a:off x="8459906" y="3162901"/>
              <a:ext cx="26988" cy="2225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15" name="Shape 113"/>
            <p:cNvSpPr/>
            <p:nvPr/>
          </p:nvSpPr>
          <p:spPr>
            <a:xfrm>
              <a:off x="3834340" y="42748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6" name="Shape 114"/>
            <p:cNvSpPr/>
            <p:nvPr/>
          </p:nvSpPr>
          <p:spPr>
            <a:xfrm>
              <a:off x="4604686" y="3274695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7" name="Shape 115"/>
            <p:cNvSpPr/>
            <p:nvPr/>
          </p:nvSpPr>
          <p:spPr>
            <a:xfrm>
              <a:off x="5375032" y="387477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8" name="Shape 116"/>
            <p:cNvSpPr/>
            <p:nvPr/>
          </p:nvSpPr>
          <p:spPr>
            <a:xfrm>
              <a:off x="6145378" y="2874645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9" name="Shape 117"/>
            <p:cNvSpPr/>
            <p:nvPr/>
          </p:nvSpPr>
          <p:spPr>
            <a:xfrm>
              <a:off x="6915723" y="34747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0" name="Shape 118"/>
            <p:cNvSpPr/>
            <p:nvPr/>
          </p:nvSpPr>
          <p:spPr>
            <a:xfrm>
              <a:off x="7686069" y="259461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1" name="Shape 119"/>
            <p:cNvSpPr/>
            <p:nvPr/>
          </p:nvSpPr>
          <p:spPr>
            <a:xfrm>
              <a:off x="8456415" y="315468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2" name="Shape 120"/>
            <p:cNvSpPr/>
            <p:nvPr/>
          </p:nvSpPr>
          <p:spPr>
            <a:xfrm flipV="1">
              <a:off x="3864820" y="4495441"/>
              <a:ext cx="26988" cy="988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23" name="Shape 121"/>
            <p:cNvSpPr/>
            <p:nvPr/>
          </p:nvSpPr>
          <p:spPr>
            <a:xfrm flipV="1">
              <a:off x="3891809" y="4483447"/>
              <a:ext cx="32443" cy="1199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24" name="Shape 122"/>
            <p:cNvSpPr/>
            <p:nvPr/>
          </p:nvSpPr>
          <p:spPr>
            <a:xfrm flipV="1">
              <a:off x="3924251" y="4469578"/>
              <a:ext cx="37332" cy="1386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25" name="Shape 123"/>
            <p:cNvSpPr/>
            <p:nvPr/>
          </p:nvSpPr>
          <p:spPr>
            <a:xfrm flipV="1">
              <a:off x="3961584" y="4454069"/>
              <a:ext cx="41658" cy="1551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26" name="Shape 124"/>
            <p:cNvSpPr/>
            <p:nvPr/>
          </p:nvSpPr>
          <p:spPr>
            <a:xfrm flipV="1">
              <a:off x="4003242" y="4437152"/>
              <a:ext cx="45420" cy="1691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27" name="Shape 125"/>
            <p:cNvSpPr/>
            <p:nvPr/>
          </p:nvSpPr>
          <p:spPr>
            <a:xfrm flipV="1">
              <a:off x="4048662" y="4419064"/>
              <a:ext cx="48617" cy="1808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28" name="Shape 126"/>
            <p:cNvSpPr/>
            <p:nvPr/>
          </p:nvSpPr>
          <p:spPr>
            <a:xfrm flipV="1">
              <a:off x="4097278" y="4400038"/>
              <a:ext cx="51250" cy="1902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29" name="Shape 127"/>
            <p:cNvSpPr/>
            <p:nvPr/>
          </p:nvSpPr>
          <p:spPr>
            <a:xfrm flipV="1">
              <a:off x="4148528" y="4380309"/>
              <a:ext cx="53319" cy="1972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0" name="Shape 128"/>
            <p:cNvSpPr/>
            <p:nvPr/>
          </p:nvSpPr>
          <p:spPr>
            <a:xfrm flipV="1">
              <a:off x="4201847" y="4360112"/>
              <a:ext cx="54823" cy="2019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1" name="Shape 129"/>
            <p:cNvSpPr/>
            <p:nvPr/>
          </p:nvSpPr>
          <p:spPr>
            <a:xfrm flipV="1">
              <a:off x="4256670" y="4339679"/>
              <a:ext cx="55764" cy="2043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2" name="Shape 130"/>
            <p:cNvSpPr/>
            <p:nvPr/>
          </p:nvSpPr>
          <p:spPr>
            <a:xfrm flipV="1">
              <a:off x="4312433" y="4319247"/>
              <a:ext cx="56140" cy="2043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3" name="Shape 131"/>
            <p:cNvSpPr/>
            <p:nvPr/>
          </p:nvSpPr>
          <p:spPr>
            <a:xfrm flipV="1">
              <a:off x="4368573" y="4299049"/>
              <a:ext cx="55952" cy="2019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4" name="Shape 132"/>
            <p:cNvSpPr/>
            <p:nvPr/>
          </p:nvSpPr>
          <p:spPr>
            <a:xfrm flipV="1">
              <a:off x="4424525" y="4279320"/>
              <a:ext cx="55199" cy="1972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5" name="Shape 133"/>
            <p:cNvSpPr/>
            <p:nvPr/>
          </p:nvSpPr>
          <p:spPr>
            <a:xfrm flipV="1">
              <a:off x="4479724" y="4260294"/>
              <a:ext cx="53883" cy="1902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6" name="Shape 134"/>
            <p:cNvSpPr/>
            <p:nvPr/>
          </p:nvSpPr>
          <p:spPr>
            <a:xfrm flipV="1">
              <a:off x="4533607" y="4242206"/>
              <a:ext cx="52002" cy="1808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7" name="Shape 135"/>
            <p:cNvSpPr/>
            <p:nvPr/>
          </p:nvSpPr>
          <p:spPr>
            <a:xfrm flipV="1">
              <a:off x="4585609" y="4225290"/>
              <a:ext cx="49557" cy="1691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8" name="Shape 136"/>
            <p:cNvSpPr/>
            <p:nvPr/>
          </p:nvSpPr>
          <p:spPr>
            <a:xfrm flipV="1">
              <a:off x="4635166" y="4208603"/>
              <a:ext cx="48147" cy="1668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9" name="Shape 137"/>
            <p:cNvSpPr/>
            <p:nvPr/>
          </p:nvSpPr>
          <p:spPr>
            <a:xfrm flipV="1">
              <a:off x="4683313" y="4191184"/>
              <a:ext cx="48147" cy="1741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0" name="Shape 138"/>
            <p:cNvSpPr/>
            <p:nvPr/>
          </p:nvSpPr>
          <p:spPr>
            <a:xfrm flipV="1">
              <a:off x="4731459" y="4173238"/>
              <a:ext cx="48147" cy="1794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1" name="Shape 139"/>
            <p:cNvSpPr/>
            <p:nvPr/>
          </p:nvSpPr>
          <p:spPr>
            <a:xfrm flipV="1">
              <a:off x="4779606" y="4154969"/>
              <a:ext cx="48147" cy="1826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2" name="Shape 140"/>
            <p:cNvSpPr/>
            <p:nvPr/>
          </p:nvSpPr>
          <p:spPr>
            <a:xfrm flipV="1">
              <a:off x="4827753" y="4136583"/>
              <a:ext cx="48147" cy="1838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3" name="Shape 141"/>
            <p:cNvSpPr/>
            <p:nvPr/>
          </p:nvSpPr>
          <p:spPr>
            <a:xfrm flipV="1">
              <a:off x="4875899" y="4118284"/>
              <a:ext cx="48147" cy="1829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4" name="Shape 142"/>
            <p:cNvSpPr/>
            <p:nvPr/>
          </p:nvSpPr>
          <p:spPr>
            <a:xfrm flipV="1">
              <a:off x="4924046" y="4100279"/>
              <a:ext cx="48147" cy="1800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5" name="Shape 143"/>
            <p:cNvSpPr/>
            <p:nvPr/>
          </p:nvSpPr>
          <p:spPr>
            <a:xfrm flipV="1">
              <a:off x="4972192" y="4082772"/>
              <a:ext cx="48147" cy="1750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6" name="Shape 144"/>
            <p:cNvSpPr/>
            <p:nvPr/>
          </p:nvSpPr>
          <p:spPr>
            <a:xfrm flipV="1">
              <a:off x="5020339" y="4065968"/>
              <a:ext cx="48147" cy="1680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7" name="Shape 145"/>
            <p:cNvSpPr/>
            <p:nvPr/>
          </p:nvSpPr>
          <p:spPr>
            <a:xfrm flipV="1">
              <a:off x="5068486" y="4050073"/>
              <a:ext cx="48147" cy="1589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8" name="Shape 146"/>
            <p:cNvSpPr/>
            <p:nvPr/>
          </p:nvSpPr>
          <p:spPr>
            <a:xfrm flipV="1">
              <a:off x="5116632" y="4035291"/>
              <a:ext cx="48147" cy="1478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9" name="Shape 147"/>
            <p:cNvSpPr/>
            <p:nvPr/>
          </p:nvSpPr>
          <p:spPr>
            <a:xfrm flipV="1">
              <a:off x="5164779" y="4021827"/>
              <a:ext cx="48147" cy="1346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0" name="Shape 148"/>
            <p:cNvSpPr/>
            <p:nvPr/>
          </p:nvSpPr>
          <p:spPr>
            <a:xfrm flipV="1">
              <a:off x="5212925" y="4009887"/>
              <a:ext cx="48147" cy="1194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1" name="Shape 149"/>
            <p:cNvSpPr/>
            <p:nvPr/>
          </p:nvSpPr>
          <p:spPr>
            <a:xfrm flipV="1">
              <a:off x="5261072" y="3999676"/>
              <a:ext cx="48147" cy="1021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2" name="Shape 150"/>
            <p:cNvSpPr/>
            <p:nvPr/>
          </p:nvSpPr>
          <p:spPr>
            <a:xfrm flipV="1">
              <a:off x="5309219" y="3991398"/>
              <a:ext cx="48147" cy="827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3" name="Shape 151"/>
            <p:cNvSpPr/>
            <p:nvPr/>
          </p:nvSpPr>
          <p:spPr>
            <a:xfrm flipV="1">
              <a:off x="5357365" y="3985260"/>
              <a:ext cx="48147" cy="613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4" name="Shape 152"/>
            <p:cNvSpPr/>
            <p:nvPr/>
          </p:nvSpPr>
          <p:spPr>
            <a:xfrm flipV="1">
              <a:off x="5405512" y="3982276"/>
              <a:ext cx="48147" cy="298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5" name="Shape 153"/>
            <p:cNvSpPr/>
            <p:nvPr/>
          </p:nvSpPr>
          <p:spPr>
            <a:xfrm>
              <a:off x="5453658" y="3982276"/>
              <a:ext cx="48147" cy="67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6" name="Shape 154"/>
            <p:cNvSpPr/>
            <p:nvPr/>
          </p:nvSpPr>
          <p:spPr>
            <a:xfrm>
              <a:off x="5501805" y="3982955"/>
              <a:ext cx="48147" cy="378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7" name="Shape 155"/>
            <p:cNvSpPr/>
            <p:nvPr/>
          </p:nvSpPr>
          <p:spPr>
            <a:xfrm>
              <a:off x="5549952" y="3986740"/>
              <a:ext cx="48147" cy="633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8" name="Shape 156"/>
            <p:cNvSpPr/>
            <p:nvPr/>
          </p:nvSpPr>
          <p:spPr>
            <a:xfrm>
              <a:off x="5598098" y="3993073"/>
              <a:ext cx="48147" cy="832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9" name="Shape 157"/>
            <p:cNvSpPr/>
            <p:nvPr/>
          </p:nvSpPr>
          <p:spPr>
            <a:xfrm>
              <a:off x="5646245" y="4001400"/>
              <a:ext cx="48147" cy="976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0" name="Shape 158"/>
            <p:cNvSpPr/>
            <p:nvPr/>
          </p:nvSpPr>
          <p:spPr>
            <a:xfrm>
              <a:off x="5694392" y="4011162"/>
              <a:ext cx="48147" cy="1064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1" name="Shape 159"/>
            <p:cNvSpPr/>
            <p:nvPr/>
          </p:nvSpPr>
          <p:spPr>
            <a:xfrm>
              <a:off x="5742538" y="4021803"/>
              <a:ext cx="48147" cy="10963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2" name="Shape 160"/>
            <p:cNvSpPr/>
            <p:nvPr/>
          </p:nvSpPr>
          <p:spPr>
            <a:xfrm>
              <a:off x="5790685" y="4032766"/>
              <a:ext cx="48147" cy="1072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3" name="Shape 161"/>
            <p:cNvSpPr/>
            <p:nvPr/>
          </p:nvSpPr>
          <p:spPr>
            <a:xfrm>
              <a:off x="5838831" y="4043495"/>
              <a:ext cx="48147" cy="993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4" name="Shape 162"/>
            <p:cNvSpPr/>
            <p:nvPr/>
          </p:nvSpPr>
          <p:spPr>
            <a:xfrm>
              <a:off x="5886978" y="4053433"/>
              <a:ext cx="48147" cy="859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5" name="Shape 163"/>
            <p:cNvSpPr/>
            <p:nvPr/>
          </p:nvSpPr>
          <p:spPr>
            <a:xfrm>
              <a:off x="5935125" y="4062023"/>
              <a:ext cx="48147" cy="668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6" name="Shape 164"/>
            <p:cNvSpPr/>
            <p:nvPr/>
          </p:nvSpPr>
          <p:spPr>
            <a:xfrm>
              <a:off x="5983271" y="4068708"/>
              <a:ext cx="48147" cy="422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7" name="Shape 165"/>
            <p:cNvSpPr/>
            <p:nvPr/>
          </p:nvSpPr>
          <p:spPr>
            <a:xfrm>
              <a:off x="6031418" y="4072932"/>
              <a:ext cx="48147" cy="120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8" name="Shape 166"/>
            <p:cNvSpPr/>
            <p:nvPr/>
          </p:nvSpPr>
          <p:spPr>
            <a:xfrm flipV="1">
              <a:off x="6079564" y="4071770"/>
              <a:ext cx="48147" cy="236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9" name="Shape 167"/>
            <p:cNvSpPr/>
            <p:nvPr/>
          </p:nvSpPr>
          <p:spPr>
            <a:xfrm flipV="1">
              <a:off x="6127711" y="4065270"/>
              <a:ext cx="48147" cy="650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0" name="Shape 168"/>
            <p:cNvSpPr/>
            <p:nvPr/>
          </p:nvSpPr>
          <p:spPr>
            <a:xfrm flipV="1">
              <a:off x="6175858" y="4054561"/>
              <a:ext cx="48147" cy="1070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1" name="Shape 169"/>
            <p:cNvSpPr/>
            <p:nvPr/>
          </p:nvSpPr>
          <p:spPr>
            <a:xfrm flipV="1">
              <a:off x="6224004" y="4040228"/>
              <a:ext cx="48147" cy="14333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2" name="Shape 170"/>
            <p:cNvSpPr/>
            <p:nvPr/>
          </p:nvSpPr>
          <p:spPr>
            <a:xfrm flipV="1">
              <a:off x="6272151" y="4022711"/>
              <a:ext cx="48147" cy="1751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3" name="Shape 171"/>
            <p:cNvSpPr/>
            <p:nvPr/>
          </p:nvSpPr>
          <p:spPr>
            <a:xfrm flipV="1">
              <a:off x="6320297" y="4002450"/>
              <a:ext cx="48147" cy="2026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4" name="Shape 172"/>
            <p:cNvSpPr/>
            <p:nvPr/>
          </p:nvSpPr>
          <p:spPr>
            <a:xfrm flipV="1">
              <a:off x="6368444" y="3979883"/>
              <a:ext cx="48147" cy="2256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5" name="Shape 173"/>
            <p:cNvSpPr/>
            <p:nvPr/>
          </p:nvSpPr>
          <p:spPr>
            <a:xfrm flipV="1">
              <a:off x="6416591" y="3955452"/>
              <a:ext cx="48147" cy="2443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6" name="Shape 174"/>
            <p:cNvSpPr/>
            <p:nvPr/>
          </p:nvSpPr>
          <p:spPr>
            <a:xfrm flipV="1">
              <a:off x="6464737" y="3929594"/>
              <a:ext cx="48147" cy="2585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7" name="Shape 175"/>
            <p:cNvSpPr/>
            <p:nvPr/>
          </p:nvSpPr>
          <p:spPr>
            <a:xfrm flipV="1">
              <a:off x="6512884" y="3902750"/>
              <a:ext cx="48147" cy="2684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8" name="Shape 176"/>
            <p:cNvSpPr/>
            <p:nvPr/>
          </p:nvSpPr>
          <p:spPr>
            <a:xfrm flipV="1">
              <a:off x="6561030" y="3875359"/>
              <a:ext cx="48147" cy="2739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9" name="Shape 177"/>
            <p:cNvSpPr/>
            <p:nvPr/>
          </p:nvSpPr>
          <p:spPr>
            <a:xfrm flipV="1">
              <a:off x="6609177" y="3847860"/>
              <a:ext cx="48147" cy="2749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0" name="Shape 178"/>
            <p:cNvSpPr/>
            <p:nvPr/>
          </p:nvSpPr>
          <p:spPr>
            <a:xfrm flipV="1">
              <a:off x="6657324" y="3820694"/>
              <a:ext cx="48147" cy="2716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1" name="Shape 179"/>
            <p:cNvSpPr/>
            <p:nvPr/>
          </p:nvSpPr>
          <p:spPr>
            <a:xfrm flipV="1">
              <a:off x="6705470" y="3794299"/>
              <a:ext cx="48147" cy="2639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2" name="Shape 180"/>
            <p:cNvSpPr/>
            <p:nvPr/>
          </p:nvSpPr>
          <p:spPr>
            <a:xfrm flipV="1">
              <a:off x="6753617" y="3769115"/>
              <a:ext cx="48147" cy="2518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3" name="Shape 181"/>
            <p:cNvSpPr/>
            <p:nvPr/>
          </p:nvSpPr>
          <p:spPr>
            <a:xfrm flipV="1">
              <a:off x="6801763" y="3745582"/>
              <a:ext cx="48147" cy="23533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4" name="Shape 182"/>
            <p:cNvSpPr/>
            <p:nvPr/>
          </p:nvSpPr>
          <p:spPr>
            <a:xfrm flipV="1">
              <a:off x="6849910" y="3724138"/>
              <a:ext cx="48147" cy="21443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5" name="Shape 183"/>
            <p:cNvSpPr/>
            <p:nvPr/>
          </p:nvSpPr>
          <p:spPr>
            <a:xfrm flipV="1">
              <a:off x="6898057" y="3705225"/>
              <a:ext cx="48147" cy="18913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6" name="Shape 184"/>
            <p:cNvSpPr/>
            <p:nvPr/>
          </p:nvSpPr>
          <p:spPr>
            <a:xfrm flipV="1">
              <a:off x="6946203" y="3688841"/>
              <a:ext cx="48147" cy="1638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7" name="Shape 185"/>
            <p:cNvSpPr/>
            <p:nvPr/>
          </p:nvSpPr>
          <p:spPr>
            <a:xfrm flipV="1">
              <a:off x="6994350" y="3674479"/>
              <a:ext cx="48147" cy="1436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8" name="Shape 186"/>
            <p:cNvSpPr/>
            <p:nvPr/>
          </p:nvSpPr>
          <p:spPr>
            <a:xfrm flipV="1">
              <a:off x="7042497" y="3661816"/>
              <a:ext cx="48147" cy="12663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9" name="Shape 187"/>
            <p:cNvSpPr/>
            <p:nvPr/>
          </p:nvSpPr>
          <p:spPr>
            <a:xfrm flipV="1">
              <a:off x="7090643" y="3650531"/>
              <a:ext cx="48147" cy="1128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0" name="Shape 188"/>
            <p:cNvSpPr/>
            <p:nvPr/>
          </p:nvSpPr>
          <p:spPr>
            <a:xfrm flipV="1">
              <a:off x="7138790" y="3640300"/>
              <a:ext cx="48147" cy="1023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1" name="Shape 189"/>
            <p:cNvSpPr/>
            <p:nvPr/>
          </p:nvSpPr>
          <p:spPr>
            <a:xfrm flipV="1">
              <a:off x="7186936" y="3630802"/>
              <a:ext cx="48147" cy="949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2" name="Shape 190"/>
            <p:cNvSpPr/>
            <p:nvPr/>
          </p:nvSpPr>
          <p:spPr>
            <a:xfrm flipV="1">
              <a:off x="7235083" y="3621714"/>
              <a:ext cx="48147" cy="908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3" name="Shape 191"/>
            <p:cNvSpPr/>
            <p:nvPr/>
          </p:nvSpPr>
          <p:spPr>
            <a:xfrm flipV="1">
              <a:off x="7283230" y="3612713"/>
              <a:ext cx="48147" cy="900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4" name="Shape 192"/>
            <p:cNvSpPr/>
            <p:nvPr/>
          </p:nvSpPr>
          <p:spPr>
            <a:xfrm flipV="1">
              <a:off x="7331376" y="3603479"/>
              <a:ext cx="48147" cy="923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5" name="Shape 193"/>
            <p:cNvSpPr/>
            <p:nvPr/>
          </p:nvSpPr>
          <p:spPr>
            <a:xfrm flipV="1">
              <a:off x="7379523" y="3593688"/>
              <a:ext cx="48147" cy="979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6" name="Shape 194"/>
            <p:cNvSpPr/>
            <p:nvPr/>
          </p:nvSpPr>
          <p:spPr>
            <a:xfrm flipV="1">
              <a:off x="7427669" y="3583017"/>
              <a:ext cx="48147" cy="1067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7" name="Shape 195"/>
            <p:cNvSpPr/>
            <p:nvPr/>
          </p:nvSpPr>
          <p:spPr>
            <a:xfrm flipV="1">
              <a:off x="7475816" y="3571146"/>
              <a:ext cx="48147" cy="1187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8" name="Shape 196"/>
            <p:cNvSpPr/>
            <p:nvPr/>
          </p:nvSpPr>
          <p:spPr>
            <a:xfrm flipV="1">
              <a:off x="7523963" y="3557751"/>
              <a:ext cx="48147" cy="1339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9" name="Shape 197"/>
            <p:cNvSpPr/>
            <p:nvPr/>
          </p:nvSpPr>
          <p:spPr>
            <a:xfrm flipV="1">
              <a:off x="7572109" y="3542509"/>
              <a:ext cx="48147" cy="1524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0" name="Shape 198"/>
            <p:cNvSpPr/>
            <p:nvPr/>
          </p:nvSpPr>
          <p:spPr>
            <a:xfrm flipV="1">
              <a:off x="7620256" y="3525100"/>
              <a:ext cx="48147" cy="1740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1" name="Shape 199"/>
            <p:cNvSpPr/>
            <p:nvPr/>
          </p:nvSpPr>
          <p:spPr>
            <a:xfrm flipV="1">
              <a:off x="7668402" y="3505200"/>
              <a:ext cx="48147" cy="1990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2" name="Shape 200"/>
            <p:cNvSpPr/>
            <p:nvPr/>
          </p:nvSpPr>
          <p:spPr>
            <a:xfrm flipV="1">
              <a:off x="7716549" y="3482009"/>
              <a:ext cx="49557" cy="2319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3" name="Shape 201"/>
            <p:cNvSpPr/>
            <p:nvPr/>
          </p:nvSpPr>
          <p:spPr>
            <a:xfrm flipV="1">
              <a:off x="7766106" y="3455311"/>
              <a:ext cx="52002" cy="2669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4" name="Shape 202"/>
            <p:cNvSpPr/>
            <p:nvPr/>
          </p:nvSpPr>
          <p:spPr>
            <a:xfrm flipV="1">
              <a:off x="7818108" y="3425664"/>
              <a:ext cx="53883" cy="2964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5" name="Shape 203"/>
            <p:cNvSpPr/>
            <p:nvPr/>
          </p:nvSpPr>
          <p:spPr>
            <a:xfrm flipV="1">
              <a:off x="7871991" y="3393624"/>
              <a:ext cx="55199" cy="3204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6" name="Shape 204"/>
            <p:cNvSpPr/>
            <p:nvPr/>
          </p:nvSpPr>
          <p:spPr>
            <a:xfrm flipV="1">
              <a:off x="7927190" y="3359747"/>
              <a:ext cx="55952" cy="3387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7" name="Shape 205"/>
            <p:cNvSpPr/>
            <p:nvPr/>
          </p:nvSpPr>
          <p:spPr>
            <a:xfrm flipV="1">
              <a:off x="7983142" y="3324591"/>
              <a:ext cx="56140" cy="3515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8" name="Shape 206"/>
            <p:cNvSpPr/>
            <p:nvPr/>
          </p:nvSpPr>
          <p:spPr>
            <a:xfrm flipV="1">
              <a:off x="8039282" y="3288713"/>
              <a:ext cx="55764" cy="3587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9" name="Shape 207"/>
            <p:cNvSpPr/>
            <p:nvPr/>
          </p:nvSpPr>
          <p:spPr>
            <a:xfrm flipV="1">
              <a:off x="8095045" y="3252668"/>
              <a:ext cx="54823" cy="3604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0" name="Shape 208"/>
            <p:cNvSpPr/>
            <p:nvPr/>
          </p:nvSpPr>
          <p:spPr>
            <a:xfrm flipV="1">
              <a:off x="8149868" y="3217015"/>
              <a:ext cx="53319" cy="3565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1" name="Shape 209"/>
            <p:cNvSpPr/>
            <p:nvPr/>
          </p:nvSpPr>
          <p:spPr>
            <a:xfrm flipV="1">
              <a:off x="8203187" y="3182308"/>
              <a:ext cx="51250" cy="3470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2" name="Shape 210"/>
            <p:cNvSpPr/>
            <p:nvPr/>
          </p:nvSpPr>
          <p:spPr>
            <a:xfrm flipV="1">
              <a:off x="8254437" y="3149106"/>
              <a:ext cx="48617" cy="3320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3" name="Shape 211"/>
            <p:cNvSpPr/>
            <p:nvPr/>
          </p:nvSpPr>
          <p:spPr>
            <a:xfrm flipV="1">
              <a:off x="8303054" y="3117964"/>
              <a:ext cx="45420" cy="3114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4" name="Shape 212"/>
            <p:cNvSpPr/>
            <p:nvPr/>
          </p:nvSpPr>
          <p:spPr>
            <a:xfrm flipV="1">
              <a:off x="8348473" y="3089440"/>
              <a:ext cx="41658" cy="2852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5" name="Shape 213"/>
            <p:cNvSpPr/>
            <p:nvPr/>
          </p:nvSpPr>
          <p:spPr>
            <a:xfrm flipV="1">
              <a:off x="8390131" y="3064090"/>
              <a:ext cx="37332" cy="2535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6" name="Shape 214"/>
            <p:cNvSpPr/>
            <p:nvPr/>
          </p:nvSpPr>
          <p:spPr>
            <a:xfrm flipV="1">
              <a:off x="8427464" y="3042471"/>
              <a:ext cx="32443" cy="2161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7" name="Shape 215"/>
            <p:cNvSpPr/>
            <p:nvPr/>
          </p:nvSpPr>
          <p:spPr>
            <a:xfrm flipV="1">
              <a:off x="8459906" y="3025140"/>
              <a:ext cx="26988" cy="1733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8" name="Shape 216"/>
            <p:cNvSpPr/>
            <p:nvPr/>
          </p:nvSpPr>
          <p:spPr>
            <a:xfrm>
              <a:off x="3834340" y="447484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9" name="Shape 217"/>
            <p:cNvSpPr/>
            <p:nvPr/>
          </p:nvSpPr>
          <p:spPr>
            <a:xfrm>
              <a:off x="4604686" y="419481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0" name="Shape 218"/>
            <p:cNvSpPr/>
            <p:nvPr/>
          </p:nvSpPr>
          <p:spPr>
            <a:xfrm>
              <a:off x="5375032" y="395478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1" name="Shape 219"/>
            <p:cNvSpPr/>
            <p:nvPr/>
          </p:nvSpPr>
          <p:spPr>
            <a:xfrm>
              <a:off x="6145378" y="403479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2" name="Shape 220"/>
            <p:cNvSpPr/>
            <p:nvPr/>
          </p:nvSpPr>
          <p:spPr>
            <a:xfrm>
              <a:off x="6915723" y="367474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3" name="Shape 221"/>
            <p:cNvSpPr/>
            <p:nvPr/>
          </p:nvSpPr>
          <p:spPr>
            <a:xfrm>
              <a:off x="7686069" y="347472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4" name="Shape 222"/>
            <p:cNvSpPr/>
            <p:nvPr/>
          </p:nvSpPr>
          <p:spPr>
            <a:xfrm>
              <a:off x="8456415" y="299466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5" name="Shape 223"/>
            <p:cNvSpPr/>
            <p:nvPr/>
          </p:nvSpPr>
          <p:spPr>
            <a:xfrm>
              <a:off x="3479648" y="5105400"/>
              <a:ext cx="539242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6" name="Text 224"/>
            <p:cNvSpPr/>
            <p:nvPr/>
          </p:nvSpPr>
          <p:spPr>
            <a:xfrm>
              <a:off x="8922868" y="2939415"/>
              <a:ext cx="2209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</a:t>
              </a:r>
              <a:endParaRPr lang="en-US" sz="1000" dirty="0"/>
            </a:p>
          </p:txBody>
        </p:sp>
        <p:sp>
          <p:nvSpPr>
            <p:cNvPr id="227" name="Text 225"/>
            <p:cNvSpPr/>
            <p:nvPr/>
          </p:nvSpPr>
          <p:spPr>
            <a:xfrm>
              <a:off x="8922868" y="3110865"/>
              <a:ext cx="2209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PowerChart" descr="waterfall chart. 1 data series: Delta. 6 categories: FY23, Volume, Price, Cost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Waterfall with grouping spacers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752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825723" y="5143500"/>
              <a:ext cx="752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Volume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578198" y="5143500"/>
              <a:ext cx="752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Price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083148" y="5143500"/>
              <a:ext cx="752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835623" y="5143500"/>
              <a:ext cx="752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FX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340573" y="5143500"/>
              <a:ext cx="752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198660" y="3270504"/>
              <a:ext cx="501650" cy="183489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122460" y="4092702"/>
              <a:ext cx="6540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86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700310" y="3270504"/>
              <a:ext cx="250825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2" name="Shape 10"/>
            <p:cNvSpPr/>
            <p:nvPr/>
          </p:nvSpPr>
          <p:spPr>
            <a:xfrm>
              <a:off x="3951135" y="2971800"/>
              <a:ext cx="501650" cy="29870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3874935" y="3025902"/>
              <a:ext cx="6540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452785" y="2971800"/>
              <a:ext cx="250825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5" name="Shape 13"/>
            <p:cNvSpPr/>
            <p:nvPr/>
          </p:nvSpPr>
          <p:spPr>
            <a:xfrm>
              <a:off x="4703610" y="2779776"/>
              <a:ext cx="501650" cy="19202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4627410" y="2780538"/>
              <a:ext cx="6540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+9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205260" y="2779776"/>
              <a:ext cx="250825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8" name="Shape 16"/>
            <p:cNvSpPr/>
            <p:nvPr/>
          </p:nvSpPr>
          <p:spPr>
            <a:xfrm>
              <a:off x="5456085" y="2779776"/>
              <a:ext cx="50165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9" name="Shape 17"/>
            <p:cNvSpPr/>
            <p:nvPr/>
          </p:nvSpPr>
          <p:spPr>
            <a:xfrm>
              <a:off x="5957735" y="2779776"/>
              <a:ext cx="250825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0" name="Shape 18"/>
            <p:cNvSpPr/>
            <p:nvPr/>
          </p:nvSpPr>
          <p:spPr>
            <a:xfrm>
              <a:off x="6208560" y="2779776"/>
              <a:ext cx="501650" cy="256032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6132360" y="2812542"/>
              <a:ext cx="6540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-12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710210" y="3035808"/>
              <a:ext cx="250825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3" name="Shape 21"/>
            <p:cNvSpPr/>
            <p:nvPr/>
          </p:nvSpPr>
          <p:spPr>
            <a:xfrm>
              <a:off x="6961035" y="3035808"/>
              <a:ext cx="501650" cy="85344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6884835" y="2851658"/>
              <a:ext cx="6540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-4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462685" y="3121152"/>
              <a:ext cx="250825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6" name="Shape 24"/>
            <p:cNvSpPr/>
            <p:nvPr/>
          </p:nvSpPr>
          <p:spPr>
            <a:xfrm>
              <a:off x="7713510" y="3121152"/>
              <a:ext cx="50165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7" name="Shape 25"/>
            <p:cNvSpPr/>
            <p:nvPr/>
          </p:nvSpPr>
          <p:spPr>
            <a:xfrm>
              <a:off x="8215160" y="3121152"/>
              <a:ext cx="250825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8" name="Shape 26"/>
            <p:cNvSpPr/>
            <p:nvPr/>
          </p:nvSpPr>
          <p:spPr>
            <a:xfrm>
              <a:off x="8465985" y="3121152"/>
              <a:ext cx="501650" cy="1984248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8389785" y="4018026"/>
              <a:ext cx="6540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93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073248" y="5105400"/>
              <a:ext cx="6019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PowerChart" descr="Gantt chart. 2 data series: Start, End. 7 categories: Phase 1: Discovery, &gt; Research, &gt; Interviews, Phase 2: Build and 3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324600" cy="3733800"/>
            <a:chOff x="3047848" y="1524000"/>
            <a:chExt cx="6324600" cy="37338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Gantt with auto-summary bars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409288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4104488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962074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657274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514861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7210061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9067648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8762848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047848" y="2019300"/>
              <a:ext cx="6096000" cy="439057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3047848" y="2143579"/>
              <a:ext cx="609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Phase 1: Discovery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719845" y="2203269"/>
              <a:ext cx="1242229" cy="71120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4719845" y="2203269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5962074" y="2203269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174848" y="2608036"/>
              <a:ext cx="11582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Research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409288" y="2471057"/>
              <a:ext cx="46583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4719845" y="2614386"/>
              <a:ext cx="931672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3174848" y="3072493"/>
              <a:ext cx="11582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Interviews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409288" y="2935514"/>
              <a:ext cx="46583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030402" y="3078843"/>
              <a:ext cx="931672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3047848" y="3412671"/>
              <a:ext cx="6096000" cy="439057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3047848" y="3536950"/>
              <a:ext cx="609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Phase 2: Build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962074" y="3596640"/>
              <a:ext cx="2484459" cy="71120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5962074" y="3596640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8446533" y="3596640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3174848" y="4001407"/>
              <a:ext cx="11582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Backend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409288" y="3864429"/>
              <a:ext cx="46583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5962074" y="4007757"/>
              <a:ext cx="1552787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3174848" y="4465864"/>
              <a:ext cx="11582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Frontend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4409288" y="4328886"/>
              <a:ext cx="46583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583189" y="4472214"/>
              <a:ext cx="1552787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3174848" y="4930321"/>
              <a:ext cx="11582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QA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4409288" y="4793343"/>
              <a:ext cx="46583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7825418" y="4936671"/>
              <a:ext cx="621115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PowerChart" descr="box-and-whisker plot. 10 data series: o1, o2, o3, o4 and 6 more. 3 categories: A, B, C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Notched boxplots (median CI)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479648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350781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221914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415214" y="3825240"/>
              <a:ext cx="0" cy="3733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4415214" y="4812030"/>
              <a:ext cx="0" cy="29337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4183662" y="382524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183662" y="510540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3900653" y="4198620"/>
              <a:ext cx="1029123" cy="613410"/>
            </a:xfrm>
            <a:custGeom>
              <a:avLst/>
              <a:gdLst/>
              <a:ahLst/>
              <a:cxnLst/>
              <a:rect l="l" t="t" r="r" b="b"/>
              <a:pathLst>
                <a:path w="1029123" h="613410">
                  <a:moveTo>
                    <a:pt x="0" y="0"/>
                  </a:moveTo>
                  <a:lnTo>
                    <a:pt x="1029123" y="0"/>
                  </a:lnTo>
                  <a:lnTo>
                    <a:pt x="1029123" y="15496"/>
                  </a:lnTo>
                  <a:lnTo>
                    <a:pt x="771843" y="320040"/>
                  </a:lnTo>
                  <a:lnTo>
                    <a:pt x="1029123" y="613410"/>
                  </a:lnTo>
                  <a:lnTo>
                    <a:pt x="1029123" y="613410"/>
                  </a:lnTo>
                  <a:lnTo>
                    <a:pt x="0" y="613410"/>
                  </a:lnTo>
                  <a:lnTo>
                    <a:pt x="0" y="613410"/>
                  </a:lnTo>
                  <a:lnTo>
                    <a:pt x="257281" y="320040"/>
                  </a:lnTo>
                  <a:lnTo>
                    <a:pt x="0" y="15496"/>
                  </a:lnTo>
                  <a:close/>
                </a:path>
              </a:pathLst>
            </a:cu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157933" y="4518660"/>
              <a:ext cx="514562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900653" y="4328160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286348" y="3291840"/>
              <a:ext cx="0" cy="4800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6286348" y="4491990"/>
              <a:ext cx="0" cy="18669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6054795" y="329184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054795" y="467868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771786" y="3771900"/>
              <a:ext cx="1029123" cy="720090"/>
            </a:xfrm>
            <a:custGeom>
              <a:avLst/>
              <a:gdLst/>
              <a:ahLst/>
              <a:cxnLst/>
              <a:rect l="l" t="t" r="r" b="b"/>
              <a:pathLst>
                <a:path w="1029123" h="720090">
                  <a:moveTo>
                    <a:pt x="0" y="0"/>
                  </a:moveTo>
                  <a:lnTo>
                    <a:pt x="1029123" y="0"/>
                  </a:lnTo>
                  <a:lnTo>
                    <a:pt x="1029123" y="69211"/>
                  </a:lnTo>
                  <a:lnTo>
                    <a:pt x="771843" y="426720"/>
                  </a:lnTo>
                  <a:lnTo>
                    <a:pt x="1029123" y="720090"/>
                  </a:lnTo>
                  <a:lnTo>
                    <a:pt x="1029123" y="720090"/>
                  </a:lnTo>
                  <a:lnTo>
                    <a:pt x="0" y="720090"/>
                  </a:lnTo>
                  <a:lnTo>
                    <a:pt x="0" y="720090"/>
                  </a:lnTo>
                  <a:lnTo>
                    <a:pt x="257281" y="426720"/>
                  </a:lnTo>
                  <a:lnTo>
                    <a:pt x="0" y="69211"/>
                  </a:lnTo>
                  <a:close/>
                </a:path>
              </a:pathLst>
            </a:cu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029067" y="4198620"/>
              <a:ext cx="514562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5771786" y="4008120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8157481" y="1905000"/>
              <a:ext cx="0" cy="66675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8157481" y="3745230"/>
              <a:ext cx="0" cy="29337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7925928" y="190500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7925928" y="403860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7642919" y="2571750"/>
              <a:ext cx="1029123" cy="1173480"/>
            </a:xfrm>
            <a:custGeom>
              <a:avLst/>
              <a:gdLst/>
              <a:ahLst/>
              <a:cxnLst/>
              <a:rect l="l" t="t" r="r" b="b"/>
              <a:pathLst>
                <a:path w="1029123" h="1173480">
                  <a:moveTo>
                    <a:pt x="0" y="0"/>
                  </a:moveTo>
                  <a:lnTo>
                    <a:pt x="1029123" y="0"/>
                  </a:lnTo>
                  <a:lnTo>
                    <a:pt x="1029123" y="137483"/>
                  </a:lnTo>
                  <a:lnTo>
                    <a:pt x="771842" y="720090"/>
                  </a:lnTo>
                  <a:lnTo>
                    <a:pt x="1029123" y="1173480"/>
                  </a:lnTo>
                  <a:lnTo>
                    <a:pt x="1029123" y="1173480"/>
                  </a:lnTo>
                  <a:lnTo>
                    <a:pt x="0" y="1173480"/>
                  </a:lnTo>
                  <a:lnTo>
                    <a:pt x="0" y="1173480"/>
                  </a:lnTo>
                  <a:lnTo>
                    <a:pt x="257281" y="720090"/>
                  </a:lnTo>
                  <a:lnTo>
                    <a:pt x="0" y="137483"/>
                  </a:lnTo>
                  <a:close/>
                </a:path>
              </a:pathLst>
            </a:cu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900200" y="3291840"/>
              <a:ext cx="514562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7642919" y="3101340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27</a:t>
              </a:r>
              <a:endParaRPr lang="en-US" sz="9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PowerChart" descr="radar chart. 4 data series: Peer 1, Peer 2, Peer 3, Us. 6 categories: Strategy, Data, Talent, Process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22700"/>
            <a:chOff x="3047848" y="1524000"/>
            <a:chExt cx="6096000" cy="38227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Radar peer range + us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603114" y="3101340"/>
              <a:ext cx="985468" cy="1137920"/>
            </a:xfrm>
            <a:custGeom>
              <a:avLst/>
              <a:gdLst/>
              <a:ahLst/>
              <a:cxnLst/>
              <a:rect l="l" t="t" r="r" b="b"/>
              <a:pathLst>
                <a:path w="985468" h="1137920">
                  <a:moveTo>
                    <a:pt x="492734" y="0"/>
                  </a:moveTo>
                  <a:lnTo>
                    <a:pt x="985468" y="284480"/>
                  </a:lnTo>
                  <a:lnTo>
                    <a:pt x="985468" y="853440"/>
                  </a:lnTo>
                  <a:lnTo>
                    <a:pt x="492734" y="1137920"/>
                  </a:lnTo>
                  <a:lnTo>
                    <a:pt x="0" y="853440"/>
                  </a:lnTo>
                  <a:lnTo>
                    <a:pt x="0" y="284480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133948" y="3025140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2.0</a:t>
              </a:r>
              <a:endParaRPr lang="en-US" sz="8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110380" y="2532380"/>
              <a:ext cx="1970935" cy="2275840"/>
            </a:xfrm>
            <a:custGeom>
              <a:avLst/>
              <a:gdLst/>
              <a:ahLst/>
              <a:cxnLst/>
              <a:rect l="l" t="t" r="r" b="b"/>
              <a:pathLst>
                <a:path w="1970935" h="2275840">
                  <a:moveTo>
                    <a:pt x="985468" y="0"/>
                  </a:moveTo>
                  <a:lnTo>
                    <a:pt x="1970935" y="568960"/>
                  </a:lnTo>
                  <a:lnTo>
                    <a:pt x="1970935" y="1706880"/>
                  </a:lnTo>
                  <a:lnTo>
                    <a:pt x="985468" y="2275840"/>
                  </a:lnTo>
                  <a:lnTo>
                    <a:pt x="0" y="1706880"/>
                  </a:lnTo>
                  <a:lnTo>
                    <a:pt x="0" y="568960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6133948" y="2456180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4.0</a:t>
              </a:r>
              <a:endParaRPr lang="en-US" sz="8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095848" y="2247900"/>
              <a:ext cx="0" cy="1422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5796128" y="1993900"/>
              <a:ext cx="5994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Strategy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 flipV="1">
              <a:off x="6095848" y="29591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393673" y="2832100"/>
              <a:ext cx="3251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Data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095848" y="36703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7393673" y="4330700"/>
              <a:ext cx="4622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Talent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095848" y="3670300"/>
              <a:ext cx="0" cy="1422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830418" y="5168900"/>
              <a:ext cx="5308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Process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 flipV="1">
              <a:off x="4864013" y="36703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472902" y="4330700"/>
              <a:ext cx="3251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Tech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864013" y="29591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267162" y="2832100"/>
              <a:ext cx="5308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Culture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095848" y="2532380"/>
              <a:ext cx="985468" cy="853440"/>
            </a:xfrm>
            <a:custGeom>
              <a:avLst/>
              <a:gdLst/>
              <a:ahLst/>
              <a:cxnLst/>
              <a:rect l="l" t="t" r="r" b="b"/>
              <a:pathLst>
                <a:path w="985468" h="853440">
                  <a:moveTo>
                    <a:pt x="0" y="568960"/>
                  </a:moveTo>
                  <a:lnTo>
                    <a:pt x="492734" y="853440"/>
                  </a:lnTo>
                  <a:lnTo>
                    <a:pt x="985468" y="568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14E">
                <a:alpha val="16000"/>
              </a:srgbClr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6588581" y="3101340"/>
              <a:ext cx="492734" cy="1137920"/>
            </a:xfrm>
            <a:custGeom>
              <a:avLst/>
              <a:gdLst/>
              <a:ahLst/>
              <a:cxnLst/>
              <a:rect l="l" t="t" r="r" b="b"/>
              <a:pathLst>
                <a:path w="492734" h="1137920">
                  <a:moveTo>
                    <a:pt x="0" y="284480"/>
                  </a:moveTo>
                  <a:lnTo>
                    <a:pt x="0" y="853440"/>
                  </a:lnTo>
                  <a:lnTo>
                    <a:pt x="492734" y="1137920"/>
                  </a:lnTo>
                  <a:lnTo>
                    <a:pt x="492734" y="0"/>
                  </a:lnTo>
                  <a:close/>
                </a:path>
              </a:pathLst>
            </a:custGeom>
            <a:solidFill>
              <a:srgbClr val="52514E">
                <a:alpha val="16000"/>
              </a:srgbClr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6095848" y="3954780"/>
              <a:ext cx="985468" cy="853440"/>
            </a:xfrm>
            <a:custGeom>
              <a:avLst/>
              <a:gdLst/>
              <a:ahLst/>
              <a:cxnLst/>
              <a:rect l="l" t="t" r="r" b="b"/>
              <a:pathLst>
                <a:path w="985468" h="853440">
                  <a:moveTo>
                    <a:pt x="492734" y="0"/>
                  </a:moveTo>
                  <a:lnTo>
                    <a:pt x="0" y="568960"/>
                  </a:lnTo>
                  <a:lnTo>
                    <a:pt x="0" y="853440"/>
                  </a:lnTo>
                  <a:lnTo>
                    <a:pt x="985468" y="284480"/>
                  </a:lnTo>
                  <a:close/>
                </a:path>
              </a:pathLst>
            </a:custGeom>
            <a:solidFill>
              <a:srgbClr val="52514E">
                <a:alpha val="16000"/>
              </a:srgbClr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5110380" y="3954780"/>
              <a:ext cx="985468" cy="853440"/>
            </a:xfrm>
            <a:custGeom>
              <a:avLst/>
              <a:gdLst/>
              <a:ahLst/>
              <a:cxnLst/>
              <a:rect l="l" t="t" r="r" b="b"/>
              <a:pathLst>
                <a:path w="985468" h="853440">
                  <a:moveTo>
                    <a:pt x="985468" y="568960"/>
                  </a:moveTo>
                  <a:lnTo>
                    <a:pt x="492734" y="0"/>
                  </a:lnTo>
                  <a:lnTo>
                    <a:pt x="0" y="284480"/>
                  </a:lnTo>
                  <a:lnTo>
                    <a:pt x="985468" y="853440"/>
                  </a:lnTo>
                  <a:close/>
                </a:path>
              </a:pathLst>
            </a:custGeom>
            <a:solidFill>
              <a:srgbClr val="52514E">
                <a:alpha val="16000"/>
              </a:srgbClr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5110380" y="3243580"/>
              <a:ext cx="492734" cy="995680"/>
            </a:xfrm>
            <a:custGeom>
              <a:avLst/>
              <a:gdLst/>
              <a:ahLst/>
              <a:cxnLst/>
              <a:rect l="l" t="t" r="r" b="b"/>
              <a:pathLst>
                <a:path w="492734" h="995680">
                  <a:moveTo>
                    <a:pt x="492734" y="711200"/>
                  </a:moveTo>
                  <a:lnTo>
                    <a:pt x="492734" y="142240"/>
                  </a:lnTo>
                  <a:lnTo>
                    <a:pt x="246367" y="0"/>
                  </a:lnTo>
                  <a:lnTo>
                    <a:pt x="0" y="995680"/>
                  </a:lnTo>
                  <a:close/>
                </a:path>
              </a:pathLst>
            </a:custGeom>
            <a:solidFill>
              <a:srgbClr val="52514E">
                <a:alpha val="16000"/>
              </a:srgbClr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5356747" y="2532380"/>
              <a:ext cx="739101" cy="853440"/>
            </a:xfrm>
            <a:custGeom>
              <a:avLst/>
              <a:gdLst/>
              <a:ahLst/>
              <a:cxnLst/>
              <a:rect l="l" t="t" r="r" b="b"/>
              <a:pathLst>
                <a:path w="739101" h="853440">
                  <a:moveTo>
                    <a:pt x="246367" y="853440"/>
                  </a:moveTo>
                  <a:lnTo>
                    <a:pt x="739101" y="568960"/>
                  </a:lnTo>
                  <a:lnTo>
                    <a:pt x="739101" y="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52514E">
                <a:alpha val="16000"/>
              </a:srgbClr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5110380" y="2532380"/>
              <a:ext cx="1970935" cy="2275840"/>
            </a:xfrm>
            <a:custGeom>
              <a:avLst/>
              <a:gdLst/>
              <a:ahLst/>
              <a:cxnLst/>
              <a:rect l="l" t="t" r="r" b="b"/>
              <a:pathLst>
                <a:path w="1970935" h="2275840">
                  <a:moveTo>
                    <a:pt x="985468" y="0"/>
                  </a:moveTo>
                  <a:lnTo>
                    <a:pt x="1970935" y="568960"/>
                  </a:lnTo>
                  <a:lnTo>
                    <a:pt x="1970935" y="1706880"/>
                  </a:lnTo>
                  <a:lnTo>
                    <a:pt x="985468" y="2275840"/>
                  </a:lnTo>
                  <a:lnTo>
                    <a:pt x="0" y="1706880"/>
                  </a:lnTo>
                  <a:lnTo>
                    <a:pt x="246367" y="711200"/>
                  </a:lnTo>
                  <a:close/>
                </a:path>
              </a:pathLst>
            </a:cu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5603114" y="3101340"/>
              <a:ext cx="985468" cy="1422400"/>
            </a:xfrm>
            <a:custGeom>
              <a:avLst/>
              <a:gdLst/>
              <a:ahLst/>
              <a:cxnLst/>
              <a:rect l="l" t="t" r="r" b="b"/>
              <a:pathLst>
                <a:path w="985468" h="1422400">
                  <a:moveTo>
                    <a:pt x="492734" y="0"/>
                  </a:moveTo>
                  <a:lnTo>
                    <a:pt x="985468" y="284480"/>
                  </a:lnTo>
                  <a:lnTo>
                    <a:pt x="985468" y="853440"/>
                  </a:lnTo>
                  <a:lnTo>
                    <a:pt x="492734" y="1422400"/>
                  </a:lnTo>
                  <a:lnTo>
                    <a:pt x="0" y="853440"/>
                  </a:lnTo>
                  <a:lnTo>
                    <a:pt x="0" y="284480"/>
                  </a:lnTo>
                  <a:close/>
                </a:path>
              </a:pathLst>
            </a:cu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4864013" y="2816860"/>
              <a:ext cx="2217302" cy="1564640"/>
            </a:xfrm>
            <a:custGeom>
              <a:avLst/>
              <a:gdLst/>
              <a:ahLst/>
              <a:cxnLst/>
              <a:rect l="l" t="t" r="r" b="b"/>
              <a:pathLst>
                <a:path w="2217302" h="1564640">
                  <a:moveTo>
                    <a:pt x="1231835" y="0"/>
                  </a:moveTo>
                  <a:lnTo>
                    <a:pt x="2217302" y="284480"/>
                  </a:lnTo>
                  <a:lnTo>
                    <a:pt x="2217302" y="1422400"/>
                  </a:lnTo>
                  <a:lnTo>
                    <a:pt x="1231835" y="1422400"/>
                  </a:lnTo>
                  <a:lnTo>
                    <a:pt x="0" y="1564640"/>
                  </a:lnTo>
                  <a:lnTo>
                    <a:pt x="246367" y="284480"/>
                  </a:lnTo>
                  <a:close/>
                </a:path>
              </a:pathLst>
            </a:custGeom>
            <a:solidFill>
              <a:srgbClr val="008300">
                <a:alpha val="18000"/>
              </a:srgbClr>
            </a:solidFill>
            <a:ln w="20320">
              <a:solidFill>
                <a:srgbClr val="008300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6065368" y="2786380"/>
              <a:ext cx="60960" cy="60960"/>
            </a:xfrm>
            <a:prstGeom prst="ellipse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050835" y="3070860"/>
              <a:ext cx="60960" cy="60960"/>
            </a:xfrm>
            <a:prstGeom prst="ellipse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7050835" y="4208780"/>
              <a:ext cx="60960" cy="60960"/>
            </a:xfrm>
            <a:prstGeom prst="ellipse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065368" y="4208780"/>
              <a:ext cx="60960" cy="60960"/>
            </a:xfrm>
            <a:prstGeom prst="ellipse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4833533" y="4351020"/>
              <a:ext cx="60960" cy="60960"/>
            </a:xfrm>
            <a:prstGeom prst="ellipse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5079900" y="3070860"/>
              <a:ext cx="60960" cy="60960"/>
            </a:xfrm>
            <a:prstGeom prst="ellipse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3047848" y="1847850"/>
              <a:ext cx="88900" cy="88900"/>
            </a:xfrm>
            <a:prstGeom prst="rect">
              <a:avLst/>
            </a:prstGeom>
            <a:solidFill>
              <a:srgbClr val="52514E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3174848" y="180340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Peer range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013048" y="1847850"/>
              <a:ext cx="88900" cy="88900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4140048" y="1803400"/>
              <a:ext cx="213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PowerChart" descr="stacked column chart. 5 data series: Enterprise, SMB, Consumer, Gov and 1 more. 3 categories: 2023, 2024, 2025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Long tail collapsed into Other (otherBucket)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7272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800448" y="5143500"/>
              <a:ext cx="17272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527648" y="5143500"/>
              <a:ext cx="17272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361114" y="4289213"/>
              <a:ext cx="1151467" cy="81618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310314" y="4602057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361114" y="3840311"/>
              <a:ext cx="1151467" cy="44890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310314" y="3969512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361114" y="3473027"/>
              <a:ext cx="1151467" cy="36728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310314" y="3561419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361114" y="3350599"/>
              <a:ext cx="1151467" cy="122428"/>
            </a:xfrm>
            <a:prstGeom prst="rect">
              <a:avLst/>
            </a:prstGeom>
            <a:solidFill>
              <a:srgbClr val="0083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3361114" y="3166957"/>
              <a:ext cx="1151467" cy="183642"/>
            </a:xfrm>
            <a:prstGeom prst="rect">
              <a:avLst/>
            </a:prstGeom>
            <a:solidFill>
              <a:srgbClr val="4A3AA7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310314" y="3163528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073248" y="2982807"/>
              <a:ext cx="17272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95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088314" y="4166785"/>
              <a:ext cx="1151467" cy="938615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037514" y="4540843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46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088314" y="3636264"/>
              <a:ext cx="1151467" cy="53052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5037514" y="3806275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088314" y="3289385"/>
              <a:ext cx="1151467" cy="34687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5037514" y="3367574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5088314" y="3146552"/>
              <a:ext cx="1151467" cy="142833"/>
            </a:xfrm>
            <a:prstGeom prst="rect">
              <a:avLst/>
            </a:prstGeom>
            <a:solidFill>
              <a:srgbClr val="0083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088314" y="2922101"/>
              <a:ext cx="1151467" cy="224451"/>
            </a:xfrm>
            <a:prstGeom prst="rect">
              <a:avLst/>
            </a:prstGeom>
            <a:solidFill>
              <a:srgbClr val="4A3AA7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037514" y="2939076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800448" y="2737951"/>
              <a:ext cx="17272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107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815514" y="4044357"/>
              <a:ext cx="1151467" cy="106104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6764714" y="4479629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815514" y="3411813"/>
              <a:ext cx="1151467" cy="63254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6764714" y="3632835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815514" y="3024124"/>
              <a:ext cx="1151467" cy="38768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6764714" y="3122718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815514" y="2860887"/>
              <a:ext cx="1151467" cy="163237"/>
            </a:xfrm>
            <a:prstGeom prst="rect">
              <a:avLst/>
            </a:prstGeom>
            <a:solidFill>
              <a:srgbClr val="0083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764714" y="2847255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815514" y="2616031"/>
              <a:ext cx="1151467" cy="244856"/>
            </a:xfrm>
            <a:prstGeom prst="rect">
              <a:avLst/>
            </a:prstGeom>
            <a:solidFill>
              <a:srgbClr val="4A3AA7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6764714" y="2643209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</a:t>
              </a:r>
              <a:endParaRPr lang="en-US" sz="10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6527648" y="2431881"/>
              <a:ext cx="17272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122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3073248" y="51054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8305648" y="2652734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Other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8305648" y="2856780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Gov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8305648" y="3132243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8305648" y="3642360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8305648" y="4489154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PowerChart" descr="heatmap. 1 data series: Commits. 30 categories: 2025-01-06, 2025-01-07, 2025-01-08, 2025-01-09 and 26 more."/>
          <p:cNvGrpSpPr/>
          <p:nvPr>
            <p:custDataLst>
              <p:tags r:id="rId3"/>
            </p:custDataLst>
          </p:nvPr>
        </p:nvGrpSpPr>
        <p:grpSpPr>
          <a:xfrm>
            <a:off x="2946248" y="1524000"/>
            <a:ext cx="6197600" cy="3797300"/>
            <a:chOff x="2946248" y="1524000"/>
            <a:chExt cx="61976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Calendar heatmap (daily commits)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2006600"/>
              <a:ext cx="241300" cy="4354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Mon</a:t>
              </a:r>
              <a:endParaRPr lang="en-US" sz="8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2877457"/>
              <a:ext cx="241300" cy="4354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Wed</a:t>
              </a:r>
              <a:endParaRPr lang="en-US" sz="8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3748314"/>
              <a:ext cx="241300" cy="4354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Fri</a:t>
              </a:r>
              <a:endParaRPr lang="en-US" sz="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4619171"/>
              <a:ext cx="241300" cy="4354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Sun</a:t>
              </a:r>
              <a:endParaRPr lang="en-US" sz="8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327248" y="1803400"/>
              <a:ext cx="217714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8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068962" y="1803400"/>
              <a:ext cx="217714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8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327248" y="2006600"/>
              <a:ext cx="416379" cy="416379"/>
            </a:xfrm>
            <a:prstGeom prst="rect">
              <a:avLst/>
            </a:prstGeom>
            <a:solidFill>
              <a:srgbClr val="CFD8F1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3327248" y="2442029"/>
              <a:ext cx="416379" cy="416379"/>
            </a:xfrm>
            <a:prstGeom prst="rect">
              <a:avLst/>
            </a:prstGeom>
            <a:solidFill>
              <a:srgbClr val="B3C3E9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3327248" y="2877457"/>
              <a:ext cx="416379" cy="416379"/>
            </a:xfrm>
            <a:prstGeom prst="rect">
              <a:avLst/>
            </a:prstGeom>
            <a:solidFill>
              <a:srgbClr val="DBE2F4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3327248" y="3312886"/>
              <a:ext cx="416379" cy="416379"/>
            </a:xfrm>
            <a:prstGeom prst="rect">
              <a:avLst/>
            </a:prstGeom>
            <a:solidFill>
              <a:srgbClr val="7A9CDE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3327248" y="3748314"/>
              <a:ext cx="416379" cy="416379"/>
            </a:xfrm>
            <a:prstGeom prst="rect">
              <a:avLst/>
            </a:prstGeom>
            <a:solidFill>
              <a:srgbClr val="C2CEED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3327248" y="4183743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3327248" y="4619171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3762676" y="2006600"/>
              <a:ext cx="416379" cy="416379"/>
            </a:xfrm>
            <a:prstGeom prst="rect">
              <a:avLst/>
            </a:prstGeom>
            <a:solidFill>
              <a:srgbClr val="A3B7E6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3762676" y="2442029"/>
              <a:ext cx="416379" cy="416379"/>
            </a:xfrm>
            <a:prstGeom prst="rect">
              <a:avLst/>
            </a:prstGeom>
            <a:solidFill>
              <a:srgbClr val="E6EBF8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3762676" y="2877457"/>
              <a:ext cx="416379" cy="416379"/>
            </a:xfrm>
            <a:prstGeom prst="rect">
              <a:avLst/>
            </a:prstGeom>
            <a:solidFill>
              <a:srgbClr val="5D8BDA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3762676" y="3312886"/>
              <a:ext cx="416379" cy="416379"/>
            </a:xfrm>
            <a:prstGeom prst="rect">
              <a:avLst/>
            </a:prstGeom>
            <a:solidFill>
              <a:srgbClr val="90AAE2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3762676" y="3748314"/>
              <a:ext cx="416379" cy="416379"/>
            </a:xfrm>
            <a:prstGeom prst="rect">
              <a:avLst/>
            </a:prstGeom>
            <a:solidFill>
              <a:srgbClr val="CFD8F1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3762676" y="4183743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3762676" y="4619171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4198105" y="2006600"/>
              <a:ext cx="416379" cy="416379"/>
            </a:xfrm>
            <a:prstGeom prst="rect">
              <a:avLst/>
            </a:prstGeom>
            <a:solidFill>
              <a:srgbClr val="B3C3E9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4198105" y="2442029"/>
              <a:ext cx="416379" cy="416379"/>
            </a:xfrm>
            <a:prstGeom prst="rect">
              <a:avLst/>
            </a:prstGeom>
            <a:solidFill>
              <a:srgbClr val="7A9CDE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4198105" y="2877457"/>
              <a:ext cx="416379" cy="416379"/>
            </a:xfrm>
            <a:prstGeom prst="rect">
              <a:avLst/>
            </a:prstGeom>
            <a:solidFill>
              <a:srgbClr val="DBE2F4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4198105" y="3312886"/>
              <a:ext cx="416379" cy="416379"/>
            </a:xfrm>
            <a:prstGeom prst="rect">
              <a:avLst/>
            </a:prstGeom>
            <a:solidFill>
              <a:srgbClr val="C2CEED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4198105" y="3748314"/>
              <a:ext cx="416379" cy="416379"/>
            </a:xfrm>
            <a:prstGeom prst="rect">
              <a:avLst/>
            </a:prstGeom>
            <a:solidFill>
              <a:srgbClr val="A3B7E6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4198105" y="4183743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4198105" y="4619171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4633533" y="2006600"/>
              <a:ext cx="416379" cy="41637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4633533" y="2442029"/>
              <a:ext cx="416379" cy="416379"/>
            </a:xfrm>
            <a:prstGeom prst="rect">
              <a:avLst/>
            </a:prstGeom>
            <a:solidFill>
              <a:srgbClr val="CFD8F1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4633533" y="2877457"/>
              <a:ext cx="416379" cy="416379"/>
            </a:xfrm>
            <a:prstGeom prst="rect">
              <a:avLst/>
            </a:prstGeom>
            <a:solidFill>
              <a:srgbClr val="B3C3E9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4633533" y="3312886"/>
              <a:ext cx="416379" cy="416379"/>
            </a:xfrm>
            <a:prstGeom prst="rect">
              <a:avLst/>
            </a:prstGeom>
            <a:solidFill>
              <a:srgbClr val="90AAE2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4633533" y="3748314"/>
              <a:ext cx="416379" cy="416379"/>
            </a:xfrm>
            <a:prstGeom prst="rect">
              <a:avLst/>
            </a:prstGeom>
            <a:solidFill>
              <a:srgbClr val="DBE2F4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4633533" y="4183743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4633533" y="4619171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5068962" y="2006600"/>
              <a:ext cx="416379" cy="416379"/>
            </a:xfrm>
            <a:prstGeom prst="rect">
              <a:avLst/>
            </a:prstGeom>
            <a:solidFill>
              <a:srgbClr val="C2CEED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5068962" y="2442029"/>
              <a:ext cx="416379" cy="416379"/>
            </a:xfrm>
            <a:prstGeom prst="rect">
              <a:avLst/>
            </a:prstGeom>
            <a:solidFill>
              <a:srgbClr val="A3B7E6"/>
            </a:solidFill>
            <a:ln/>
          </p:spPr>
        </p:sp>
        <p:sp>
          <p:nvSpPr>
            <p:cNvPr id="39" name="Text 37"/>
            <p:cNvSpPr/>
            <p:nvPr/>
          </p:nvSpPr>
          <p:spPr>
            <a:xfrm>
              <a:off x="2946248" y="5118100"/>
              <a:ext cx="3302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Less</a:t>
              </a:r>
              <a:endParaRPr lang="en-US" sz="8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327248" y="5118100"/>
              <a:ext cx="203200" cy="2032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3543148" y="5118100"/>
              <a:ext cx="203200" cy="203200"/>
            </a:xfrm>
            <a:prstGeom prst="rect">
              <a:avLst/>
            </a:prstGeom>
            <a:solidFill>
              <a:srgbClr val="E7ECF8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3759048" y="5118100"/>
              <a:ext cx="203200" cy="203200"/>
            </a:xfrm>
            <a:prstGeom prst="rect">
              <a:avLst/>
            </a:prstGeom>
            <a:solidFill>
              <a:srgbClr val="DDE4F5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3974948" y="5118100"/>
              <a:ext cx="203200" cy="203200"/>
            </a:xfrm>
            <a:prstGeom prst="rect">
              <a:avLst/>
            </a:prstGeom>
            <a:solidFill>
              <a:srgbClr val="D2DBF2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4190848" y="5118100"/>
              <a:ext cx="203200" cy="203200"/>
            </a:xfrm>
            <a:prstGeom prst="rect">
              <a:avLst/>
            </a:prstGeom>
            <a:solidFill>
              <a:srgbClr val="C7D2EE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4406748" y="5118100"/>
              <a:ext cx="203200" cy="203200"/>
            </a:xfrm>
            <a:prstGeom prst="rect">
              <a:avLst/>
            </a:prstGeom>
            <a:solidFill>
              <a:srgbClr val="BAC8EB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4622648" y="5118100"/>
              <a:ext cx="203200" cy="203200"/>
            </a:xfrm>
            <a:prstGeom prst="rect">
              <a:avLst/>
            </a:prstGeom>
            <a:solidFill>
              <a:srgbClr val="ACBEE8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4838548" y="5118100"/>
              <a:ext cx="203200" cy="203200"/>
            </a:xfrm>
            <a:prstGeom prst="rect">
              <a:avLst/>
            </a:prstGeom>
            <a:solidFill>
              <a:srgbClr val="9CB3E4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5054448" y="5118100"/>
              <a:ext cx="203200" cy="203200"/>
            </a:xfrm>
            <a:prstGeom prst="rect">
              <a:avLst/>
            </a:prstGeom>
            <a:solidFill>
              <a:srgbClr val="8BA6E1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5270348" y="5118100"/>
              <a:ext cx="203200" cy="203200"/>
            </a:xfrm>
            <a:prstGeom prst="rect">
              <a:avLst/>
            </a:prstGeom>
            <a:solidFill>
              <a:srgbClr val="7599DD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5486248" y="5118100"/>
              <a:ext cx="203200" cy="203200"/>
            </a:xfrm>
            <a:prstGeom prst="rect">
              <a:avLst/>
            </a:prstGeom>
            <a:solidFill>
              <a:srgbClr val="598ADA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5702148" y="5118100"/>
              <a:ext cx="203200" cy="2032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2" name="Text 50"/>
            <p:cNvSpPr/>
            <p:nvPr/>
          </p:nvSpPr>
          <p:spPr>
            <a:xfrm>
              <a:off x="5943448" y="5118100"/>
              <a:ext cx="381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More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PowerChart" descr="butterfly chart. 4 data series: Women FT, Women PT, Men FT, Men PT. 5 categories: &lt;30, 30–39, 40–49, 50–59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59200"/>
            <a:chOff x="3047848" y="1524000"/>
            <a:chExt cx="6096000" cy="37592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Butterfly with stacked flanks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18478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3606648" y="1803400"/>
              <a:ext cx="6248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Women FT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307688" y="18478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4434688" y="1803400"/>
              <a:ext cx="6248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Women PT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5135728" y="184785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5262728" y="1803400"/>
              <a:ext cx="4876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Men FT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826608" y="1847850"/>
              <a:ext cx="88900" cy="88900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5953608" y="1803400"/>
              <a:ext cx="4876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Men PT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848198" y="226187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&lt;30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196846" y="2140373"/>
              <a:ext cx="651351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5196846" y="2261870"/>
              <a:ext cx="65135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220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604709" y="2140373"/>
              <a:ext cx="592138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604709" y="2261870"/>
              <a:ext cx="592138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343498" y="2140373"/>
              <a:ext cx="710565" cy="43349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6343498" y="2261870"/>
              <a:ext cx="71056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240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054063" y="2140373"/>
              <a:ext cx="414496" cy="433493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7054063" y="2261870"/>
              <a:ext cx="41449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140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848198" y="291211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30–39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841564" y="2790613"/>
              <a:ext cx="1006634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841564" y="2912110"/>
              <a:ext cx="100663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042178" y="2790613"/>
              <a:ext cx="799386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4042178" y="2912110"/>
              <a:ext cx="79938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270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343498" y="2790613"/>
              <a:ext cx="1243489" cy="43349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6343498" y="2912110"/>
              <a:ext cx="124348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420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586986" y="2790613"/>
              <a:ext cx="680958" cy="433493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7586986" y="2912110"/>
              <a:ext cx="680958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230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848198" y="356235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40–49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959991" y="3440853"/>
              <a:ext cx="888206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4959991" y="3562350"/>
              <a:ext cx="8882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300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249426" y="3440853"/>
              <a:ext cx="710565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4249426" y="3562350"/>
              <a:ext cx="71056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240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343498" y="3440853"/>
              <a:ext cx="1184275" cy="43349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6343498" y="3562350"/>
              <a:ext cx="118427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400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7527773" y="3440853"/>
              <a:ext cx="592138" cy="433493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7527773" y="3562350"/>
              <a:ext cx="592138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200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5848198" y="421259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50–59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5315274" y="4091093"/>
              <a:ext cx="532924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5315274" y="4212590"/>
              <a:ext cx="53292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180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900778" y="4091093"/>
              <a:ext cx="414496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4900778" y="4212590"/>
              <a:ext cx="41449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140</a:t>
              </a:r>
              <a:endParaRPr lang="en-US" sz="10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6343498" y="4091093"/>
              <a:ext cx="828992" cy="43349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6343498" y="4212590"/>
              <a:ext cx="82899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280</a:t>
              </a:r>
              <a:endParaRPr lang="en-US" sz="10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7172490" y="4091093"/>
              <a:ext cx="384889" cy="433493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7172490" y="4212590"/>
              <a:ext cx="38488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130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5848198" y="486283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60+</a:t>
              </a:r>
              <a:endParaRPr lang="en-US" sz="10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5670556" y="4741333"/>
              <a:ext cx="177641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5492915" y="4741333"/>
              <a:ext cx="177641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6343498" y="4741333"/>
              <a:ext cx="325676" cy="43349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51" name="Text 49"/>
            <p:cNvSpPr/>
            <p:nvPr/>
          </p:nvSpPr>
          <p:spPr>
            <a:xfrm>
              <a:off x="6343498" y="4862830"/>
              <a:ext cx="3256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110</a:t>
              </a:r>
              <a:endParaRPr lang="en-US" sz="10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6669173" y="4741333"/>
              <a:ext cx="148034" cy="433493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5848198" y="20320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>
              <a:off x="6343498" y="20320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owerChart" descr="radar chart. 2 data series: 2024, 2025. 5 categories: Revenue $m, NPS, Churn %, Headcount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447593"/>
            <a:chOff x="3047848" y="1524000"/>
            <a:chExt cx="6096000" cy="3447593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Radar with per-spoke scales (mixed KPIs)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757652" y="3314700"/>
              <a:ext cx="676391" cy="643286"/>
            </a:xfrm>
            <a:custGeom>
              <a:avLst/>
              <a:gdLst/>
              <a:ahLst/>
              <a:cxnLst/>
              <a:rect l="l" t="t" r="r" b="b"/>
              <a:pathLst>
                <a:path w="676391" h="643286">
                  <a:moveTo>
                    <a:pt x="338196" y="0"/>
                  </a:moveTo>
                  <a:lnTo>
                    <a:pt x="676391" y="245714"/>
                  </a:lnTo>
                  <a:lnTo>
                    <a:pt x="547212" y="643286"/>
                  </a:lnTo>
                  <a:lnTo>
                    <a:pt x="129179" y="643286"/>
                  </a:lnTo>
                  <a:lnTo>
                    <a:pt x="0" y="245714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5419456" y="2959100"/>
              <a:ext cx="1352783" cy="1286573"/>
            </a:xfrm>
            <a:custGeom>
              <a:avLst/>
              <a:gdLst/>
              <a:ahLst/>
              <a:cxnLst/>
              <a:rect l="l" t="t" r="r" b="b"/>
              <a:pathLst>
                <a:path w="1352783" h="1286573">
                  <a:moveTo>
                    <a:pt x="676391" y="0"/>
                  </a:moveTo>
                  <a:lnTo>
                    <a:pt x="1352783" y="491427"/>
                  </a:lnTo>
                  <a:lnTo>
                    <a:pt x="1094424" y="1286573"/>
                  </a:lnTo>
                  <a:lnTo>
                    <a:pt x="258359" y="1286573"/>
                  </a:lnTo>
                  <a:lnTo>
                    <a:pt x="0" y="491427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5081261" y="2603500"/>
              <a:ext cx="2029174" cy="1929859"/>
            </a:xfrm>
            <a:custGeom>
              <a:avLst/>
              <a:gdLst/>
              <a:ahLst/>
              <a:cxnLst/>
              <a:rect l="l" t="t" r="r" b="b"/>
              <a:pathLst>
                <a:path w="2029174" h="1929859">
                  <a:moveTo>
                    <a:pt x="1014587" y="0"/>
                  </a:moveTo>
                  <a:lnTo>
                    <a:pt x="2029174" y="737141"/>
                  </a:lnTo>
                  <a:lnTo>
                    <a:pt x="1641636" y="1929859"/>
                  </a:lnTo>
                  <a:lnTo>
                    <a:pt x="387538" y="1929859"/>
                  </a:lnTo>
                  <a:lnTo>
                    <a:pt x="0" y="737141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4743065" y="2247900"/>
              <a:ext cx="2705566" cy="2573146"/>
            </a:xfrm>
            <a:custGeom>
              <a:avLst/>
              <a:gdLst/>
              <a:ahLst/>
              <a:cxnLst/>
              <a:rect l="l" t="t" r="r" b="b"/>
              <a:pathLst>
                <a:path w="2705566" h="2573146">
                  <a:moveTo>
                    <a:pt x="1352783" y="0"/>
                  </a:moveTo>
                  <a:lnTo>
                    <a:pt x="2705566" y="982854"/>
                  </a:lnTo>
                  <a:lnTo>
                    <a:pt x="2188849" y="2573146"/>
                  </a:lnTo>
                  <a:lnTo>
                    <a:pt x="516717" y="2573146"/>
                  </a:lnTo>
                  <a:lnTo>
                    <a:pt x="0" y="982854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6095848" y="2247900"/>
              <a:ext cx="0" cy="1422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5727548" y="1993900"/>
              <a:ext cx="736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Revenue $m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 flipV="1">
              <a:off x="6095848" y="3230754"/>
              <a:ext cx="1352783" cy="439546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521101" y="3118307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NPS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095848" y="3670300"/>
              <a:ext cx="836066" cy="1150746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6976703" y="4793793"/>
              <a:ext cx="5308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Churn %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 flipV="1">
              <a:off x="5259782" y="3670300"/>
              <a:ext cx="836066" cy="1150746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546973" y="4793793"/>
              <a:ext cx="6680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Headcount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743065" y="3230754"/>
              <a:ext cx="1352783" cy="439546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071154" y="3118307"/>
              <a:ext cx="5994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Uptime %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749849" y="2569087"/>
              <a:ext cx="2379033" cy="2251959"/>
            </a:xfrm>
            <a:custGeom>
              <a:avLst/>
              <a:gdLst/>
              <a:ahLst/>
              <a:cxnLst/>
              <a:rect l="l" t="t" r="r" b="b"/>
              <a:pathLst>
                <a:path w="2379033" h="2251959">
                  <a:moveTo>
                    <a:pt x="1345999" y="0"/>
                  </a:moveTo>
                  <a:lnTo>
                    <a:pt x="2379033" y="765560"/>
                  </a:lnTo>
                  <a:lnTo>
                    <a:pt x="2182064" y="2251959"/>
                  </a:lnTo>
                  <a:lnTo>
                    <a:pt x="652676" y="2055490"/>
                  </a:lnTo>
                  <a:lnTo>
                    <a:pt x="0" y="663871"/>
                  </a:lnTo>
                  <a:close/>
                </a:path>
              </a:pathLst>
            </a:custGeom>
            <a:solidFill>
              <a:srgbClr val="2A78D6">
                <a:alpha val="18000"/>
              </a:srgbClr>
            </a:solidFill>
            <a:ln w="20320">
              <a:solidFill>
                <a:srgbClr val="2A78D6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6065368" y="2538607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7098402" y="3304167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901433" y="4790566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372045" y="4594097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4719369" y="3202479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4743065" y="2247900"/>
              <a:ext cx="2705566" cy="2573146"/>
            </a:xfrm>
            <a:custGeom>
              <a:avLst/>
              <a:gdLst/>
              <a:ahLst/>
              <a:cxnLst/>
              <a:rect l="l" t="t" r="r" b="b"/>
              <a:pathLst>
                <a:path w="2705566" h="2573146">
                  <a:moveTo>
                    <a:pt x="1352783" y="0"/>
                  </a:moveTo>
                  <a:lnTo>
                    <a:pt x="2705566" y="982854"/>
                  </a:lnTo>
                  <a:lnTo>
                    <a:pt x="1875324" y="2141616"/>
                  </a:lnTo>
                  <a:lnTo>
                    <a:pt x="516717" y="2573146"/>
                  </a:lnTo>
                  <a:lnTo>
                    <a:pt x="0" y="982854"/>
                  </a:lnTo>
                  <a:close/>
                </a:path>
              </a:pathLst>
            </a:custGeom>
            <a:solidFill>
              <a:srgbClr val="1BAF7A">
                <a:alpha val="18000"/>
              </a:srgbClr>
            </a:solidFill>
            <a:ln w="20320">
              <a:solidFill>
                <a:srgbClr val="1BAF7A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6065368" y="2217420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7418150" y="3200274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587909" y="4359036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5229302" y="4790566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4712585" y="3200274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3047848" y="18478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3174848" y="1803400"/>
              <a:ext cx="3505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601568" y="18478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3728568" y="1803400"/>
              <a:ext cx="3505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PowerChart" descr="line chart. 1 data series: Signups. 6 categories: Jan, Feb, Mar, Apr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Missing-data bridge (bridgeGaps)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446532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382524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318516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3479648" y="254508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3479648" y="19050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43764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047848" y="3736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47848" y="30962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047848" y="24561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79648" y="5143500"/>
              <a:ext cx="83015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309804" y="5143500"/>
              <a:ext cx="83015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139961" y="5143500"/>
              <a:ext cx="83015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970118" y="5143500"/>
              <a:ext cx="83015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Apr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800274" y="5143500"/>
              <a:ext cx="83015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May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630431" y="5143500"/>
              <a:ext cx="83015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Jun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864246" y="379476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 flipV="1">
              <a:off x="3894726" y="2865120"/>
              <a:ext cx="1660313" cy="96012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524559" y="283464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555039" y="2865120"/>
              <a:ext cx="1660313" cy="32004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7184873" y="315468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 flipV="1">
              <a:off x="7215353" y="2033016"/>
              <a:ext cx="830157" cy="115214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8015029" y="2002536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3479648" y="5105400"/>
              <a:ext cx="49809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8511388" y="1947291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Signups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PowerChart" descr="stacked column chart. 2 data series: Floor, Range. 4 categories: Q1, Q2, Q3, Q4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Floating range columns (transparent base)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8112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54373" y="5143500"/>
              <a:ext cx="138112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835498" y="5143500"/>
              <a:ext cx="138112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216623" y="5143500"/>
              <a:ext cx="138112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303435" y="2705100"/>
              <a:ext cx="920750" cy="160020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52635" y="3409950"/>
              <a:ext cx="10223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684560" y="2545080"/>
              <a:ext cx="920750" cy="144018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633760" y="3169920"/>
              <a:ext cx="10223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065685" y="2225040"/>
              <a:ext cx="920750" cy="192024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6014885" y="3089910"/>
              <a:ext cx="10223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24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7446810" y="2385060"/>
              <a:ext cx="920750" cy="128016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396010" y="2929890"/>
              <a:ext cx="10223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073248" y="5105400"/>
              <a:ext cx="55245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8648548" y="2939415"/>
              <a:ext cx="4953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Range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PowerChart" descr="combination chart. 2 data series: Delta, Margin %. 6 categories: Start, Q1, Q2, Q3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Combo: waterfall bridge + %-of-total line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Start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0765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0798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0831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0864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0897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End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40464" y="2971800"/>
              <a:ext cx="668867" cy="21336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164264" y="3943350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909331" y="2971800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2" name="Shape 10"/>
            <p:cNvSpPr/>
            <p:nvPr/>
          </p:nvSpPr>
          <p:spPr>
            <a:xfrm>
              <a:off x="4243764" y="2545080"/>
              <a:ext cx="668867" cy="4267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4167564" y="2663190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+20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912631" y="2545080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5" name="Shape 13"/>
            <p:cNvSpPr/>
            <p:nvPr/>
          </p:nvSpPr>
          <p:spPr>
            <a:xfrm>
              <a:off x="5247064" y="2545080"/>
              <a:ext cx="668867" cy="320040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5170864" y="2609850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915931" y="2865120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8" name="Shape 16"/>
            <p:cNvSpPr/>
            <p:nvPr/>
          </p:nvSpPr>
          <p:spPr>
            <a:xfrm>
              <a:off x="6250364" y="2331720"/>
              <a:ext cx="668867" cy="5334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6174164" y="2503170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+25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919231" y="2331720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1" name="Shape 19"/>
            <p:cNvSpPr/>
            <p:nvPr/>
          </p:nvSpPr>
          <p:spPr>
            <a:xfrm>
              <a:off x="7253664" y="2331720"/>
              <a:ext cx="668867" cy="213360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7177464" y="2343150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922531" y="2545080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4" name="Shape 22"/>
            <p:cNvSpPr/>
            <p:nvPr/>
          </p:nvSpPr>
          <p:spPr>
            <a:xfrm>
              <a:off x="8256964" y="2545080"/>
              <a:ext cx="668867" cy="2560320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8180764" y="3729990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073248" y="5105400"/>
              <a:ext cx="6019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8712048" y="50165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8712048" y="437642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712048" y="373634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8712048" y="309626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8712048" y="245618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712048" y="18161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544418" y="251460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3193898" y="233553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 flipV="1">
              <a:off x="3574898" y="2417064"/>
              <a:ext cx="1003300" cy="12801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4547718" y="2386584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4197198" y="2207514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4578198" y="2417064"/>
              <a:ext cx="1003300" cy="25603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5551018" y="2642616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5200498" y="2393696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 flipV="1">
              <a:off x="5581498" y="2289048"/>
              <a:ext cx="1003300" cy="38404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6554318" y="2258568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6203798" y="2079498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44</a:t>
              </a:r>
              <a:endParaRPr lang="en-US" sz="10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6584798" y="2289048"/>
              <a:ext cx="1003300" cy="19202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7557618" y="2450592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7207098" y="2131822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41</a:t>
              </a:r>
              <a:endParaRPr lang="en-US" sz="1000" dirty="0"/>
            </a:p>
          </p:txBody>
        </p:sp>
        <p:sp>
          <p:nvSpPr>
            <p:cNvPr id="47" name="Shape 45"/>
            <p:cNvSpPr/>
            <p:nvPr/>
          </p:nvSpPr>
          <p:spPr>
            <a:xfrm flipV="1">
              <a:off x="7588098" y="2353056"/>
              <a:ext cx="1003300" cy="12801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48" name="Shape 46"/>
            <p:cNvSpPr/>
            <p:nvPr/>
          </p:nvSpPr>
          <p:spPr>
            <a:xfrm>
              <a:off x="8560918" y="2322576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8210398" y="2143506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43</a:t>
              </a:r>
              <a:endParaRPr lang="en-US" sz="10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8712048" y="2149856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Margin %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PowerChart" descr="combination chart. 3 data series: Prod A, Prod B, Share %. 3 categories: EMEA, Americas, APAC."/>
          <p:cNvGrpSpPr/>
          <p:nvPr>
            <p:custDataLst>
              <p:tags r:id="rId3"/>
            </p:custDataLst>
          </p:nvPr>
        </p:nvGrpSpPr>
        <p:grpSpPr>
          <a:xfrm>
            <a:off x="3022448" y="1524000"/>
            <a:ext cx="6121400" cy="3797300"/>
            <a:chOff x="3022448" y="1524000"/>
            <a:chExt cx="6121400" cy="3797300"/>
          </a:xfrm>
        </p:grpSpPr>
        <p:sp>
          <p:nvSpPr>
            <p:cNvPr id="2" name="Shape 0"/>
            <p:cNvSpPr/>
            <p:nvPr/>
          </p:nvSpPr>
          <p:spPr>
            <a:xfrm>
              <a:off x="3073248" y="3268980"/>
              <a:ext cx="1589741" cy="18364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3047848" y="4091940"/>
              <a:ext cx="164054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3073248" y="2044700"/>
              <a:ext cx="1589741" cy="122428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3047848" y="2561590"/>
              <a:ext cx="164054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22448" y="1860550"/>
              <a:ext cx="1691341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688389" y="3137807"/>
              <a:ext cx="2225638" cy="196759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662989" y="4026354"/>
              <a:ext cx="2276438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688389" y="2044700"/>
              <a:ext cx="2225638" cy="1093107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662989" y="2496004"/>
              <a:ext cx="2276438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637589" y="1860550"/>
              <a:ext cx="232723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939426" y="3881120"/>
              <a:ext cx="1589741" cy="122428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6914026" y="4398010"/>
              <a:ext cx="164054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939426" y="2044700"/>
              <a:ext cx="1589741" cy="183642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6914026" y="2867660"/>
              <a:ext cx="164054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888626" y="1860550"/>
              <a:ext cx="1691341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Combo: Mekko base + overlaid line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060548" y="5143500"/>
              <a:ext cx="1615141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 (29%)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675689" y="5143500"/>
              <a:ext cx="225103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 (41%)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926726" y="5143500"/>
              <a:ext cx="1615141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 (29%)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073248" y="5105400"/>
              <a:ext cx="545592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8579968" y="2877185"/>
              <a:ext cx="5638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Prod B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8579968" y="4407535"/>
              <a:ext cx="5638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Prod A</a:t>
              </a:r>
              <a:endParaRPr lang="en-US" sz="10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8554568" y="50165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554568" y="348615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8554568" y="19558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837638" y="2702878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3487118" y="2384108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62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 flipV="1">
              <a:off x="3868118" y="2427288"/>
              <a:ext cx="1933089" cy="306070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5770728" y="2396808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5420208" y="2217738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801208" y="2427288"/>
              <a:ext cx="1933089" cy="956469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7703817" y="3353276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7353297" y="3174206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8579968" y="3180556"/>
              <a:ext cx="5638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Share 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PowerChart" descr="combination chart. 3 data series: Revenue, NPS, Orders k. 4 categories: Jan, Feb, Mar, Apr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Combo: independent line axes (mixed KPIs)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4683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20083" y="5143500"/>
              <a:ext cx="134683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766918" y="5143500"/>
              <a:ext cx="134683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113753" y="5143500"/>
              <a:ext cx="134683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Apr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97720" y="5041392"/>
              <a:ext cx="897890" cy="64008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4644555" y="5028590"/>
              <a:ext cx="897890" cy="7681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5991390" y="5033391"/>
              <a:ext cx="897890" cy="7200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7338225" y="5009388"/>
              <a:ext cx="897890" cy="96012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3073248" y="5105400"/>
              <a:ext cx="53873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3716185" y="507492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 flipV="1">
              <a:off x="3746665" y="3505200"/>
              <a:ext cx="1346835" cy="160020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5063020" y="347472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712500" y="329565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093500" y="3505200"/>
              <a:ext cx="1346835" cy="32004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409855" y="379476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059335" y="361569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 flipV="1">
              <a:off x="6440335" y="2438400"/>
              <a:ext cx="1346835" cy="138684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7756690" y="240792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7406170" y="222885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716185" y="507492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3365665" y="489585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1,200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 flipV="1">
              <a:off x="3746665" y="3905250"/>
              <a:ext cx="1346835" cy="1200150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5063020" y="387477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4712500" y="369570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1,500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5093500" y="3905250"/>
              <a:ext cx="1346835" cy="400050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6409855" y="427482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6059335" y="409575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1,400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 flipV="1">
              <a:off x="6440335" y="2305050"/>
              <a:ext cx="1346835" cy="2000250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756690" y="227457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7406170" y="2095500"/>
              <a:ext cx="762000" cy="133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750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1,900</a:t>
              </a:r>
              <a:endParaRPr lang="en-US" sz="75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511388" y="2181606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Orders k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511388" y="2353056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NPS</a:t>
              </a:r>
              <a:endParaRPr lang="en-US" sz="10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8511388" y="4933950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Revenue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PowerChart" descr="tile-grid map. 1 data series: Stores. 15 categories: CA, TX, NY, FL and 1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52850"/>
            <a:chOff x="3047848" y="1524000"/>
            <a:chExt cx="6096000" cy="37528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Hexagonal tile map (US)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207761" y="1858198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3178363" y="1828800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AK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8384444" y="1858198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8355046" y="1828800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678533" y="2240004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7649135" y="2210606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VT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8149140" y="2240004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8119742" y="2210606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NH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619748" y="2240004"/>
              <a:ext cx="380062" cy="380062"/>
            </a:xfrm>
            <a:prstGeom prst="hexagon">
              <a:avLst/>
            </a:prstGeom>
            <a:solidFill>
              <a:srgbClr val="DFE6F5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590350" y="2271285"/>
              <a:ext cx="438858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590350" y="2430035"/>
              <a:ext cx="43885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8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678368" y="2621810"/>
              <a:ext cx="380062" cy="380062"/>
            </a:xfrm>
            <a:prstGeom prst="hexagon">
              <a:avLst/>
            </a:prstGeom>
            <a:solidFill>
              <a:srgbClr val="D8E0F3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3648970" y="2653091"/>
              <a:ext cx="438858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648970" y="2811841"/>
              <a:ext cx="43885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44</a:t>
              </a:r>
              <a:endParaRPr lang="en-US" sz="8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148976" y="2621810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119578" y="2592412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MT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619583" y="2621810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590186" y="2592412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ND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090191" y="2621810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5060793" y="2592412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SD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560799" y="2621810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5531401" y="2592412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MN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031406" y="2621810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6002008" y="2592412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WI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502014" y="2621810"/>
              <a:ext cx="380062" cy="380062"/>
            </a:xfrm>
            <a:prstGeom prst="hexagon">
              <a:avLst/>
            </a:prstGeom>
            <a:solidFill>
              <a:srgbClr val="E5EAF7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6472616" y="2653091"/>
              <a:ext cx="438858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MI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472616" y="2811841"/>
              <a:ext cx="43885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33</a:t>
              </a:r>
              <a:endParaRPr lang="en-US" sz="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443229" y="2621810"/>
              <a:ext cx="380062" cy="380062"/>
            </a:xfrm>
            <a:prstGeom prst="hexagon">
              <a:avLst/>
            </a:prstGeom>
            <a:solidFill>
              <a:srgbClr val="96AEE3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7413831" y="2653091"/>
              <a:ext cx="438858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NY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7413831" y="2811841"/>
              <a:ext cx="43885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88</a:t>
              </a:r>
              <a:endParaRPr lang="en-US" sz="8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7913836" y="2621810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7884438" y="2592412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CT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8384444" y="2621810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8355046" y="2592412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RI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3913672" y="3003616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3884274" y="2974218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OR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4384280" y="3003616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4354882" y="2974218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ID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854887" y="3003616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4825489" y="2974218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WY</a:t>
              </a:r>
              <a:endParaRPr lang="en-US" sz="10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5325495" y="3003616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5296097" y="2974218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NE</a:t>
              </a:r>
              <a:endParaRPr lang="en-US" sz="10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5796102" y="3003616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5766704" y="2974218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IA</a:t>
              </a:r>
              <a:endParaRPr lang="en-US" sz="10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6266710" y="3003616"/>
              <a:ext cx="380062" cy="380062"/>
            </a:xfrm>
            <a:prstGeom prst="hexagon">
              <a:avLst/>
            </a:prstGeom>
            <a:solidFill>
              <a:srgbClr val="CFD9F1"/>
            </a:solidFill>
            <a:ln/>
          </p:spPr>
        </p:sp>
        <p:sp>
          <p:nvSpPr>
            <p:cNvPr id="48" name="Text 46"/>
            <p:cNvSpPr/>
            <p:nvPr/>
          </p:nvSpPr>
          <p:spPr>
            <a:xfrm>
              <a:off x="6237312" y="3034897"/>
              <a:ext cx="438858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IL</a:t>
              </a:r>
              <a:endParaRPr lang="en-US" sz="10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6237312" y="3193647"/>
              <a:ext cx="43885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8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6737317" y="3003616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51" name="Text 49"/>
            <p:cNvSpPr/>
            <p:nvPr/>
          </p:nvSpPr>
          <p:spPr>
            <a:xfrm>
              <a:off x="6707920" y="2974218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</a:t>
              </a:r>
              <a:endParaRPr lang="en-US" sz="10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7207925" y="3003616"/>
              <a:ext cx="380062" cy="380062"/>
            </a:xfrm>
            <a:prstGeom prst="hexagon">
              <a:avLst/>
            </a:prstGeom>
            <a:solidFill>
              <a:srgbClr val="DDE4F5"/>
            </a:solidFill>
            <a:ln/>
          </p:spPr>
        </p:sp>
        <p:sp>
          <p:nvSpPr>
            <p:cNvPr id="53" name="Text 51"/>
            <p:cNvSpPr/>
            <p:nvPr/>
          </p:nvSpPr>
          <p:spPr>
            <a:xfrm>
              <a:off x="7178527" y="3034897"/>
              <a:ext cx="438858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OH</a:t>
              </a:r>
              <a:endParaRPr lang="en-US" sz="10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7178527" y="3193647"/>
              <a:ext cx="43885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8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7678533" y="3003616"/>
              <a:ext cx="380062" cy="380062"/>
            </a:xfrm>
            <a:prstGeom prst="hexagon">
              <a:avLst/>
            </a:prstGeom>
            <a:solidFill>
              <a:srgbClr val="CAD5EF"/>
            </a:solidFill>
            <a:ln/>
          </p:spPr>
        </p:sp>
        <p:sp>
          <p:nvSpPr>
            <p:cNvPr id="56" name="Text 54"/>
            <p:cNvSpPr/>
            <p:nvPr/>
          </p:nvSpPr>
          <p:spPr>
            <a:xfrm>
              <a:off x="7649135" y="3034897"/>
              <a:ext cx="438858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</a:t>
              </a:r>
              <a:endParaRPr lang="en-US" sz="10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7649135" y="3193647"/>
              <a:ext cx="43885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8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8149140" y="3003616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59" name="Text 57"/>
            <p:cNvSpPr/>
            <p:nvPr/>
          </p:nvSpPr>
          <p:spPr>
            <a:xfrm>
              <a:off x="8119742" y="2974218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NJ</a:t>
              </a:r>
              <a:endParaRPr lang="en-US" sz="10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3207761" y="3385422"/>
              <a:ext cx="380062" cy="380062"/>
            </a:xfrm>
            <a:prstGeom prst="hexagon">
              <a:avLst/>
            </a:prstGeom>
            <a:solidFill>
              <a:srgbClr val="2A78D6"/>
            </a:solidFill>
            <a:ln/>
          </p:spPr>
        </p:sp>
        <p:sp>
          <p:nvSpPr>
            <p:cNvPr id="61" name="Text 59"/>
            <p:cNvSpPr/>
            <p:nvPr/>
          </p:nvSpPr>
          <p:spPr>
            <a:xfrm>
              <a:off x="3178363" y="3416703"/>
              <a:ext cx="438858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</a:t>
              </a:r>
              <a:endParaRPr lang="en-US" sz="10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3178363" y="3575453"/>
              <a:ext cx="43885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8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3678368" y="3385422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64" name="Text 62"/>
            <p:cNvSpPr/>
            <p:nvPr/>
          </p:nvSpPr>
          <p:spPr>
            <a:xfrm>
              <a:off x="3648970" y="3356024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NV</a:t>
              </a:r>
              <a:endParaRPr lang="en-US" sz="100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4148976" y="3385422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66" name="Text 64"/>
            <p:cNvSpPr/>
            <p:nvPr/>
          </p:nvSpPr>
          <p:spPr>
            <a:xfrm>
              <a:off x="4119578" y="3356024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UT</a:t>
              </a:r>
              <a:endParaRPr lang="en-US" sz="100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4619583" y="3385422"/>
              <a:ext cx="380062" cy="380062"/>
            </a:xfrm>
            <a:prstGeom prst="hexagon">
              <a:avLst/>
            </a:prstGeom>
            <a:solidFill>
              <a:srgbClr val="E9EEF9"/>
            </a:solidFill>
            <a:ln/>
          </p:spPr>
        </p:sp>
        <p:sp>
          <p:nvSpPr>
            <p:cNvPr id="68" name="Text 66"/>
            <p:cNvSpPr/>
            <p:nvPr/>
          </p:nvSpPr>
          <p:spPr>
            <a:xfrm>
              <a:off x="4590186" y="3416703"/>
              <a:ext cx="438858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</a:t>
              </a:r>
              <a:endParaRPr lang="en-US" sz="100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4590186" y="3575453"/>
              <a:ext cx="43885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29</a:t>
              </a:r>
              <a:endParaRPr lang="en-US" sz="80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5090191" y="3385422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71" name="Text 69"/>
            <p:cNvSpPr/>
            <p:nvPr/>
          </p:nvSpPr>
          <p:spPr>
            <a:xfrm>
              <a:off x="5060793" y="3356024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KS</a:t>
              </a:r>
              <a:endParaRPr lang="en-US" sz="100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5560799" y="3385422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73" name="Text 71"/>
            <p:cNvSpPr/>
            <p:nvPr/>
          </p:nvSpPr>
          <p:spPr>
            <a:xfrm>
              <a:off x="5531401" y="3356024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</a:t>
              </a:r>
              <a:endParaRPr lang="en-US" sz="1000" dirty="0"/>
            </a:p>
          </p:txBody>
        </p:sp>
        <p:sp>
          <p:nvSpPr>
            <p:cNvPr id="74" name="Shape 72"/>
            <p:cNvSpPr/>
            <p:nvPr/>
          </p:nvSpPr>
          <p:spPr>
            <a:xfrm>
              <a:off x="6031406" y="3385422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75" name="Text 73"/>
            <p:cNvSpPr/>
            <p:nvPr/>
          </p:nvSpPr>
          <p:spPr>
            <a:xfrm>
              <a:off x="6002008" y="3356024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KY</a:t>
              </a:r>
              <a:endParaRPr lang="en-US" sz="100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6502014" y="3385422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77" name="Text 75"/>
            <p:cNvSpPr/>
            <p:nvPr/>
          </p:nvSpPr>
          <p:spPr>
            <a:xfrm>
              <a:off x="6472616" y="3356024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WV</a:t>
              </a:r>
              <a:endParaRPr lang="en-US" sz="100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6972621" y="3385422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79" name="Text 77"/>
            <p:cNvSpPr/>
            <p:nvPr/>
          </p:nvSpPr>
          <p:spPr>
            <a:xfrm>
              <a:off x="6943223" y="3356024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DC</a:t>
              </a:r>
              <a:endParaRPr lang="en-US" sz="1000" dirty="0"/>
            </a:p>
          </p:txBody>
        </p:sp>
        <p:sp>
          <p:nvSpPr>
            <p:cNvPr id="80" name="Shape 78"/>
            <p:cNvSpPr/>
            <p:nvPr/>
          </p:nvSpPr>
          <p:spPr>
            <a:xfrm>
              <a:off x="7443229" y="3385422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81" name="Text 79"/>
            <p:cNvSpPr/>
            <p:nvPr/>
          </p:nvSpPr>
          <p:spPr>
            <a:xfrm>
              <a:off x="7413831" y="3356024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MD</a:t>
              </a:r>
              <a:endParaRPr lang="en-US" sz="1000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7913836" y="3385422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83" name="Text 81"/>
            <p:cNvSpPr/>
            <p:nvPr/>
          </p:nvSpPr>
          <p:spPr>
            <a:xfrm>
              <a:off x="7884438" y="3356024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</a:t>
              </a:r>
              <a:endParaRPr lang="en-US" sz="1000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4384280" y="3767228"/>
              <a:ext cx="380062" cy="380062"/>
            </a:xfrm>
            <a:prstGeom prst="hexagon">
              <a:avLst/>
            </a:prstGeom>
            <a:solidFill>
              <a:srgbClr val="EEF1FA"/>
            </a:solidFill>
            <a:ln/>
          </p:spPr>
        </p:sp>
        <p:sp>
          <p:nvSpPr>
            <p:cNvPr id="85" name="Text 83"/>
            <p:cNvSpPr/>
            <p:nvPr/>
          </p:nvSpPr>
          <p:spPr>
            <a:xfrm>
              <a:off x="4354882" y="3798509"/>
              <a:ext cx="438858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AZ</a:t>
              </a:r>
              <a:endParaRPr lang="en-US" sz="1000" dirty="0"/>
            </a:p>
          </p:txBody>
        </p:sp>
        <p:sp>
          <p:nvSpPr>
            <p:cNvPr id="86" name="Text 84"/>
            <p:cNvSpPr/>
            <p:nvPr/>
          </p:nvSpPr>
          <p:spPr>
            <a:xfrm>
              <a:off x="4354882" y="3957259"/>
              <a:ext cx="43885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800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4854887" y="3767228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88" name="Text 86"/>
            <p:cNvSpPr/>
            <p:nvPr/>
          </p:nvSpPr>
          <p:spPr>
            <a:xfrm>
              <a:off x="4825489" y="3737830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NM</a:t>
              </a:r>
              <a:endParaRPr lang="en-US" sz="1000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5325495" y="3767228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90" name="Text 88"/>
            <p:cNvSpPr/>
            <p:nvPr/>
          </p:nvSpPr>
          <p:spPr>
            <a:xfrm>
              <a:off x="5296097" y="3737830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OK</a:t>
              </a:r>
              <a:endParaRPr lang="en-US" sz="1000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5796102" y="3767228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92" name="Text 90"/>
            <p:cNvSpPr/>
            <p:nvPr/>
          </p:nvSpPr>
          <p:spPr>
            <a:xfrm>
              <a:off x="5766704" y="3737830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AR</a:t>
              </a:r>
              <a:endParaRPr lang="en-US" sz="1000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6266710" y="3767228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94" name="Text 92"/>
            <p:cNvSpPr/>
            <p:nvPr/>
          </p:nvSpPr>
          <p:spPr>
            <a:xfrm>
              <a:off x="6237312" y="3737830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TN</a:t>
              </a:r>
              <a:endParaRPr lang="en-US" sz="1000" dirty="0"/>
            </a:p>
          </p:txBody>
        </p:sp>
        <p:sp>
          <p:nvSpPr>
            <p:cNvPr id="95" name="Shape 93"/>
            <p:cNvSpPr/>
            <p:nvPr/>
          </p:nvSpPr>
          <p:spPr>
            <a:xfrm>
              <a:off x="6737317" y="3767228"/>
              <a:ext cx="380062" cy="380062"/>
            </a:xfrm>
            <a:prstGeom prst="hexagon">
              <a:avLst/>
            </a:prstGeom>
            <a:solidFill>
              <a:srgbClr val="E8EDF8"/>
            </a:solidFill>
            <a:ln/>
          </p:spPr>
        </p:sp>
        <p:sp>
          <p:nvSpPr>
            <p:cNvPr id="96" name="Text 94"/>
            <p:cNvSpPr/>
            <p:nvPr/>
          </p:nvSpPr>
          <p:spPr>
            <a:xfrm>
              <a:off x="6707920" y="3798509"/>
              <a:ext cx="438858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VA</a:t>
              </a:r>
              <a:endParaRPr lang="en-US" sz="1000" dirty="0"/>
            </a:p>
          </p:txBody>
        </p:sp>
        <p:sp>
          <p:nvSpPr>
            <p:cNvPr id="97" name="Text 95"/>
            <p:cNvSpPr/>
            <p:nvPr/>
          </p:nvSpPr>
          <p:spPr>
            <a:xfrm>
              <a:off x="6707920" y="3957259"/>
              <a:ext cx="43885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800" dirty="0"/>
            </a:p>
          </p:txBody>
        </p:sp>
        <p:sp>
          <p:nvSpPr>
            <p:cNvPr id="98" name="Shape 96"/>
            <p:cNvSpPr/>
            <p:nvPr/>
          </p:nvSpPr>
          <p:spPr>
            <a:xfrm>
              <a:off x="7207925" y="3767228"/>
              <a:ext cx="380062" cy="380062"/>
            </a:xfrm>
            <a:prstGeom prst="hexagon">
              <a:avLst/>
            </a:prstGeom>
            <a:solidFill>
              <a:srgbClr val="F1F4FB"/>
            </a:solidFill>
            <a:ln/>
          </p:spPr>
        </p:sp>
        <p:sp>
          <p:nvSpPr>
            <p:cNvPr id="99" name="Text 97"/>
            <p:cNvSpPr/>
            <p:nvPr/>
          </p:nvSpPr>
          <p:spPr>
            <a:xfrm>
              <a:off x="7178527" y="3798509"/>
              <a:ext cx="438858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NC</a:t>
              </a:r>
              <a:endParaRPr lang="en-US" sz="1000" dirty="0"/>
            </a:p>
          </p:txBody>
        </p:sp>
        <p:sp>
          <p:nvSpPr>
            <p:cNvPr id="100" name="Text 98"/>
            <p:cNvSpPr/>
            <p:nvPr/>
          </p:nvSpPr>
          <p:spPr>
            <a:xfrm>
              <a:off x="7178527" y="3957259"/>
              <a:ext cx="43885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800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4619583" y="4149034"/>
              <a:ext cx="380062" cy="380062"/>
            </a:xfrm>
            <a:prstGeom prst="hexagon">
              <a:avLst/>
            </a:prstGeom>
            <a:solidFill>
              <a:srgbClr val="87A4E0"/>
            </a:solidFill>
            <a:ln/>
          </p:spPr>
        </p:sp>
        <p:sp>
          <p:nvSpPr>
            <p:cNvPr id="102" name="Text 100"/>
            <p:cNvSpPr/>
            <p:nvPr/>
          </p:nvSpPr>
          <p:spPr>
            <a:xfrm>
              <a:off x="4590186" y="4180315"/>
              <a:ext cx="438858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TX</a:t>
              </a:r>
              <a:endParaRPr lang="en-US" sz="1000" dirty="0"/>
            </a:p>
          </p:txBody>
        </p:sp>
        <p:sp>
          <p:nvSpPr>
            <p:cNvPr id="103" name="Text 101"/>
            <p:cNvSpPr/>
            <p:nvPr/>
          </p:nvSpPr>
          <p:spPr>
            <a:xfrm>
              <a:off x="4590186" y="4339065"/>
              <a:ext cx="43885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95</a:t>
              </a:r>
              <a:endParaRPr lang="en-US" sz="800" dirty="0"/>
            </a:p>
          </p:txBody>
        </p:sp>
        <p:sp>
          <p:nvSpPr>
            <p:cNvPr id="104" name="Shape 102"/>
            <p:cNvSpPr/>
            <p:nvPr/>
          </p:nvSpPr>
          <p:spPr>
            <a:xfrm>
              <a:off x="5090191" y="4149034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105" name="Text 103"/>
            <p:cNvSpPr/>
            <p:nvPr/>
          </p:nvSpPr>
          <p:spPr>
            <a:xfrm>
              <a:off x="5060793" y="4119636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</a:t>
              </a:r>
              <a:endParaRPr lang="en-US" sz="1000" dirty="0"/>
            </a:p>
          </p:txBody>
        </p:sp>
        <p:sp>
          <p:nvSpPr>
            <p:cNvPr id="106" name="Shape 104"/>
            <p:cNvSpPr/>
            <p:nvPr/>
          </p:nvSpPr>
          <p:spPr>
            <a:xfrm>
              <a:off x="5560799" y="4149034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107" name="Text 105"/>
            <p:cNvSpPr/>
            <p:nvPr/>
          </p:nvSpPr>
          <p:spPr>
            <a:xfrm>
              <a:off x="5531401" y="4119636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MS</a:t>
              </a:r>
              <a:endParaRPr lang="en-US" sz="1000" dirty="0"/>
            </a:p>
          </p:txBody>
        </p:sp>
        <p:sp>
          <p:nvSpPr>
            <p:cNvPr id="108" name="Shape 106"/>
            <p:cNvSpPr/>
            <p:nvPr/>
          </p:nvSpPr>
          <p:spPr>
            <a:xfrm>
              <a:off x="6031406" y="4149034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109" name="Text 107"/>
            <p:cNvSpPr/>
            <p:nvPr/>
          </p:nvSpPr>
          <p:spPr>
            <a:xfrm>
              <a:off x="6002008" y="4119636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</a:t>
              </a:r>
              <a:endParaRPr lang="en-US" sz="1000" dirty="0"/>
            </a:p>
          </p:txBody>
        </p:sp>
        <p:sp>
          <p:nvSpPr>
            <p:cNvPr id="110" name="Shape 108"/>
            <p:cNvSpPr/>
            <p:nvPr/>
          </p:nvSpPr>
          <p:spPr>
            <a:xfrm>
              <a:off x="6502014" y="4149034"/>
              <a:ext cx="380062" cy="380062"/>
            </a:xfrm>
            <a:prstGeom prst="hexagon">
              <a:avLst/>
            </a:prstGeom>
            <a:solidFill>
              <a:srgbClr val="ECF0F9"/>
            </a:solidFill>
            <a:ln/>
          </p:spPr>
        </p:sp>
        <p:sp>
          <p:nvSpPr>
            <p:cNvPr id="111" name="Text 109"/>
            <p:cNvSpPr/>
            <p:nvPr/>
          </p:nvSpPr>
          <p:spPr>
            <a:xfrm>
              <a:off x="6472616" y="4180315"/>
              <a:ext cx="438858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GA</a:t>
              </a:r>
              <a:endParaRPr lang="en-US" sz="1000" dirty="0"/>
            </a:p>
          </p:txBody>
        </p:sp>
        <p:sp>
          <p:nvSpPr>
            <p:cNvPr id="112" name="Text 110"/>
            <p:cNvSpPr/>
            <p:nvPr/>
          </p:nvSpPr>
          <p:spPr>
            <a:xfrm>
              <a:off x="6472616" y="4339065"/>
              <a:ext cx="43885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27</a:t>
              </a:r>
              <a:endParaRPr lang="en-US" sz="800" dirty="0"/>
            </a:p>
          </p:txBody>
        </p:sp>
        <p:sp>
          <p:nvSpPr>
            <p:cNvPr id="113" name="Shape 111"/>
            <p:cNvSpPr/>
            <p:nvPr/>
          </p:nvSpPr>
          <p:spPr>
            <a:xfrm>
              <a:off x="6972621" y="4149034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114" name="Text 112"/>
            <p:cNvSpPr/>
            <p:nvPr/>
          </p:nvSpPr>
          <p:spPr>
            <a:xfrm>
              <a:off x="6943223" y="4119636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</a:t>
              </a:r>
              <a:endParaRPr lang="en-US" sz="1000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3443065" y="4530840"/>
              <a:ext cx="380062" cy="380062"/>
            </a:xfrm>
            <a:prstGeom prst="hexagon">
              <a:avLst/>
            </a:prstGeom>
            <a:solidFill>
              <a:srgbClr val="E6E6E6"/>
            </a:solidFill>
            <a:ln/>
          </p:spPr>
        </p:sp>
        <p:sp>
          <p:nvSpPr>
            <p:cNvPr id="116" name="Text 114"/>
            <p:cNvSpPr/>
            <p:nvPr/>
          </p:nvSpPr>
          <p:spPr>
            <a:xfrm>
              <a:off x="3413667" y="4501442"/>
              <a:ext cx="438858" cy="438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HI</a:t>
              </a:r>
              <a:endParaRPr lang="en-US" sz="1000" dirty="0"/>
            </a:p>
          </p:txBody>
        </p:sp>
        <p:sp>
          <p:nvSpPr>
            <p:cNvPr id="117" name="Shape 115"/>
            <p:cNvSpPr/>
            <p:nvPr/>
          </p:nvSpPr>
          <p:spPr>
            <a:xfrm>
              <a:off x="6737317" y="4530840"/>
              <a:ext cx="380062" cy="380062"/>
            </a:xfrm>
            <a:prstGeom prst="hexagon">
              <a:avLst/>
            </a:prstGeom>
            <a:solidFill>
              <a:srgbClr val="AEC0E8"/>
            </a:solidFill>
            <a:ln/>
          </p:spPr>
        </p:sp>
        <p:sp>
          <p:nvSpPr>
            <p:cNvPr id="118" name="Text 116"/>
            <p:cNvSpPr/>
            <p:nvPr/>
          </p:nvSpPr>
          <p:spPr>
            <a:xfrm>
              <a:off x="6707920" y="4562121"/>
              <a:ext cx="438858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FL</a:t>
              </a:r>
              <a:endParaRPr lang="en-US" sz="1000" dirty="0"/>
            </a:p>
          </p:txBody>
        </p:sp>
        <p:sp>
          <p:nvSpPr>
            <p:cNvPr id="119" name="Text 117"/>
            <p:cNvSpPr/>
            <p:nvPr/>
          </p:nvSpPr>
          <p:spPr>
            <a:xfrm>
              <a:off x="6707920" y="4720871"/>
              <a:ext cx="43885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800" dirty="0"/>
            </a:p>
          </p:txBody>
        </p:sp>
        <p:sp>
          <p:nvSpPr>
            <p:cNvPr id="120" name="Shape 118"/>
            <p:cNvSpPr/>
            <p:nvPr/>
          </p:nvSpPr>
          <p:spPr>
            <a:xfrm>
              <a:off x="3178363" y="5003800"/>
              <a:ext cx="69850" cy="1143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121" name="Shape 119"/>
            <p:cNvSpPr/>
            <p:nvPr/>
          </p:nvSpPr>
          <p:spPr>
            <a:xfrm>
              <a:off x="3241863" y="5003800"/>
              <a:ext cx="69850" cy="114300"/>
            </a:xfrm>
            <a:prstGeom prst="rect">
              <a:avLst/>
            </a:prstGeom>
            <a:solidFill>
              <a:srgbClr val="ECF0FA"/>
            </a:solidFill>
            <a:ln/>
          </p:spPr>
        </p:sp>
        <p:sp>
          <p:nvSpPr>
            <p:cNvPr id="122" name="Shape 120"/>
            <p:cNvSpPr/>
            <p:nvPr/>
          </p:nvSpPr>
          <p:spPr>
            <a:xfrm>
              <a:off x="3305363" y="5003800"/>
              <a:ext cx="69850" cy="114300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123" name="Shape 121"/>
            <p:cNvSpPr/>
            <p:nvPr/>
          </p:nvSpPr>
          <p:spPr>
            <a:xfrm>
              <a:off x="3368863" y="5003800"/>
              <a:ext cx="69850" cy="114300"/>
            </a:xfrm>
            <a:prstGeom prst="rect">
              <a:avLst/>
            </a:prstGeom>
            <a:solidFill>
              <a:srgbClr val="E3E9F7"/>
            </a:solidFill>
            <a:ln/>
          </p:spPr>
        </p:sp>
        <p:sp>
          <p:nvSpPr>
            <p:cNvPr id="124" name="Shape 122"/>
            <p:cNvSpPr/>
            <p:nvPr/>
          </p:nvSpPr>
          <p:spPr>
            <a:xfrm>
              <a:off x="3432363" y="5003800"/>
              <a:ext cx="69850" cy="114300"/>
            </a:xfrm>
            <a:prstGeom prst="rect">
              <a:avLst/>
            </a:prstGeom>
            <a:solidFill>
              <a:srgbClr val="DEE5F5"/>
            </a:solidFill>
            <a:ln/>
          </p:spPr>
        </p:sp>
        <p:sp>
          <p:nvSpPr>
            <p:cNvPr id="125" name="Shape 123"/>
            <p:cNvSpPr/>
            <p:nvPr/>
          </p:nvSpPr>
          <p:spPr>
            <a:xfrm>
              <a:off x="3495863" y="5003800"/>
              <a:ext cx="69850" cy="114300"/>
            </a:xfrm>
            <a:prstGeom prst="rect">
              <a:avLst/>
            </a:prstGeom>
            <a:solidFill>
              <a:srgbClr val="D9E0F4"/>
            </a:solidFill>
            <a:ln/>
          </p:spPr>
        </p:sp>
        <p:sp>
          <p:nvSpPr>
            <p:cNvPr id="126" name="Shape 124"/>
            <p:cNvSpPr/>
            <p:nvPr/>
          </p:nvSpPr>
          <p:spPr>
            <a:xfrm>
              <a:off x="3559363" y="5003800"/>
              <a:ext cx="69850" cy="114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127" name="Shape 125"/>
            <p:cNvSpPr/>
            <p:nvPr/>
          </p:nvSpPr>
          <p:spPr>
            <a:xfrm>
              <a:off x="3622863" y="5003800"/>
              <a:ext cx="69850" cy="114300"/>
            </a:xfrm>
            <a:prstGeom prst="rect">
              <a:avLst/>
            </a:prstGeom>
            <a:solidFill>
              <a:srgbClr val="CED8F1"/>
            </a:solidFill>
            <a:ln/>
          </p:spPr>
        </p:sp>
        <p:sp>
          <p:nvSpPr>
            <p:cNvPr id="128" name="Shape 126"/>
            <p:cNvSpPr/>
            <p:nvPr/>
          </p:nvSpPr>
          <p:spPr>
            <a:xfrm>
              <a:off x="3686363" y="5003800"/>
              <a:ext cx="69850" cy="114300"/>
            </a:xfrm>
            <a:prstGeom prst="rect">
              <a:avLst/>
            </a:prstGeom>
            <a:solidFill>
              <a:srgbClr val="C9D4EF"/>
            </a:solidFill>
            <a:ln/>
          </p:spPr>
        </p:sp>
        <p:sp>
          <p:nvSpPr>
            <p:cNvPr id="129" name="Shape 127"/>
            <p:cNvSpPr/>
            <p:nvPr/>
          </p:nvSpPr>
          <p:spPr>
            <a:xfrm>
              <a:off x="3749863" y="5003800"/>
              <a:ext cx="69850" cy="114300"/>
            </a:xfrm>
            <a:prstGeom prst="rect">
              <a:avLst/>
            </a:prstGeom>
            <a:solidFill>
              <a:srgbClr val="C3CFED"/>
            </a:solidFill>
            <a:ln/>
          </p:spPr>
        </p:sp>
        <p:sp>
          <p:nvSpPr>
            <p:cNvPr id="130" name="Shape 128"/>
            <p:cNvSpPr/>
            <p:nvPr/>
          </p:nvSpPr>
          <p:spPr>
            <a:xfrm>
              <a:off x="3813363" y="5003800"/>
              <a:ext cx="69850" cy="114300"/>
            </a:xfrm>
            <a:prstGeom prst="rect">
              <a:avLst/>
            </a:prstGeom>
            <a:solidFill>
              <a:srgbClr val="BDCAEC"/>
            </a:solidFill>
            <a:ln/>
          </p:spPr>
        </p:sp>
        <p:sp>
          <p:nvSpPr>
            <p:cNvPr id="131" name="Shape 129"/>
            <p:cNvSpPr/>
            <p:nvPr/>
          </p:nvSpPr>
          <p:spPr>
            <a:xfrm>
              <a:off x="3876863" y="5003800"/>
              <a:ext cx="69850" cy="114300"/>
            </a:xfrm>
            <a:prstGeom prst="rect">
              <a:avLst/>
            </a:prstGeom>
            <a:solidFill>
              <a:srgbClr val="B6C6EA"/>
            </a:solidFill>
            <a:ln/>
          </p:spPr>
        </p:sp>
        <p:sp>
          <p:nvSpPr>
            <p:cNvPr id="132" name="Shape 130"/>
            <p:cNvSpPr/>
            <p:nvPr/>
          </p:nvSpPr>
          <p:spPr>
            <a:xfrm>
              <a:off x="3940363" y="5003800"/>
              <a:ext cx="69850" cy="114300"/>
            </a:xfrm>
            <a:prstGeom prst="rect">
              <a:avLst/>
            </a:prstGeom>
            <a:solidFill>
              <a:srgbClr val="B0C1E9"/>
            </a:solidFill>
            <a:ln/>
          </p:spPr>
        </p:sp>
        <p:sp>
          <p:nvSpPr>
            <p:cNvPr id="133" name="Shape 131"/>
            <p:cNvSpPr/>
            <p:nvPr/>
          </p:nvSpPr>
          <p:spPr>
            <a:xfrm>
              <a:off x="4003863" y="5003800"/>
              <a:ext cx="69850" cy="114300"/>
            </a:xfrm>
            <a:prstGeom prst="rect">
              <a:avLst/>
            </a:prstGeom>
            <a:solidFill>
              <a:srgbClr val="A9BBE7"/>
            </a:solidFill>
            <a:ln/>
          </p:spPr>
        </p:sp>
        <p:sp>
          <p:nvSpPr>
            <p:cNvPr id="134" name="Shape 132"/>
            <p:cNvSpPr/>
            <p:nvPr/>
          </p:nvSpPr>
          <p:spPr>
            <a:xfrm>
              <a:off x="4067363" y="5003800"/>
              <a:ext cx="69850" cy="114300"/>
            </a:xfrm>
            <a:prstGeom prst="rect">
              <a:avLst/>
            </a:prstGeom>
            <a:solidFill>
              <a:srgbClr val="A1B6E5"/>
            </a:solidFill>
            <a:ln/>
          </p:spPr>
        </p:sp>
        <p:sp>
          <p:nvSpPr>
            <p:cNvPr id="135" name="Shape 133"/>
            <p:cNvSpPr/>
            <p:nvPr/>
          </p:nvSpPr>
          <p:spPr>
            <a:xfrm>
              <a:off x="4130863" y="5003800"/>
              <a:ext cx="69850" cy="114300"/>
            </a:xfrm>
            <a:prstGeom prst="rect">
              <a:avLst/>
            </a:prstGeom>
            <a:solidFill>
              <a:srgbClr val="9AB1E4"/>
            </a:solidFill>
            <a:ln/>
          </p:spPr>
        </p:sp>
        <p:sp>
          <p:nvSpPr>
            <p:cNvPr id="136" name="Shape 134"/>
            <p:cNvSpPr/>
            <p:nvPr/>
          </p:nvSpPr>
          <p:spPr>
            <a:xfrm>
              <a:off x="4194363" y="5003800"/>
              <a:ext cx="69850" cy="114300"/>
            </a:xfrm>
            <a:prstGeom prst="rect">
              <a:avLst/>
            </a:prstGeom>
            <a:solidFill>
              <a:srgbClr val="91ABE2"/>
            </a:solidFill>
            <a:ln/>
          </p:spPr>
        </p:sp>
        <p:sp>
          <p:nvSpPr>
            <p:cNvPr id="137" name="Shape 135"/>
            <p:cNvSpPr/>
            <p:nvPr/>
          </p:nvSpPr>
          <p:spPr>
            <a:xfrm>
              <a:off x="4257863" y="5003800"/>
              <a:ext cx="69850" cy="114300"/>
            </a:xfrm>
            <a:prstGeom prst="rect">
              <a:avLst/>
            </a:prstGeom>
            <a:solidFill>
              <a:srgbClr val="88A5E0"/>
            </a:solidFill>
            <a:ln/>
          </p:spPr>
        </p:sp>
        <p:sp>
          <p:nvSpPr>
            <p:cNvPr id="138" name="Shape 136"/>
            <p:cNvSpPr/>
            <p:nvPr/>
          </p:nvSpPr>
          <p:spPr>
            <a:xfrm>
              <a:off x="4321363" y="5003800"/>
              <a:ext cx="69850" cy="114300"/>
            </a:xfrm>
            <a:prstGeom prst="rect">
              <a:avLst/>
            </a:prstGeom>
            <a:solidFill>
              <a:srgbClr val="7E9EDF"/>
            </a:solidFill>
            <a:ln/>
          </p:spPr>
        </p:sp>
        <p:sp>
          <p:nvSpPr>
            <p:cNvPr id="139" name="Shape 137"/>
            <p:cNvSpPr/>
            <p:nvPr/>
          </p:nvSpPr>
          <p:spPr>
            <a:xfrm>
              <a:off x="4384863" y="5003800"/>
              <a:ext cx="69850" cy="114300"/>
            </a:xfrm>
            <a:prstGeom prst="rect">
              <a:avLst/>
            </a:prstGeom>
            <a:solidFill>
              <a:srgbClr val="7398DD"/>
            </a:solidFill>
            <a:ln/>
          </p:spPr>
        </p:sp>
        <p:sp>
          <p:nvSpPr>
            <p:cNvPr id="140" name="Shape 138"/>
            <p:cNvSpPr/>
            <p:nvPr/>
          </p:nvSpPr>
          <p:spPr>
            <a:xfrm>
              <a:off x="4448363" y="5003800"/>
              <a:ext cx="69850" cy="114300"/>
            </a:xfrm>
            <a:prstGeom prst="rect">
              <a:avLst/>
            </a:prstGeom>
            <a:solidFill>
              <a:srgbClr val="6791DB"/>
            </a:solidFill>
            <a:ln/>
          </p:spPr>
        </p:sp>
        <p:sp>
          <p:nvSpPr>
            <p:cNvPr id="141" name="Shape 139"/>
            <p:cNvSpPr/>
            <p:nvPr/>
          </p:nvSpPr>
          <p:spPr>
            <a:xfrm>
              <a:off x="4511863" y="5003800"/>
              <a:ext cx="69850" cy="114300"/>
            </a:xfrm>
            <a:prstGeom prst="rect">
              <a:avLst/>
            </a:prstGeom>
            <a:solidFill>
              <a:srgbClr val="5889DA"/>
            </a:solidFill>
            <a:ln/>
          </p:spPr>
        </p:sp>
        <p:sp>
          <p:nvSpPr>
            <p:cNvPr id="142" name="Shape 140"/>
            <p:cNvSpPr/>
            <p:nvPr/>
          </p:nvSpPr>
          <p:spPr>
            <a:xfrm>
              <a:off x="4575363" y="5003800"/>
              <a:ext cx="69850" cy="114300"/>
            </a:xfrm>
            <a:prstGeom prst="rect">
              <a:avLst/>
            </a:prstGeom>
            <a:solidFill>
              <a:srgbClr val="4681D8"/>
            </a:solidFill>
            <a:ln/>
          </p:spPr>
        </p:sp>
        <p:sp>
          <p:nvSpPr>
            <p:cNvPr id="143" name="Shape 141"/>
            <p:cNvSpPr/>
            <p:nvPr/>
          </p:nvSpPr>
          <p:spPr>
            <a:xfrm>
              <a:off x="4638863" y="5003800"/>
              <a:ext cx="69850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4" name="Text 142"/>
            <p:cNvSpPr/>
            <p:nvPr/>
          </p:nvSpPr>
          <p:spPr>
            <a:xfrm>
              <a:off x="3178363" y="5124450"/>
              <a:ext cx="762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850" dirty="0"/>
            </a:p>
          </p:txBody>
        </p:sp>
        <p:sp>
          <p:nvSpPr>
            <p:cNvPr id="145" name="Text 143"/>
            <p:cNvSpPr/>
            <p:nvPr/>
          </p:nvSpPr>
          <p:spPr>
            <a:xfrm>
              <a:off x="3940363" y="5124450"/>
              <a:ext cx="762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850" dirty="0"/>
            </a:p>
          </p:txBody>
        </p:sp>
        <p:sp>
          <p:nvSpPr>
            <p:cNvPr id="146" name="Shape 144"/>
            <p:cNvSpPr/>
            <p:nvPr/>
          </p:nvSpPr>
          <p:spPr>
            <a:xfrm>
              <a:off x="4829363" y="5003800"/>
              <a:ext cx="114300" cy="114300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47" name="Text 145"/>
            <p:cNvSpPr/>
            <p:nvPr/>
          </p:nvSpPr>
          <p:spPr>
            <a:xfrm>
              <a:off x="4969063" y="4978400"/>
              <a:ext cx="76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 data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PowerChart" descr="tile-grid map. 4 data series: Q1, Q2, Q3, Q4. 6 categories: CA, TX, NY, FL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663950"/>
            <a:chOff x="3047848" y="1524000"/>
            <a:chExt cx="6096000" cy="36639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Tile map with per-region mini-bars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754285" y="1828800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3754285" y="1850469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AK</a:t>
              </a:r>
              <a:endParaRPr lang="en-US" sz="8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8076254" y="1828800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8076254" y="1850469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</a:t>
              </a:r>
              <a:endParaRPr lang="en-US" sz="8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290441" y="2221706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7290441" y="2243376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VT</a:t>
              </a:r>
              <a:endParaRPr lang="en-US" sz="8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7683348" y="2221706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7683348" y="2243376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NH</a:t>
              </a:r>
              <a:endParaRPr lang="en-US" sz="85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076254" y="2221706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076254" y="2243376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</a:t>
              </a:r>
              <a:endParaRPr lang="en-US" sz="8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147191" y="2614613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4186919" y="2887586"/>
              <a:ext cx="64075" cy="376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4257344" y="2880062"/>
              <a:ext cx="64075" cy="4514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4327769" y="2876300"/>
              <a:ext cx="64075" cy="4890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4398195" y="2865014"/>
              <a:ext cx="64075" cy="60193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147191" y="2636282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</a:t>
              </a:r>
              <a:endParaRPr lang="en-US" sz="8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540098" y="2614613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540098" y="2636282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MT</a:t>
              </a:r>
              <a:endParaRPr lang="en-US" sz="8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933004" y="2614613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933004" y="2636282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ND</a:t>
              </a:r>
              <a:endParaRPr lang="en-US" sz="85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325910" y="2614613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5325910" y="2636282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SD</a:t>
              </a:r>
              <a:endParaRPr lang="en-US" sz="8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718816" y="2614613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5718816" y="2636282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MN</a:t>
              </a:r>
              <a:endParaRPr lang="en-US" sz="8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111723" y="2614613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6111723" y="2636282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WI</a:t>
              </a:r>
              <a:endParaRPr lang="en-US" sz="8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6504629" y="2614613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6504629" y="2636282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MI</a:t>
              </a:r>
              <a:endParaRPr lang="en-US" sz="8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7290441" y="2614613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7330169" y="2857490"/>
              <a:ext cx="64075" cy="6771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7400594" y="2849966"/>
              <a:ext cx="64075" cy="7524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7471019" y="2842442"/>
              <a:ext cx="64075" cy="8276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7541445" y="2827394"/>
              <a:ext cx="64075" cy="97813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7290441" y="2636282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NY</a:t>
              </a:r>
              <a:endParaRPr lang="en-US" sz="85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7683348" y="2614613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7683348" y="2636282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CT</a:t>
              </a:r>
              <a:endParaRPr lang="en-US" sz="85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8076254" y="2614613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8076254" y="2636282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RI</a:t>
              </a:r>
              <a:endParaRPr lang="en-US" sz="8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147191" y="3007519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4147191" y="3029188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OR</a:t>
              </a:r>
              <a:endParaRPr lang="en-US" sz="85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4540098" y="3007519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4540098" y="3029188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ID</a:t>
              </a:r>
              <a:endParaRPr lang="en-US" sz="85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4933004" y="3007519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4933004" y="3029188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WY</a:t>
              </a:r>
              <a:endParaRPr lang="en-US" sz="85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5325910" y="3007519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48" name="Text 46"/>
            <p:cNvSpPr/>
            <p:nvPr/>
          </p:nvSpPr>
          <p:spPr>
            <a:xfrm>
              <a:off x="5325910" y="3029188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NE</a:t>
              </a:r>
              <a:endParaRPr lang="en-US" sz="85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5718816" y="3007519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50" name="Text 48"/>
            <p:cNvSpPr/>
            <p:nvPr/>
          </p:nvSpPr>
          <p:spPr>
            <a:xfrm>
              <a:off x="5718816" y="3029188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IA</a:t>
              </a:r>
              <a:endParaRPr lang="en-US" sz="85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111723" y="3007519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6151450" y="3272969"/>
              <a:ext cx="64075" cy="4514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6221875" y="3265445"/>
              <a:ext cx="64075" cy="5266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6292301" y="3261682"/>
              <a:ext cx="64075" cy="5643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6362726" y="3250396"/>
              <a:ext cx="64075" cy="67717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56" name="Text 54"/>
            <p:cNvSpPr/>
            <p:nvPr/>
          </p:nvSpPr>
          <p:spPr>
            <a:xfrm>
              <a:off x="6111723" y="3029188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IL</a:t>
              </a:r>
              <a:endParaRPr lang="en-US" sz="85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6504629" y="3007519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58" name="Text 56"/>
            <p:cNvSpPr/>
            <p:nvPr/>
          </p:nvSpPr>
          <p:spPr>
            <a:xfrm>
              <a:off x="6504629" y="3029188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</a:t>
              </a:r>
              <a:endParaRPr lang="en-US" sz="85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6897535" y="3007519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60" name="Text 58"/>
            <p:cNvSpPr/>
            <p:nvPr/>
          </p:nvSpPr>
          <p:spPr>
            <a:xfrm>
              <a:off x="6897535" y="3029188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OH</a:t>
              </a:r>
              <a:endParaRPr lang="en-US" sz="85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7290441" y="3007519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62" name="Text 60"/>
            <p:cNvSpPr/>
            <p:nvPr/>
          </p:nvSpPr>
          <p:spPr>
            <a:xfrm>
              <a:off x="7290441" y="3029188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</a:t>
              </a:r>
              <a:endParaRPr lang="en-US" sz="85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7683348" y="3007519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64" name="Text 62"/>
            <p:cNvSpPr/>
            <p:nvPr/>
          </p:nvSpPr>
          <p:spPr>
            <a:xfrm>
              <a:off x="7683348" y="3029188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NJ</a:t>
              </a:r>
              <a:endParaRPr lang="en-US" sz="85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3754285" y="3400425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3794012" y="3598158"/>
              <a:ext cx="64075" cy="11286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3864438" y="3579348"/>
              <a:ext cx="64075" cy="13167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3934863" y="3560538"/>
              <a:ext cx="64075" cy="150482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4005289" y="3530441"/>
              <a:ext cx="64075" cy="180578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70" name="Text 68"/>
            <p:cNvSpPr/>
            <p:nvPr/>
          </p:nvSpPr>
          <p:spPr>
            <a:xfrm>
              <a:off x="3754285" y="3422094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</a:t>
              </a:r>
              <a:endParaRPr lang="en-US" sz="85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4147191" y="3400425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72" name="Text 70"/>
            <p:cNvSpPr/>
            <p:nvPr/>
          </p:nvSpPr>
          <p:spPr>
            <a:xfrm>
              <a:off x="4147191" y="3422094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NV</a:t>
              </a:r>
              <a:endParaRPr lang="en-US" sz="85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4540098" y="3400425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74" name="Text 72"/>
            <p:cNvSpPr/>
            <p:nvPr/>
          </p:nvSpPr>
          <p:spPr>
            <a:xfrm>
              <a:off x="4540098" y="3422094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UT</a:t>
              </a:r>
              <a:endParaRPr lang="en-US" sz="850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4933004" y="3400425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76" name="Text 74"/>
            <p:cNvSpPr/>
            <p:nvPr/>
          </p:nvSpPr>
          <p:spPr>
            <a:xfrm>
              <a:off x="4933004" y="3422094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</a:t>
              </a:r>
              <a:endParaRPr lang="en-US" sz="850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5325910" y="3400425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78" name="Text 76"/>
            <p:cNvSpPr/>
            <p:nvPr/>
          </p:nvSpPr>
          <p:spPr>
            <a:xfrm>
              <a:off x="5325910" y="3422094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KS</a:t>
              </a:r>
              <a:endParaRPr lang="en-US" sz="85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5718816" y="3400425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80" name="Text 78"/>
            <p:cNvSpPr/>
            <p:nvPr/>
          </p:nvSpPr>
          <p:spPr>
            <a:xfrm>
              <a:off x="5718816" y="3422094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</a:t>
              </a:r>
              <a:endParaRPr lang="en-US" sz="850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6111723" y="3400425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82" name="Text 80"/>
            <p:cNvSpPr/>
            <p:nvPr/>
          </p:nvSpPr>
          <p:spPr>
            <a:xfrm>
              <a:off x="6111723" y="3422094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KY</a:t>
              </a:r>
              <a:endParaRPr lang="en-US" sz="85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6504629" y="3400425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84" name="Text 82"/>
            <p:cNvSpPr/>
            <p:nvPr/>
          </p:nvSpPr>
          <p:spPr>
            <a:xfrm>
              <a:off x="6504629" y="3422094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WV</a:t>
              </a:r>
              <a:endParaRPr lang="en-US" sz="850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6897535" y="3400425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86" name="Text 84"/>
            <p:cNvSpPr/>
            <p:nvPr/>
          </p:nvSpPr>
          <p:spPr>
            <a:xfrm>
              <a:off x="6897535" y="3422094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DC</a:t>
              </a:r>
              <a:endParaRPr lang="en-US" sz="850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7290441" y="3400425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88" name="Text 86"/>
            <p:cNvSpPr/>
            <p:nvPr/>
          </p:nvSpPr>
          <p:spPr>
            <a:xfrm>
              <a:off x="7290441" y="3422094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MD</a:t>
              </a:r>
              <a:endParaRPr lang="en-US" sz="850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7683348" y="3400425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90" name="Text 88"/>
            <p:cNvSpPr/>
            <p:nvPr/>
          </p:nvSpPr>
          <p:spPr>
            <a:xfrm>
              <a:off x="7683348" y="3422094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</a:t>
              </a:r>
              <a:endParaRPr lang="en-US" sz="850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4540098" y="3793331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92" name="Text 90"/>
            <p:cNvSpPr/>
            <p:nvPr/>
          </p:nvSpPr>
          <p:spPr>
            <a:xfrm>
              <a:off x="4540098" y="3815001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AZ</a:t>
              </a:r>
              <a:endParaRPr lang="en-US" sz="850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4933004" y="3793331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94" name="Text 92"/>
            <p:cNvSpPr/>
            <p:nvPr/>
          </p:nvSpPr>
          <p:spPr>
            <a:xfrm>
              <a:off x="4933004" y="3815001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NM</a:t>
              </a:r>
              <a:endParaRPr lang="en-US" sz="850" dirty="0"/>
            </a:p>
          </p:txBody>
        </p:sp>
        <p:sp>
          <p:nvSpPr>
            <p:cNvPr id="95" name="Shape 93"/>
            <p:cNvSpPr/>
            <p:nvPr/>
          </p:nvSpPr>
          <p:spPr>
            <a:xfrm>
              <a:off x="5325910" y="3793331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96" name="Text 94"/>
            <p:cNvSpPr/>
            <p:nvPr/>
          </p:nvSpPr>
          <p:spPr>
            <a:xfrm>
              <a:off x="5325910" y="3815001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OK</a:t>
              </a:r>
              <a:endParaRPr lang="en-US" sz="850" dirty="0"/>
            </a:p>
          </p:txBody>
        </p:sp>
        <p:sp>
          <p:nvSpPr>
            <p:cNvPr id="97" name="Shape 95"/>
            <p:cNvSpPr/>
            <p:nvPr/>
          </p:nvSpPr>
          <p:spPr>
            <a:xfrm>
              <a:off x="5718816" y="3793331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98" name="Text 96"/>
            <p:cNvSpPr/>
            <p:nvPr/>
          </p:nvSpPr>
          <p:spPr>
            <a:xfrm>
              <a:off x="5718816" y="3815001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AR</a:t>
              </a:r>
              <a:endParaRPr lang="en-US" sz="850" dirty="0"/>
            </a:p>
          </p:txBody>
        </p:sp>
        <p:sp>
          <p:nvSpPr>
            <p:cNvPr id="99" name="Shape 97"/>
            <p:cNvSpPr/>
            <p:nvPr/>
          </p:nvSpPr>
          <p:spPr>
            <a:xfrm>
              <a:off x="6111723" y="3793331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00" name="Text 98"/>
            <p:cNvSpPr/>
            <p:nvPr/>
          </p:nvSpPr>
          <p:spPr>
            <a:xfrm>
              <a:off x="6111723" y="3815001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TN</a:t>
              </a:r>
              <a:endParaRPr lang="en-US" sz="850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6504629" y="3793331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02" name="Text 100"/>
            <p:cNvSpPr/>
            <p:nvPr/>
          </p:nvSpPr>
          <p:spPr>
            <a:xfrm>
              <a:off x="6504629" y="3815001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VA</a:t>
              </a:r>
              <a:endParaRPr lang="en-US" sz="850" dirty="0"/>
            </a:p>
          </p:txBody>
        </p:sp>
        <p:sp>
          <p:nvSpPr>
            <p:cNvPr id="103" name="Shape 101"/>
            <p:cNvSpPr/>
            <p:nvPr/>
          </p:nvSpPr>
          <p:spPr>
            <a:xfrm>
              <a:off x="6897535" y="3793331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04" name="Text 102"/>
            <p:cNvSpPr/>
            <p:nvPr/>
          </p:nvSpPr>
          <p:spPr>
            <a:xfrm>
              <a:off x="6897535" y="3815001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NC</a:t>
              </a:r>
              <a:endParaRPr lang="en-US" sz="850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4933004" y="4186238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06" name="Shape 104"/>
            <p:cNvSpPr/>
            <p:nvPr/>
          </p:nvSpPr>
          <p:spPr>
            <a:xfrm>
              <a:off x="4972731" y="4421591"/>
              <a:ext cx="64075" cy="7524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7" name="Shape 105"/>
            <p:cNvSpPr/>
            <p:nvPr/>
          </p:nvSpPr>
          <p:spPr>
            <a:xfrm>
              <a:off x="5043157" y="4402781"/>
              <a:ext cx="64075" cy="9405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8" name="Shape 106"/>
            <p:cNvSpPr/>
            <p:nvPr/>
          </p:nvSpPr>
          <p:spPr>
            <a:xfrm>
              <a:off x="5113582" y="4391495"/>
              <a:ext cx="64075" cy="10533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9" name="Shape 107"/>
            <p:cNvSpPr/>
            <p:nvPr/>
          </p:nvSpPr>
          <p:spPr>
            <a:xfrm>
              <a:off x="5184007" y="4376446"/>
              <a:ext cx="64075" cy="120385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110" name="Text 108"/>
            <p:cNvSpPr/>
            <p:nvPr/>
          </p:nvSpPr>
          <p:spPr>
            <a:xfrm>
              <a:off x="4933004" y="4207907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TX</a:t>
              </a:r>
              <a:endParaRPr lang="en-US" sz="850" dirty="0"/>
            </a:p>
          </p:txBody>
        </p:sp>
        <p:sp>
          <p:nvSpPr>
            <p:cNvPr id="111" name="Shape 109"/>
            <p:cNvSpPr/>
            <p:nvPr/>
          </p:nvSpPr>
          <p:spPr>
            <a:xfrm>
              <a:off x="5325910" y="4186238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12" name="Text 110"/>
            <p:cNvSpPr/>
            <p:nvPr/>
          </p:nvSpPr>
          <p:spPr>
            <a:xfrm>
              <a:off x="5325910" y="4207907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</a:t>
              </a:r>
              <a:endParaRPr lang="en-US" sz="850" dirty="0"/>
            </a:p>
          </p:txBody>
        </p:sp>
        <p:sp>
          <p:nvSpPr>
            <p:cNvPr id="113" name="Shape 111"/>
            <p:cNvSpPr/>
            <p:nvPr/>
          </p:nvSpPr>
          <p:spPr>
            <a:xfrm>
              <a:off x="5718816" y="4186238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14" name="Text 112"/>
            <p:cNvSpPr/>
            <p:nvPr/>
          </p:nvSpPr>
          <p:spPr>
            <a:xfrm>
              <a:off x="5718816" y="4207907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MS</a:t>
              </a:r>
              <a:endParaRPr lang="en-US" sz="850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6111723" y="4186238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16" name="Text 114"/>
            <p:cNvSpPr/>
            <p:nvPr/>
          </p:nvSpPr>
          <p:spPr>
            <a:xfrm>
              <a:off x="6111723" y="4207907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</a:t>
              </a:r>
              <a:endParaRPr lang="en-US" sz="850" dirty="0"/>
            </a:p>
          </p:txBody>
        </p:sp>
        <p:sp>
          <p:nvSpPr>
            <p:cNvPr id="117" name="Shape 115"/>
            <p:cNvSpPr/>
            <p:nvPr/>
          </p:nvSpPr>
          <p:spPr>
            <a:xfrm>
              <a:off x="6504629" y="4186238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18" name="Text 116"/>
            <p:cNvSpPr/>
            <p:nvPr/>
          </p:nvSpPr>
          <p:spPr>
            <a:xfrm>
              <a:off x="6504629" y="4207907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GA</a:t>
              </a:r>
              <a:endParaRPr lang="en-US" sz="850" dirty="0"/>
            </a:p>
          </p:txBody>
        </p:sp>
        <p:sp>
          <p:nvSpPr>
            <p:cNvPr id="119" name="Shape 117"/>
            <p:cNvSpPr/>
            <p:nvPr/>
          </p:nvSpPr>
          <p:spPr>
            <a:xfrm>
              <a:off x="6897535" y="4186238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20" name="Text 118"/>
            <p:cNvSpPr/>
            <p:nvPr/>
          </p:nvSpPr>
          <p:spPr>
            <a:xfrm>
              <a:off x="6897535" y="4207907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</a:t>
              </a:r>
              <a:endParaRPr lang="en-US" sz="850" dirty="0"/>
            </a:p>
          </p:txBody>
        </p:sp>
        <p:sp>
          <p:nvSpPr>
            <p:cNvPr id="121" name="Shape 119"/>
            <p:cNvSpPr/>
            <p:nvPr/>
          </p:nvSpPr>
          <p:spPr>
            <a:xfrm>
              <a:off x="3754285" y="4579144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22" name="Text 120"/>
            <p:cNvSpPr/>
            <p:nvPr/>
          </p:nvSpPr>
          <p:spPr>
            <a:xfrm>
              <a:off x="3754285" y="4600813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HI</a:t>
              </a:r>
              <a:endParaRPr lang="en-US" sz="850" dirty="0"/>
            </a:p>
          </p:txBody>
        </p:sp>
        <p:sp>
          <p:nvSpPr>
            <p:cNvPr id="123" name="Shape 121"/>
            <p:cNvSpPr/>
            <p:nvPr/>
          </p:nvSpPr>
          <p:spPr>
            <a:xfrm>
              <a:off x="6504629" y="4579144"/>
              <a:ext cx="361156" cy="361156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24" name="Shape 122"/>
            <p:cNvSpPr/>
            <p:nvPr/>
          </p:nvSpPr>
          <p:spPr>
            <a:xfrm>
              <a:off x="6544356" y="4833307"/>
              <a:ext cx="64075" cy="5643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5" name="Shape 123"/>
            <p:cNvSpPr/>
            <p:nvPr/>
          </p:nvSpPr>
          <p:spPr>
            <a:xfrm>
              <a:off x="6614782" y="4825783"/>
              <a:ext cx="64075" cy="6395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6" name="Shape 124"/>
            <p:cNvSpPr/>
            <p:nvPr/>
          </p:nvSpPr>
          <p:spPr>
            <a:xfrm>
              <a:off x="6685207" y="4818259"/>
              <a:ext cx="64075" cy="7147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27" name="Shape 125"/>
            <p:cNvSpPr/>
            <p:nvPr/>
          </p:nvSpPr>
          <p:spPr>
            <a:xfrm>
              <a:off x="6755632" y="4806973"/>
              <a:ext cx="64075" cy="82765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128" name="Text 126"/>
            <p:cNvSpPr/>
            <p:nvPr/>
          </p:nvSpPr>
          <p:spPr>
            <a:xfrm>
              <a:off x="6504629" y="4600813"/>
              <a:ext cx="36115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FL</a:t>
              </a:r>
              <a:endParaRPr lang="en-US" sz="850" dirty="0"/>
            </a:p>
          </p:txBody>
        </p:sp>
        <p:sp>
          <p:nvSpPr>
            <p:cNvPr id="129" name="Shape 127"/>
            <p:cNvSpPr/>
            <p:nvPr/>
          </p:nvSpPr>
          <p:spPr>
            <a:xfrm>
              <a:off x="3754285" y="50482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0" name="Text 128"/>
            <p:cNvSpPr/>
            <p:nvPr/>
          </p:nvSpPr>
          <p:spPr>
            <a:xfrm>
              <a:off x="3881285" y="5010150"/>
              <a:ext cx="213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850" dirty="0"/>
            </a:p>
          </p:txBody>
        </p:sp>
        <p:sp>
          <p:nvSpPr>
            <p:cNvPr id="131" name="Shape 129"/>
            <p:cNvSpPr/>
            <p:nvPr/>
          </p:nvSpPr>
          <p:spPr>
            <a:xfrm>
              <a:off x="4170845" y="50482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2" name="Text 130"/>
            <p:cNvSpPr/>
            <p:nvPr/>
          </p:nvSpPr>
          <p:spPr>
            <a:xfrm>
              <a:off x="4297845" y="5010150"/>
              <a:ext cx="213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850" dirty="0"/>
            </a:p>
          </p:txBody>
        </p:sp>
        <p:sp>
          <p:nvSpPr>
            <p:cNvPr id="133" name="Shape 131"/>
            <p:cNvSpPr/>
            <p:nvPr/>
          </p:nvSpPr>
          <p:spPr>
            <a:xfrm>
              <a:off x="4587405" y="504825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34" name="Text 132"/>
            <p:cNvSpPr/>
            <p:nvPr/>
          </p:nvSpPr>
          <p:spPr>
            <a:xfrm>
              <a:off x="4714405" y="5010150"/>
              <a:ext cx="213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850" dirty="0"/>
            </a:p>
          </p:txBody>
        </p:sp>
        <p:sp>
          <p:nvSpPr>
            <p:cNvPr id="135" name="Shape 133"/>
            <p:cNvSpPr/>
            <p:nvPr/>
          </p:nvSpPr>
          <p:spPr>
            <a:xfrm>
              <a:off x="5003965" y="5048250"/>
              <a:ext cx="88900" cy="88900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136" name="Text 134"/>
            <p:cNvSpPr/>
            <p:nvPr/>
          </p:nvSpPr>
          <p:spPr>
            <a:xfrm>
              <a:off x="5130965" y="5010150"/>
              <a:ext cx="213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owerChart" descr="100% stacked column chart. 3 data series: New, Renewal, Returns. 3 categories: Q1, Q2, Q3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100% chart with negative segments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329184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19050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3047848" y="45897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0%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32029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50%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100%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479648" y="5143500"/>
              <a:ext cx="166031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139961" y="5143500"/>
              <a:ext cx="166031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800274" y="5143500"/>
              <a:ext cx="166031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756366" y="3014472"/>
              <a:ext cx="1106876" cy="1664208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705566" y="3751326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60%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756366" y="1905000"/>
              <a:ext cx="1106876" cy="1109472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705566" y="2364486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40%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756366" y="4678680"/>
              <a:ext cx="1106876" cy="416052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705566" y="4791456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-15%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416680" y="2990353"/>
              <a:ext cx="1106876" cy="168832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365880" y="3739267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61%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416680" y="1905000"/>
              <a:ext cx="1106876" cy="108535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365880" y="2352427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39%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416680" y="4678680"/>
              <a:ext cx="1106876" cy="24119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365880" y="4704025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-9%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076993" y="2971800"/>
              <a:ext cx="1106876" cy="170688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7026193" y="3729990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62%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076993" y="1905000"/>
              <a:ext cx="1106876" cy="106680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026193" y="2343150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38%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076993" y="4678680"/>
              <a:ext cx="1106876" cy="42672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7026193" y="4796790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-15%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479648" y="4678680"/>
              <a:ext cx="49809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8511388" y="2352675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Renewal</a:t>
              </a:r>
              <a:endParaRPr lang="en-US" sz="1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8511388" y="3739515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New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511388" y="4806315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Returns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PowerChart" descr="doughnut chart. 1 data series: Share. 4 categories: Us, Rival A, Rival B, Others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4599940"/>
            <a:chOff x="3047848" y="1524000"/>
            <a:chExt cx="6096000" cy="459994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Semi-circle gauge (market share)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954628" y="1841500"/>
              <a:ext cx="4282440" cy="4282440"/>
            </a:xfrm>
            <a:custGeom>
              <a:avLst/>
              <a:gdLst/>
              <a:ahLst/>
              <a:cxnLst/>
              <a:rect l="l" t="t" r="r" b="b"/>
              <a:pathLst>
                <a:path w="4282440" h="4282440">
                  <a:moveTo>
                    <a:pt x="0" y="2141220"/>
                  </a:moveTo>
                  <a:lnTo>
                    <a:pt x="11020" y="1924264"/>
                  </a:lnTo>
                  <a:lnTo>
                    <a:pt x="43965" y="1709542"/>
                  </a:lnTo>
                  <a:lnTo>
                    <a:pt x="98498" y="1499262"/>
                  </a:lnTo>
                  <a:lnTo>
                    <a:pt x="174056" y="1295590"/>
                  </a:lnTo>
                  <a:lnTo>
                    <a:pt x="269862" y="1100623"/>
                  </a:lnTo>
                  <a:lnTo>
                    <a:pt x="384930" y="916366"/>
                  </a:lnTo>
                  <a:lnTo>
                    <a:pt x="518075" y="744716"/>
                  </a:lnTo>
                  <a:lnTo>
                    <a:pt x="667927" y="587440"/>
                  </a:lnTo>
                  <a:lnTo>
                    <a:pt x="832944" y="446158"/>
                  </a:lnTo>
                  <a:lnTo>
                    <a:pt x="1011426" y="322322"/>
                  </a:lnTo>
                  <a:lnTo>
                    <a:pt x="1201538" y="217209"/>
                  </a:lnTo>
                  <a:lnTo>
                    <a:pt x="1401321" y="131899"/>
                  </a:lnTo>
                  <a:lnTo>
                    <a:pt x="1608720" y="67270"/>
                  </a:lnTo>
                  <a:lnTo>
                    <a:pt x="1832370" y="938329"/>
                  </a:lnTo>
                  <a:lnTo>
                    <a:pt x="1712079" y="975814"/>
                  </a:lnTo>
                  <a:lnTo>
                    <a:pt x="1596204" y="1025293"/>
                  </a:lnTo>
                  <a:lnTo>
                    <a:pt x="1485940" y="1086259"/>
                  </a:lnTo>
                  <a:lnTo>
                    <a:pt x="1382420" y="1158084"/>
                  </a:lnTo>
                  <a:lnTo>
                    <a:pt x="1286710" y="1240028"/>
                  </a:lnTo>
                  <a:lnTo>
                    <a:pt x="1199796" y="1331248"/>
                  </a:lnTo>
                  <a:lnTo>
                    <a:pt x="1122572" y="1430804"/>
                  </a:lnTo>
                  <a:lnTo>
                    <a:pt x="1055832" y="1537674"/>
                  </a:lnTo>
                  <a:lnTo>
                    <a:pt x="1000265" y="1650755"/>
                  </a:lnTo>
                  <a:lnTo>
                    <a:pt x="956441" y="1768884"/>
                  </a:lnTo>
                  <a:lnTo>
                    <a:pt x="924812" y="1890847"/>
                  </a:lnTo>
                  <a:lnTo>
                    <a:pt x="905704" y="2015386"/>
                  </a:lnTo>
                  <a:lnTo>
                    <a:pt x="899312" y="2141220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4338725" y="2619756"/>
              <a:ext cx="55192" cy="42812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3861392" y="2512830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Us 42%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954628" y="1841500"/>
              <a:ext cx="4282440" cy="4282440"/>
            </a:xfrm>
            <a:custGeom>
              <a:avLst/>
              <a:gdLst/>
              <a:ahLst/>
              <a:cxnLst/>
              <a:rect l="l" t="t" r="r" b="b"/>
              <a:pathLst>
                <a:path w="4282440" h="4282440">
                  <a:moveTo>
                    <a:pt x="1608720" y="67270"/>
                  </a:moveTo>
                  <a:lnTo>
                    <a:pt x="1813644" y="25206"/>
                  </a:lnTo>
                  <a:lnTo>
                    <a:pt x="2021694" y="3339"/>
                  </a:lnTo>
                  <a:lnTo>
                    <a:pt x="2230885" y="1878"/>
                  </a:lnTo>
                  <a:lnTo>
                    <a:pt x="2439220" y="20838"/>
                  </a:lnTo>
                  <a:lnTo>
                    <a:pt x="2644711" y="60038"/>
                  </a:lnTo>
                  <a:lnTo>
                    <a:pt x="2845396" y="119102"/>
                  </a:lnTo>
                  <a:lnTo>
                    <a:pt x="3039359" y="197469"/>
                  </a:lnTo>
                  <a:lnTo>
                    <a:pt x="3224750" y="294388"/>
                  </a:lnTo>
                  <a:lnTo>
                    <a:pt x="3399798" y="408937"/>
                  </a:lnTo>
                  <a:lnTo>
                    <a:pt x="2871195" y="1136496"/>
                  </a:lnTo>
                  <a:lnTo>
                    <a:pt x="2769667" y="1070058"/>
                  </a:lnTo>
                  <a:lnTo>
                    <a:pt x="2662141" y="1013844"/>
                  </a:lnTo>
                  <a:lnTo>
                    <a:pt x="2549642" y="968392"/>
                  </a:lnTo>
                  <a:lnTo>
                    <a:pt x="2433245" y="934134"/>
                  </a:lnTo>
                  <a:lnTo>
                    <a:pt x="2314060" y="911399"/>
                  </a:lnTo>
                  <a:lnTo>
                    <a:pt x="2193226" y="900402"/>
                  </a:lnTo>
                  <a:lnTo>
                    <a:pt x="2071895" y="901249"/>
                  </a:lnTo>
                  <a:lnTo>
                    <a:pt x="1951226" y="913932"/>
                  </a:lnTo>
                  <a:lnTo>
                    <a:pt x="1832370" y="938329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 flipV="1">
              <a:off x="6499452" y="1798339"/>
              <a:ext cx="13089" cy="68613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516110" y="1708404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Rival A 28%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954628" y="1841500"/>
              <a:ext cx="4282440" cy="4282440"/>
            </a:xfrm>
            <a:custGeom>
              <a:avLst/>
              <a:gdLst/>
              <a:ahLst/>
              <a:cxnLst/>
              <a:rect l="l" t="t" r="r" b="b"/>
              <a:pathLst>
                <a:path w="4282440" h="4282440">
                  <a:moveTo>
                    <a:pt x="3399798" y="408937"/>
                  </a:moveTo>
                  <a:lnTo>
                    <a:pt x="3557234" y="535067"/>
                  </a:lnTo>
                  <a:lnTo>
                    <a:pt x="3702102" y="675454"/>
                  </a:lnTo>
                  <a:lnTo>
                    <a:pt x="3833116" y="828851"/>
                  </a:lnTo>
                  <a:lnTo>
                    <a:pt x="3949112" y="993897"/>
                  </a:lnTo>
                  <a:lnTo>
                    <a:pt x="4049061" y="1169126"/>
                  </a:lnTo>
                  <a:lnTo>
                    <a:pt x="4132076" y="1352984"/>
                  </a:lnTo>
                  <a:lnTo>
                    <a:pt x="3295916" y="1684043"/>
                  </a:lnTo>
                  <a:lnTo>
                    <a:pt x="3247768" y="1577406"/>
                  </a:lnTo>
                  <a:lnTo>
                    <a:pt x="3189797" y="1475773"/>
                  </a:lnTo>
                  <a:lnTo>
                    <a:pt x="3122520" y="1380046"/>
                  </a:lnTo>
                  <a:lnTo>
                    <a:pt x="3046532" y="1291076"/>
                  </a:lnTo>
                  <a:lnTo>
                    <a:pt x="2962508" y="1209651"/>
                  </a:lnTo>
                  <a:lnTo>
                    <a:pt x="2871195" y="1136496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 flipV="1">
              <a:off x="7797778" y="2619756"/>
              <a:ext cx="55192" cy="42812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7868023" y="2512830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Rival B 18%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954628" y="1841500"/>
              <a:ext cx="4282440" cy="4282440"/>
            </a:xfrm>
            <a:custGeom>
              <a:avLst/>
              <a:gdLst/>
              <a:ahLst/>
              <a:cxnLst/>
              <a:rect l="l" t="t" r="r" b="b"/>
              <a:pathLst>
                <a:path w="4282440" h="4282440">
                  <a:moveTo>
                    <a:pt x="4132076" y="1352984"/>
                  </a:moveTo>
                  <a:lnTo>
                    <a:pt x="4197420" y="1543839"/>
                  </a:lnTo>
                  <a:lnTo>
                    <a:pt x="4244513" y="1739995"/>
                  </a:lnTo>
                  <a:lnTo>
                    <a:pt x="4272937" y="1939713"/>
                  </a:lnTo>
                  <a:lnTo>
                    <a:pt x="4282440" y="2141220"/>
                  </a:lnTo>
                  <a:lnTo>
                    <a:pt x="3383128" y="2141220"/>
                  </a:lnTo>
                  <a:lnTo>
                    <a:pt x="3377616" y="2024346"/>
                  </a:lnTo>
                  <a:lnTo>
                    <a:pt x="3361130" y="1908510"/>
                  </a:lnTo>
                  <a:lnTo>
                    <a:pt x="3333816" y="1794739"/>
                  </a:lnTo>
                  <a:lnTo>
                    <a:pt x="3295916" y="1684043"/>
                  </a:lnTo>
                  <a:close/>
                </a:path>
              </a:pathLst>
            </a:cu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 flipV="1">
              <a:off x="8211616" y="3566027"/>
              <a:ext cx="68613" cy="13089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8298941" y="3467207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Others 12%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954628" y="3766820"/>
              <a:ext cx="4282440" cy="254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7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1700" dirty="0"/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PowerChart" descr="combination chart. 2 data series: Defects, Cumulative %. 6 categories: Scratches, Dents, Misalign, Cracks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Pareto chart (defect causes)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8978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Scratches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971138" y="5143500"/>
              <a:ext cx="8978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Dents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869028" y="5143500"/>
              <a:ext cx="8978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Misalign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766918" y="5143500"/>
              <a:ext cx="8978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Cracks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664808" y="5143500"/>
              <a:ext cx="8978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Paint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562698" y="5143500"/>
              <a:ext cx="8978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Other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22896" y="2545080"/>
              <a:ext cx="598593" cy="25603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172096" y="3729990"/>
              <a:ext cx="7001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120786" y="3398520"/>
              <a:ext cx="598593" cy="170688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069986" y="4156710"/>
              <a:ext cx="7001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018676" y="4145280"/>
              <a:ext cx="598593" cy="9601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967876" y="4530090"/>
              <a:ext cx="7001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916566" y="4465320"/>
              <a:ext cx="598593" cy="64008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865766" y="4690110"/>
              <a:ext cx="7001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814456" y="4785360"/>
              <a:ext cx="598593" cy="32004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763656" y="4850130"/>
              <a:ext cx="7001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712346" y="4892040"/>
              <a:ext cx="598593" cy="21336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7661546" y="4903470"/>
              <a:ext cx="7001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073248" y="5105400"/>
              <a:ext cx="53873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8511388" y="4912995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Defects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8485988" y="34163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8485988" y="18161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491713" y="379476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3141193" y="354584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 flipV="1">
              <a:off x="3522193" y="2970733"/>
              <a:ext cx="897890" cy="85450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4389603" y="2940253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4039083" y="276118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67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 flipV="1">
              <a:off x="4420083" y="2490673"/>
              <a:ext cx="897890" cy="48006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5287493" y="2460193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4936973" y="228112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82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 flipV="1">
              <a:off x="5317973" y="2170633"/>
              <a:ext cx="897890" cy="32004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6185383" y="2140153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5834863" y="196108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92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 flipV="1">
              <a:off x="6215863" y="2010613"/>
              <a:ext cx="897890" cy="16002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7083273" y="1980133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6732753" y="180106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 flipV="1">
              <a:off x="7113753" y="1905000"/>
              <a:ext cx="897890" cy="105613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7981163" y="187452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7630643" y="169545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10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8511388" y="1947704"/>
              <a:ext cx="6324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Cumulative %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PowerChart" descr="line chart. 5 data series: Acme, Globex, Initech, Umbrella and 1 more. 5 categories: 2021, 2022, 2023, 2024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02050"/>
            <a:chOff x="3047848" y="1524000"/>
            <a:chExt cx="6096000" cy="37020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Bump chart (brand rank by year)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215488" y="1803400"/>
              <a:ext cx="101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01668" y="1803400"/>
              <a:ext cx="101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587848" y="1803400"/>
              <a:ext cx="101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774028" y="1803400"/>
              <a:ext cx="101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960208" y="1803400"/>
              <a:ext cx="101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723488" y="2006600"/>
              <a:ext cx="1186180" cy="781050"/>
            </a:xfrm>
            <a:prstGeom prst="line">
              <a:avLst/>
            </a:prstGeom>
            <a:noFill/>
            <a:ln w="44450">
              <a:solidFill>
                <a:srgbClr val="2A78D6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4909668" y="2787650"/>
              <a:ext cx="1186180" cy="0"/>
            </a:xfrm>
            <a:prstGeom prst="line">
              <a:avLst/>
            </a:prstGeom>
            <a:noFill/>
            <a:ln w="44450">
              <a:solidFill>
                <a:srgbClr val="2A78D6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 flipV="1">
              <a:off x="6095848" y="2006600"/>
              <a:ext cx="1186180" cy="781050"/>
            </a:xfrm>
            <a:prstGeom prst="line">
              <a:avLst/>
            </a:prstGeom>
            <a:noFill/>
            <a:ln w="44450">
              <a:solidFill>
                <a:srgbClr val="2A78D6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7282028" y="2006600"/>
              <a:ext cx="1186180" cy="0"/>
            </a:xfrm>
            <a:prstGeom prst="line">
              <a:avLst/>
            </a:prstGeom>
            <a:noFill/>
            <a:ln w="44450">
              <a:solidFill>
                <a:srgbClr val="2A78D6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3672688" y="1955800"/>
              <a:ext cx="101600" cy="101600"/>
            </a:xfrm>
            <a:prstGeom prst="ellipse">
              <a:avLst/>
            </a:prstGeom>
            <a:solidFill>
              <a:srgbClr val="2A78D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858868" y="2736850"/>
              <a:ext cx="101600" cy="101600"/>
            </a:xfrm>
            <a:prstGeom prst="ellipse">
              <a:avLst/>
            </a:prstGeom>
            <a:solidFill>
              <a:srgbClr val="2A78D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6045048" y="2736850"/>
              <a:ext cx="101600" cy="101600"/>
            </a:xfrm>
            <a:prstGeom prst="ellipse">
              <a:avLst/>
            </a:prstGeom>
            <a:solidFill>
              <a:srgbClr val="2A78D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7231228" y="1955800"/>
              <a:ext cx="101600" cy="101600"/>
            </a:xfrm>
            <a:prstGeom prst="ellipse">
              <a:avLst/>
            </a:prstGeom>
            <a:solidFill>
              <a:srgbClr val="2A78D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8417408" y="1955800"/>
              <a:ext cx="101600" cy="101600"/>
            </a:xfrm>
            <a:prstGeom prst="ellipse">
              <a:avLst/>
            </a:prstGeom>
            <a:solidFill>
              <a:srgbClr val="2A78D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047848" y="191135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Acme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8531708" y="191135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Acme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 flipV="1">
              <a:off x="3723488" y="2006600"/>
              <a:ext cx="1186180" cy="781050"/>
            </a:xfrm>
            <a:prstGeom prst="line">
              <a:avLst/>
            </a:prstGeom>
            <a:noFill/>
            <a:ln w="44450">
              <a:solidFill>
                <a:srgbClr val="1BAF7A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909668" y="2006600"/>
              <a:ext cx="1186180" cy="0"/>
            </a:xfrm>
            <a:prstGeom prst="line">
              <a:avLst/>
            </a:prstGeom>
            <a:noFill/>
            <a:ln w="44450">
              <a:solidFill>
                <a:srgbClr val="1BAF7A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095848" y="2006600"/>
              <a:ext cx="1186180" cy="1562100"/>
            </a:xfrm>
            <a:prstGeom prst="line">
              <a:avLst/>
            </a:prstGeom>
            <a:noFill/>
            <a:ln w="44450">
              <a:solidFill>
                <a:srgbClr val="1BAF7A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 flipV="1">
              <a:off x="7282028" y="2787650"/>
              <a:ext cx="1186180" cy="781050"/>
            </a:xfrm>
            <a:prstGeom prst="line">
              <a:avLst/>
            </a:prstGeom>
            <a:noFill/>
            <a:ln w="44450">
              <a:solidFill>
                <a:srgbClr val="1BAF7A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3672688" y="273685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4858868" y="195580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6045048" y="195580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7231228" y="351790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8417408" y="273685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3047848" y="269240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Globex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531708" y="269240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Globex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723488" y="3568700"/>
              <a:ext cx="1186180" cy="0"/>
            </a:xfrm>
            <a:prstGeom prst="line">
              <a:avLst/>
            </a:prstGeom>
            <a:noFill/>
            <a:ln w="44450">
              <a:solidFill>
                <a:srgbClr val="EDA100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4909668" y="3568700"/>
              <a:ext cx="1186180" cy="781050"/>
            </a:xfrm>
            <a:prstGeom prst="line">
              <a:avLst/>
            </a:prstGeom>
            <a:noFill/>
            <a:ln w="44450">
              <a:solidFill>
                <a:srgbClr val="EDA100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 flipV="1">
              <a:off x="6095848" y="2787650"/>
              <a:ext cx="1186180" cy="1562100"/>
            </a:xfrm>
            <a:prstGeom prst="line">
              <a:avLst/>
            </a:prstGeom>
            <a:noFill/>
            <a:ln w="44450">
              <a:solidFill>
                <a:srgbClr val="EDA100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7282028" y="2787650"/>
              <a:ext cx="1186180" cy="781050"/>
            </a:xfrm>
            <a:prstGeom prst="line">
              <a:avLst/>
            </a:prstGeom>
            <a:noFill/>
            <a:ln w="44450">
              <a:solidFill>
                <a:srgbClr val="EDA100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3672688" y="3517900"/>
              <a:ext cx="101600" cy="101600"/>
            </a:xfrm>
            <a:prstGeom prst="ellipse">
              <a:avLst/>
            </a:prstGeom>
            <a:solidFill>
              <a:srgbClr val="EDA1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4858868" y="3517900"/>
              <a:ext cx="101600" cy="101600"/>
            </a:xfrm>
            <a:prstGeom prst="ellipse">
              <a:avLst/>
            </a:prstGeom>
            <a:solidFill>
              <a:srgbClr val="EDA1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6045048" y="4298950"/>
              <a:ext cx="101600" cy="101600"/>
            </a:xfrm>
            <a:prstGeom prst="ellipse">
              <a:avLst/>
            </a:prstGeom>
            <a:solidFill>
              <a:srgbClr val="EDA1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7231228" y="2736850"/>
              <a:ext cx="101600" cy="101600"/>
            </a:xfrm>
            <a:prstGeom prst="ellipse">
              <a:avLst/>
            </a:prstGeom>
            <a:solidFill>
              <a:srgbClr val="EDA1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8417408" y="3517900"/>
              <a:ext cx="101600" cy="101600"/>
            </a:xfrm>
            <a:prstGeom prst="ellipse">
              <a:avLst/>
            </a:prstGeom>
            <a:solidFill>
              <a:srgbClr val="EDA1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3047848" y="347345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Initech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8531708" y="347345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Initech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3723488" y="4349750"/>
              <a:ext cx="1186180" cy="0"/>
            </a:xfrm>
            <a:prstGeom prst="line">
              <a:avLst/>
            </a:prstGeom>
            <a:noFill/>
            <a:ln w="44450">
              <a:solidFill>
                <a:srgbClr val="008300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 flipV="1">
              <a:off x="4909668" y="3568700"/>
              <a:ext cx="1186180" cy="781050"/>
            </a:xfrm>
            <a:prstGeom prst="line">
              <a:avLst/>
            </a:prstGeom>
            <a:noFill/>
            <a:ln w="44450">
              <a:solidFill>
                <a:srgbClr val="008300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6095848" y="3568700"/>
              <a:ext cx="1186180" cy="781050"/>
            </a:xfrm>
            <a:prstGeom prst="line">
              <a:avLst/>
            </a:prstGeom>
            <a:noFill/>
            <a:ln w="44450">
              <a:solidFill>
                <a:srgbClr val="008300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7282028" y="4349750"/>
              <a:ext cx="1186180" cy="781050"/>
            </a:xfrm>
            <a:prstGeom prst="line">
              <a:avLst/>
            </a:prstGeom>
            <a:noFill/>
            <a:ln w="44450">
              <a:solidFill>
                <a:srgbClr val="008300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3672688" y="4298950"/>
              <a:ext cx="101600" cy="101600"/>
            </a:xfrm>
            <a:prstGeom prst="ellipse">
              <a:avLst/>
            </a:prstGeom>
            <a:solidFill>
              <a:srgbClr val="0083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4858868" y="4298950"/>
              <a:ext cx="101600" cy="101600"/>
            </a:xfrm>
            <a:prstGeom prst="ellipse">
              <a:avLst/>
            </a:prstGeom>
            <a:solidFill>
              <a:srgbClr val="0083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6045048" y="3517900"/>
              <a:ext cx="101600" cy="101600"/>
            </a:xfrm>
            <a:prstGeom prst="ellipse">
              <a:avLst/>
            </a:prstGeom>
            <a:solidFill>
              <a:srgbClr val="0083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48" name="Shape 46"/>
            <p:cNvSpPr/>
            <p:nvPr/>
          </p:nvSpPr>
          <p:spPr>
            <a:xfrm>
              <a:off x="7231228" y="4298950"/>
              <a:ext cx="101600" cy="101600"/>
            </a:xfrm>
            <a:prstGeom prst="ellipse">
              <a:avLst/>
            </a:prstGeom>
            <a:solidFill>
              <a:srgbClr val="0083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49" name="Shape 47"/>
            <p:cNvSpPr/>
            <p:nvPr/>
          </p:nvSpPr>
          <p:spPr>
            <a:xfrm>
              <a:off x="8417408" y="5080000"/>
              <a:ext cx="101600" cy="101600"/>
            </a:xfrm>
            <a:prstGeom prst="ellipse">
              <a:avLst/>
            </a:prstGeom>
            <a:solidFill>
              <a:srgbClr val="0083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50" name="Text 48"/>
            <p:cNvSpPr/>
            <p:nvPr/>
          </p:nvSpPr>
          <p:spPr>
            <a:xfrm>
              <a:off x="3047848" y="425450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0083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Umbrella</a:t>
              </a:r>
              <a:endParaRPr lang="en-US" sz="10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8531708" y="503555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083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Umbrella</a:t>
              </a:r>
              <a:endParaRPr lang="en-US" sz="10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3723488" y="5130800"/>
              <a:ext cx="1186180" cy="0"/>
            </a:xfrm>
            <a:prstGeom prst="line">
              <a:avLst/>
            </a:prstGeom>
            <a:noFill/>
            <a:ln w="44450">
              <a:solidFill>
                <a:srgbClr val="4A3AA7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4909668" y="5130800"/>
              <a:ext cx="1186180" cy="0"/>
            </a:xfrm>
            <a:prstGeom prst="line">
              <a:avLst/>
            </a:prstGeom>
            <a:noFill/>
            <a:ln w="44450">
              <a:solidFill>
                <a:srgbClr val="4A3AA7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>
              <a:off x="6095848" y="5130800"/>
              <a:ext cx="1186180" cy="0"/>
            </a:xfrm>
            <a:prstGeom prst="line">
              <a:avLst/>
            </a:prstGeom>
            <a:noFill/>
            <a:ln w="44450">
              <a:solidFill>
                <a:srgbClr val="4A3AA7"/>
              </a:solidFill>
              <a:prstDash val="solid"/>
            </a:ln>
          </p:spPr>
        </p:sp>
        <p:sp>
          <p:nvSpPr>
            <p:cNvPr id="55" name="Shape 53"/>
            <p:cNvSpPr/>
            <p:nvPr/>
          </p:nvSpPr>
          <p:spPr>
            <a:xfrm flipV="1">
              <a:off x="7282028" y="4349750"/>
              <a:ext cx="1186180" cy="781050"/>
            </a:xfrm>
            <a:prstGeom prst="line">
              <a:avLst/>
            </a:prstGeom>
            <a:noFill/>
            <a:ln w="44450">
              <a:solidFill>
                <a:srgbClr val="4A3AA7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>
              <a:off x="3672688" y="5080000"/>
              <a:ext cx="101600" cy="101600"/>
            </a:xfrm>
            <a:prstGeom prst="ellipse">
              <a:avLst/>
            </a:prstGeom>
            <a:solidFill>
              <a:srgbClr val="4A3AA7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57" name="Shape 55"/>
            <p:cNvSpPr/>
            <p:nvPr/>
          </p:nvSpPr>
          <p:spPr>
            <a:xfrm>
              <a:off x="4858868" y="5080000"/>
              <a:ext cx="101600" cy="101600"/>
            </a:xfrm>
            <a:prstGeom prst="ellipse">
              <a:avLst/>
            </a:prstGeom>
            <a:solidFill>
              <a:srgbClr val="4A3AA7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58" name="Shape 56"/>
            <p:cNvSpPr/>
            <p:nvPr/>
          </p:nvSpPr>
          <p:spPr>
            <a:xfrm>
              <a:off x="6045048" y="5080000"/>
              <a:ext cx="101600" cy="101600"/>
            </a:xfrm>
            <a:prstGeom prst="ellipse">
              <a:avLst/>
            </a:prstGeom>
            <a:solidFill>
              <a:srgbClr val="4A3AA7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>
              <a:off x="7231228" y="5080000"/>
              <a:ext cx="101600" cy="101600"/>
            </a:xfrm>
            <a:prstGeom prst="ellipse">
              <a:avLst/>
            </a:prstGeom>
            <a:solidFill>
              <a:srgbClr val="4A3AA7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60" name="Shape 58"/>
            <p:cNvSpPr/>
            <p:nvPr/>
          </p:nvSpPr>
          <p:spPr>
            <a:xfrm>
              <a:off x="8417408" y="4298950"/>
              <a:ext cx="101600" cy="101600"/>
            </a:xfrm>
            <a:prstGeom prst="ellipse">
              <a:avLst/>
            </a:prstGeom>
            <a:solidFill>
              <a:srgbClr val="4A3AA7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61" name="Text 59"/>
            <p:cNvSpPr/>
            <p:nvPr/>
          </p:nvSpPr>
          <p:spPr>
            <a:xfrm>
              <a:off x="3047848" y="503555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4A3AA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Soylent</a:t>
              </a:r>
              <a:endParaRPr lang="en-US" sz="10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8531708" y="425450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4A3AA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Soylent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PowerChart" descr="line chart (horizontal). 1 data series: Score. 6 categories: Strategy, Execution, Culture, Innovation and 2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73800" cy="3810000"/>
            <a:chOff x="3047848" y="1524000"/>
            <a:chExt cx="62738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Horizontal profile chart (line)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871568" y="1879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5907888" y="1879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6944208" y="1879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7980528" y="1879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9016848" y="1879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530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6676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60308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63940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67572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7120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047848" y="2055283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Strategy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047848" y="2597150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Execution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047848" y="3139017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Culture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047848" y="3680883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Innovation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047848" y="4222750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Finance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047848" y="4764617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Talent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535520" y="2120053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7616800" y="2055283"/>
              <a:ext cx="381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72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 flipV="1">
              <a:off x="6840576" y="2150533"/>
              <a:ext cx="725424" cy="54186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6810096" y="26619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891376" y="2597150"/>
              <a:ext cx="381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840576" y="2692400"/>
              <a:ext cx="1139952" cy="54186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7950048" y="3203787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8031328" y="3139017"/>
              <a:ext cx="381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 flipV="1">
              <a:off x="7203288" y="3234267"/>
              <a:ext cx="777240" cy="54186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172808" y="3745653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7254088" y="3680883"/>
              <a:ext cx="381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65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7203288" y="3776133"/>
              <a:ext cx="1295400" cy="54186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8468208" y="42875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8549488" y="4222750"/>
              <a:ext cx="381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90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 flipV="1">
              <a:off x="6322416" y="4318000"/>
              <a:ext cx="2176272" cy="54186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6291936" y="4829387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6373216" y="4764617"/>
              <a:ext cx="381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PowerChart" descr="area chart (horizontal). 2 data series: Retail, Online. 5 categories: North, South, East, West and 1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73800" cy="3810000"/>
            <a:chOff x="3047848" y="1524000"/>
            <a:chExt cx="62738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Horizontal profile chart (stacked area)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976343" y="2057400"/>
              <a:ext cx="0" cy="3073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6323178" y="2057400"/>
              <a:ext cx="0" cy="3073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7670013" y="2057400"/>
              <a:ext cx="0" cy="3073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9016848" y="2057400"/>
              <a:ext cx="0" cy="3073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32470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671543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01837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365213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7120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047848" y="226949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47848" y="288417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047848" y="349885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047848" y="411353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West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047848" y="472821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Central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629508" y="18732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3756508" y="1828800"/>
              <a:ext cx="4876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Retail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320388" y="18732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447388" y="1828800"/>
              <a:ext cx="4876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Online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629508" y="2364740"/>
              <a:ext cx="273252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3629508" y="2412023"/>
              <a:ext cx="281022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3629508" y="2459306"/>
              <a:ext cx="2887925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3629508" y="2506589"/>
              <a:ext cx="2965627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3629508" y="2553872"/>
              <a:ext cx="3043329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3629508" y="2601155"/>
              <a:ext cx="312103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3629508" y="2648438"/>
              <a:ext cx="319873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3629508" y="2695722"/>
              <a:ext cx="3276435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3629508" y="2743005"/>
              <a:ext cx="3354137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3629508" y="2790288"/>
              <a:ext cx="3431839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3629508" y="2837571"/>
              <a:ext cx="350954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3629508" y="2884854"/>
              <a:ext cx="358724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3629508" y="2932137"/>
              <a:ext cx="3664945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3629508" y="2979420"/>
              <a:ext cx="3639045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3629508" y="3026703"/>
              <a:ext cx="350954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3629508" y="3073986"/>
              <a:ext cx="3380038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3629508" y="3121269"/>
              <a:ext cx="3250534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3629508" y="3168552"/>
              <a:ext cx="312103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3629508" y="3215835"/>
              <a:ext cx="2991528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3629508" y="3263118"/>
              <a:ext cx="2862024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3629508" y="3310402"/>
              <a:ext cx="273252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3629508" y="3357685"/>
              <a:ext cx="2603018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3629508" y="3404968"/>
              <a:ext cx="2473514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3629508" y="3452251"/>
              <a:ext cx="234401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3629508" y="3499534"/>
              <a:ext cx="2214508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3629508" y="3546817"/>
              <a:ext cx="2085004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3629508" y="3594100"/>
              <a:ext cx="2066874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3629508" y="3641383"/>
              <a:ext cx="2160116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3629508" y="3688666"/>
              <a:ext cx="2253359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3629508" y="3735949"/>
              <a:ext cx="234660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3629508" y="3783232"/>
              <a:ext cx="243984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3629508" y="3830515"/>
              <a:ext cx="2533086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3629508" y="3877798"/>
              <a:ext cx="2626328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3629508" y="3925082"/>
              <a:ext cx="271957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3629508" y="3972365"/>
              <a:ext cx="281281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3629508" y="4019648"/>
              <a:ext cx="2906056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3629508" y="4066931"/>
              <a:ext cx="2999298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3629508" y="4114214"/>
              <a:ext cx="3092540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3629508" y="4161497"/>
              <a:ext cx="318578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3629508" y="4208780"/>
              <a:ext cx="319873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3629508" y="4256063"/>
              <a:ext cx="313139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3629508" y="4303346"/>
              <a:ext cx="3064050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3629508" y="4350629"/>
              <a:ext cx="2996708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3629508" y="4397912"/>
              <a:ext cx="2929366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3629508" y="4445195"/>
              <a:ext cx="2862024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3629508" y="4492478"/>
              <a:ext cx="279468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3629508" y="4539762"/>
              <a:ext cx="272734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3629508" y="4587045"/>
              <a:ext cx="2659999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3629508" y="4634328"/>
              <a:ext cx="2592657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3629508" y="4681611"/>
              <a:ext cx="2525316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3629508" y="4728894"/>
              <a:ext cx="2457974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3629508" y="4776177"/>
              <a:ext cx="2390632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6362029" y="2364740"/>
              <a:ext cx="1670593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6439731" y="2412023"/>
              <a:ext cx="1644693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6517433" y="2459306"/>
              <a:ext cx="1618792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6595135" y="2506589"/>
              <a:ext cx="1592891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6672837" y="2553872"/>
              <a:ext cx="1566991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6750539" y="2601155"/>
              <a:ext cx="154109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6828241" y="2648438"/>
              <a:ext cx="1515189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6905943" y="2695722"/>
              <a:ext cx="1489289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6983645" y="2743005"/>
              <a:ext cx="1463388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7061347" y="2790288"/>
              <a:ext cx="1437487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7139049" y="2837571"/>
              <a:ext cx="1411587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7216751" y="2884854"/>
              <a:ext cx="1385686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5" name="Shape 83"/>
            <p:cNvSpPr/>
            <p:nvPr/>
          </p:nvSpPr>
          <p:spPr>
            <a:xfrm>
              <a:off x="7294453" y="2932137"/>
              <a:ext cx="1359785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6" name="Shape 84"/>
            <p:cNvSpPr/>
            <p:nvPr/>
          </p:nvSpPr>
          <p:spPr>
            <a:xfrm>
              <a:off x="7268552" y="2979420"/>
              <a:ext cx="1385686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7" name="Shape 85"/>
            <p:cNvSpPr/>
            <p:nvPr/>
          </p:nvSpPr>
          <p:spPr>
            <a:xfrm>
              <a:off x="7139049" y="3026703"/>
              <a:ext cx="1463388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8" name="Shape 86"/>
            <p:cNvSpPr/>
            <p:nvPr/>
          </p:nvSpPr>
          <p:spPr>
            <a:xfrm>
              <a:off x="7009545" y="3073986"/>
              <a:ext cx="154109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9" name="Shape 87"/>
            <p:cNvSpPr/>
            <p:nvPr/>
          </p:nvSpPr>
          <p:spPr>
            <a:xfrm>
              <a:off x="6880042" y="3121269"/>
              <a:ext cx="1618792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0" name="Shape 88"/>
            <p:cNvSpPr/>
            <p:nvPr/>
          </p:nvSpPr>
          <p:spPr>
            <a:xfrm>
              <a:off x="6750539" y="3168552"/>
              <a:ext cx="1696494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1" name="Shape 89"/>
            <p:cNvSpPr/>
            <p:nvPr/>
          </p:nvSpPr>
          <p:spPr>
            <a:xfrm>
              <a:off x="6621035" y="3215835"/>
              <a:ext cx="1774196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2" name="Shape 90"/>
            <p:cNvSpPr/>
            <p:nvPr/>
          </p:nvSpPr>
          <p:spPr>
            <a:xfrm>
              <a:off x="6491532" y="3263118"/>
              <a:ext cx="1851898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3" name="Shape 91"/>
            <p:cNvSpPr/>
            <p:nvPr/>
          </p:nvSpPr>
          <p:spPr>
            <a:xfrm>
              <a:off x="6362029" y="3310402"/>
              <a:ext cx="192960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4" name="Shape 92"/>
            <p:cNvSpPr/>
            <p:nvPr/>
          </p:nvSpPr>
          <p:spPr>
            <a:xfrm>
              <a:off x="6232525" y="3357685"/>
              <a:ext cx="2007302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5" name="Shape 93"/>
            <p:cNvSpPr/>
            <p:nvPr/>
          </p:nvSpPr>
          <p:spPr>
            <a:xfrm>
              <a:off x="6103022" y="3404968"/>
              <a:ext cx="2085004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6" name="Shape 94"/>
            <p:cNvSpPr/>
            <p:nvPr/>
          </p:nvSpPr>
          <p:spPr>
            <a:xfrm>
              <a:off x="5973519" y="3452251"/>
              <a:ext cx="2162706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7" name="Shape 95"/>
            <p:cNvSpPr/>
            <p:nvPr/>
          </p:nvSpPr>
          <p:spPr>
            <a:xfrm>
              <a:off x="5844015" y="3499534"/>
              <a:ext cx="2240408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8" name="Shape 96"/>
            <p:cNvSpPr/>
            <p:nvPr/>
          </p:nvSpPr>
          <p:spPr>
            <a:xfrm>
              <a:off x="5714512" y="3546817"/>
              <a:ext cx="231811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5696381" y="3594100"/>
              <a:ext cx="232329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0" name="Shape 98"/>
            <p:cNvSpPr/>
            <p:nvPr/>
          </p:nvSpPr>
          <p:spPr>
            <a:xfrm>
              <a:off x="5789624" y="3641383"/>
              <a:ext cx="2255949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1" name="Shape 99"/>
            <p:cNvSpPr/>
            <p:nvPr/>
          </p:nvSpPr>
          <p:spPr>
            <a:xfrm>
              <a:off x="5882866" y="3688666"/>
              <a:ext cx="2188607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2" name="Shape 100"/>
            <p:cNvSpPr/>
            <p:nvPr/>
          </p:nvSpPr>
          <p:spPr>
            <a:xfrm>
              <a:off x="5976109" y="3735949"/>
              <a:ext cx="2121265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3" name="Shape 101"/>
            <p:cNvSpPr/>
            <p:nvPr/>
          </p:nvSpPr>
          <p:spPr>
            <a:xfrm>
              <a:off x="6069351" y="3783232"/>
              <a:ext cx="2053923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4" name="Shape 102"/>
            <p:cNvSpPr/>
            <p:nvPr/>
          </p:nvSpPr>
          <p:spPr>
            <a:xfrm>
              <a:off x="6162593" y="3830515"/>
              <a:ext cx="1986582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5" name="Shape 103"/>
            <p:cNvSpPr/>
            <p:nvPr/>
          </p:nvSpPr>
          <p:spPr>
            <a:xfrm>
              <a:off x="6255836" y="3877798"/>
              <a:ext cx="191924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6" name="Shape 104"/>
            <p:cNvSpPr/>
            <p:nvPr/>
          </p:nvSpPr>
          <p:spPr>
            <a:xfrm>
              <a:off x="6349078" y="3925082"/>
              <a:ext cx="1851898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7" name="Shape 105"/>
            <p:cNvSpPr/>
            <p:nvPr/>
          </p:nvSpPr>
          <p:spPr>
            <a:xfrm>
              <a:off x="6442321" y="3972365"/>
              <a:ext cx="1784556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8" name="Shape 106"/>
            <p:cNvSpPr/>
            <p:nvPr/>
          </p:nvSpPr>
          <p:spPr>
            <a:xfrm>
              <a:off x="6535563" y="4019648"/>
              <a:ext cx="1717215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9" name="Shape 107"/>
            <p:cNvSpPr/>
            <p:nvPr/>
          </p:nvSpPr>
          <p:spPr>
            <a:xfrm>
              <a:off x="6628806" y="4066931"/>
              <a:ext cx="1649873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0" name="Shape 108"/>
            <p:cNvSpPr/>
            <p:nvPr/>
          </p:nvSpPr>
          <p:spPr>
            <a:xfrm>
              <a:off x="6722048" y="4114214"/>
              <a:ext cx="1582531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1" name="Shape 109"/>
            <p:cNvSpPr/>
            <p:nvPr/>
          </p:nvSpPr>
          <p:spPr>
            <a:xfrm>
              <a:off x="6815290" y="4161497"/>
              <a:ext cx="1515189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2" name="Shape 110"/>
            <p:cNvSpPr/>
            <p:nvPr/>
          </p:nvSpPr>
          <p:spPr>
            <a:xfrm>
              <a:off x="6828241" y="4208780"/>
              <a:ext cx="1502239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3" name="Shape 111"/>
            <p:cNvSpPr/>
            <p:nvPr/>
          </p:nvSpPr>
          <p:spPr>
            <a:xfrm>
              <a:off x="6760899" y="4256063"/>
              <a:ext cx="154368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4" name="Shape 112"/>
            <p:cNvSpPr/>
            <p:nvPr/>
          </p:nvSpPr>
          <p:spPr>
            <a:xfrm>
              <a:off x="6693557" y="4303346"/>
              <a:ext cx="1585121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5" name="Shape 113"/>
            <p:cNvSpPr/>
            <p:nvPr/>
          </p:nvSpPr>
          <p:spPr>
            <a:xfrm>
              <a:off x="6626215" y="4350629"/>
              <a:ext cx="1626562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6" name="Shape 114"/>
            <p:cNvSpPr/>
            <p:nvPr/>
          </p:nvSpPr>
          <p:spPr>
            <a:xfrm>
              <a:off x="6558874" y="4397912"/>
              <a:ext cx="1668003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7" name="Shape 115"/>
            <p:cNvSpPr/>
            <p:nvPr/>
          </p:nvSpPr>
          <p:spPr>
            <a:xfrm>
              <a:off x="6491532" y="4445195"/>
              <a:ext cx="1709444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8" name="Shape 116"/>
            <p:cNvSpPr/>
            <p:nvPr/>
          </p:nvSpPr>
          <p:spPr>
            <a:xfrm>
              <a:off x="6424190" y="4492478"/>
              <a:ext cx="1750886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9" name="Shape 117"/>
            <p:cNvSpPr/>
            <p:nvPr/>
          </p:nvSpPr>
          <p:spPr>
            <a:xfrm>
              <a:off x="6356848" y="4539762"/>
              <a:ext cx="1792327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0" name="Shape 118"/>
            <p:cNvSpPr/>
            <p:nvPr/>
          </p:nvSpPr>
          <p:spPr>
            <a:xfrm>
              <a:off x="6289507" y="4587045"/>
              <a:ext cx="1833768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1" name="Shape 119"/>
            <p:cNvSpPr/>
            <p:nvPr/>
          </p:nvSpPr>
          <p:spPr>
            <a:xfrm>
              <a:off x="6222165" y="4634328"/>
              <a:ext cx="1875209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2" name="Shape 120"/>
            <p:cNvSpPr/>
            <p:nvPr/>
          </p:nvSpPr>
          <p:spPr>
            <a:xfrm>
              <a:off x="6154823" y="4681611"/>
              <a:ext cx="191665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3" name="Shape 121"/>
            <p:cNvSpPr/>
            <p:nvPr/>
          </p:nvSpPr>
          <p:spPr>
            <a:xfrm>
              <a:off x="6087481" y="4728894"/>
              <a:ext cx="1958091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4" name="Shape 122"/>
            <p:cNvSpPr/>
            <p:nvPr/>
          </p:nvSpPr>
          <p:spPr>
            <a:xfrm>
              <a:off x="6020140" y="4776177"/>
              <a:ext cx="1999532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owerChart" descr="treemap. 1 data series: Revenue. 8 categories: EMEA | Cloud, EMEA | Licenses, EMEA | Services, Americas | Cloud and 4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71900"/>
            <a:chOff x="3047848" y="1524000"/>
            <a:chExt cx="6096000" cy="37719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Two-level treemap (region | product)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073248" y="1828800"/>
              <a:ext cx="2146300" cy="3467100"/>
            </a:xfrm>
            <a:prstGeom prst="rect">
              <a:avLst/>
            </a:prstGeom>
            <a:solidFill>
              <a:srgbClr val="EFF2FA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111348" y="1841500"/>
              <a:ext cx="2082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098648" y="2019300"/>
              <a:ext cx="2095500" cy="1553972"/>
            </a:xfrm>
            <a:prstGeom prst="rect">
              <a:avLst/>
            </a:prstGeom>
            <a:solidFill>
              <a:srgbClr val="7297DD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136748" y="2044700"/>
              <a:ext cx="203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136748" y="2197100"/>
              <a:ext cx="203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8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098648" y="3585972"/>
              <a:ext cx="1284654" cy="1684528"/>
            </a:xfrm>
            <a:prstGeom prst="rect">
              <a:avLst/>
            </a:prstGeom>
            <a:solidFill>
              <a:srgbClr val="92ABE2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136748" y="3611372"/>
              <a:ext cx="122115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8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136748" y="3763772"/>
              <a:ext cx="122115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8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396001" y="3585972"/>
              <a:ext cx="798146" cy="1684528"/>
            </a:xfrm>
            <a:prstGeom prst="rect">
              <a:avLst/>
            </a:prstGeom>
            <a:solidFill>
              <a:srgbClr val="AABCE7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434101" y="3611372"/>
              <a:ext cx="73464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8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434101" y="3763772"/>
              <a:ext cx="73464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8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232248" y="1828800"/>
              <a:ext cx="2232660" cy="3467100"/>
            </a:xfrm>
            <a:prstGeom prst="rect">
              <a:avLst/>
            </a:prstGeom>
            <a:solidFill>
              <a:srgbClr val="EFF6F2"/>
            </a:solidFill>
            <a:ln w="12700">
              <a:solidFill>
                <a:srgbClr val="1BAF7A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5270348" y="1841500"/>
              <a:ext cx="21691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</a:t>
              </a:r>
              <a:endParaRPr lang="en-US" sz="9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257648" y="2019300"/>
              <a:ext cx="2181860" cy="1995854"/>
            </a:xfrm>
            <a:prstGeom prst="rect">
              <a:avLst/>
            </a:prstGeom>
            <a:solidFill>
              <a:srgbClr val="6FBE9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295748" y="2044700"/>
              <a:ext cx="21183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295748" y="2197100"/>
              <a:ext cx="21183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8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257648" y="4027854"/>
              <a:ext cx="2181860" cy="1242646"/>
            </a:xfrm>
            <a:prstGeom prst="rect">
              <a:avLst/>
            </a:prstGeom>
            <a:solidFill>
              <a:srgbClr val="90C9AC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295748" y="4053254"/>
              <a:ext cx="21183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8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295748" y="4205654"/>
              <a:ext cx="21183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8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477608" y="1828800"/>
              <a:ext cx="1628140" cy="3467100"/>
            </a:xfrm>
            <a:prstGeom prst="rect">
              <a:avLst/>
            </a:prstGeom>
            <a:solidFill>
              <a:srgbClr val="FDF5EF"/>
            </a:solidFill>
            <a:ln w="12700">
              <a:solidFill>
                <a:srgbClr val="EDA100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515708" y="1841500"/>
              <a:ext cx="15646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503008" y="2019300"/>
              <a:ext cx="1577340" cy="1533358"/>
            </a:xfrm>
            <a:prstGeom prst="rect">
              <a:avLst/>
            </a:prstGeom>
            <a:solidFill>
              <a:srgbClr val="F0B36C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7541108" y="2044700"/>
              <a:ext cx="15138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541108" y="2197100"/>
              <a:ext cx="15138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8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503008" y="3565358"/>
              <a:ext cx="1577340" cy="1018005"/>
            </a:xfrm>
            <a:prstGeom prst="rect">
              <a:avLst/>
            </a:prstGeom>
            <a:solidFill>
              <a:srgbClr val="F2C08E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7541108" y="3590758"/>
              <a:ext cx="15138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Hardware</a:t>
              </a:r>
              <a:endParaRPr lang="en-US" sz="8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541108" y="3743158"/>
              <a:ext cx="15138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503008" y="4596063"/>
              <a:ext cx="1577340" cy="674437"/>
            </a:xfrm>
            <a:prstGeom prst="rect">
              <a:avLst/>
            </a:prstGeom>
            <a:solidFill>
              <a:srgbClr val="F4CDA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541108" y="4621463"/>
              <a:ext cx="15138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85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7541108" y="4773863"/>
              <a:ext cx="15138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owerChart" descr="sunburst chart. 1 data series: Revenue. 7 categories: EMEA | Cloud, EMEA | Licenses, EMEA | Services, Americas | Cloud and 3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10000"/>
            <a:chOff x="3047848" y="1524000"/>
            <a:chExt cx="60960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Sunburst (region → product)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143348" y="26162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952500" y="0"/>
                  </a:moveTo>
                  <a:lnTo>
                    <a:pt x="1050887" y="5095"/>
                  </a:lnTo>
                  <a:lnTo>
                    <a:pt x="1148221" y="20325"/>
                  </a:lnTo>
                  <a:lnTo>
                    <a:pt x="1243462" y="45528"/>
                  </a:lnTo>
                  <a:lnTo>
                    <a:pt x="1335590" y="80434"/>
                  </a:lnTo>
                  <a:lnTo>
                    <a:pt x="1423619" y="124670"/>
                  </a:lnTo>
                  <a:lnTo>
                    <a:pt x="1506609" y="177762"/>
                  </a:lnTo>
                  <a:lnTo>
                    <a:pt x="1583670" y="239141"/>
                  </a:lnTo>
                  <a:lnTo>
                    <a:pt x="1653979" y="308153"/>
                  </a:lnTo>
                  <a:lnTo>
                    <a:pt x="1716784" y="384058"/>
                  </a:lnTo>
                  <a:lnTo>
                    <a:pt x="1771412" y="466044"/>
                  </a:lnTo>
                  <a:lnTo>
                    <a:pt x="1817279" y="553234"/>
                  </a:lnTo>
                  <a:lnTo>
                    <a:pt x="1853895" y="644696"/>
                  </a:lnTo>
                  <a:lnTo>
                    <a:pt x="1880868" y="739451"/>
                  </a:lnTo>
                  <a:lnTo>
                    <a:pt x="1897908" y="836485"/>
                  </a:lnTo>
                  <a:lnTo>
                    <a:pt x="1904835" y="934760"/>
                  </a:lnTo>
                  <a:lnTo>
                    <a:pt x="1901573" y="1033225"/>
                  </a:lnTo>
                  <a:lnTo>
                    <a:pt x="1888158" y="1130826"/>
                  </a:lnTo>
                  <a:lnTo>
                    <a:pt x="1864733" y="1226519"/>
                  </a:lnTo>
                  <a:lnTo>
                    <a:pt x="1831549" y="1319281"/>
                  </a:lnTo>
                  <a:lnTo>
                    <a:pt x="1788961" y="1408119"/>
                  </a:lnTo>
                  <a:lnTo>
                    <a:pt x="1737424" y="1492083"/>
                  </a:lnTo>
                  <a:lnTo>
                    <a:pt x="1677490" y="1570274"/>
                  </a:lnTo>
                  <a:lnTo>
                    <a:pt x="1609800" y="1641857"/>
                  </a:lnTo>
                  <a:lnTo>
                    <a:pt x="1303060" y="1320157"/>
                  </a:lnTo>
                  <a:lnTo>
                    <a:pt x="1339162" y="1281980"/>
                  </a:lnTo>
                  <a:lnTo>
                    <a:pt x="1371126" y="1240278"/>
                  </a:lnTo>
                  <a:lnTo>
                    <a:pt x="1398613" y="1195497"/>
                  </a:lnTo>
                  <a:lnTo>
                    <a:pt x="1421326" y="1148117"/>
                  </a:lnTo>
                  <a:lnTo>
                    <a:pt x="1439024" y="1098644"/>
                  </a:lnTo>
                  <a:lnTo>
                    <a:pt x="1451518" y="1047607"/>
                  </a:lnTo>
                  <a:lnTo>
                    <a:pt x="1458672" y="995553"/>
                  </a:lnTo>
                  <a:lnTo>
                    <a:pt x="1460412" y="943039"/>
                  </a:lnTo>
                  <a:lnTo>
                    <a:pt x="1456718" y="890625"/>
                  </a:lnTo>
                  <a:lnTo>
                    <a:pt x="1447629" y="838874"/>
                  </a:lnTo>
                  <a:lnTo>
                    <a:pt x="1433244" y="788338"/>
                  </a:lnTo>
                  <a:lnTo>
                    <a:pt x="1413716" y="739558"/>
                  </a:lnTo>
                  <a:lnTo>
                    <a:pt x="1389253" y="693057"/>
                  </a:lnTo>
                  <a:lnTo>
                    <a:pt x="1360118" y="649331"/>
                  </a:lnTo>
                  <a:lnTo>
                    <a:pt x="1326622" y="608848"/>
                  </a:lnTo>
                  <a:lnTo>
                    <a:pt x="1289124" y="572042"/>
                  </a:lnTo>
                  <a:lnTo>
                    <a:pt x="1248025" y="539306"/>
                  </a:lnTo>
                  <a:lnTo>
                    <a:pt x="1203764" y="510991"/>
                  </a:lnTo>
                  <a:lnTo>
                    <a:pt x="1156815" y="487398"/>
                  </a:lnTo>
                  <a:lnTo>
                    <a:pt x="1107680" y="468782"/>
                  </a:lnTo>
                  <a:lnTo>
                    <a:pt x="1056885" y="455340"/>
                  </a:lnTo>
                  <a:lnTo>
                    <a:pt x="1004973" y="447217"/>
                  </a:lnTo>
                  <a:lnTo>
                    <a:pt x="952500" y="444500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631802" y="3208393"/>
              <a:ext cx="28397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</a:t>
              </a:r>
              <a:endParaRPr lang="en-US" sz="8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1587500" y="0"/>
                  </a:moveTo>
                  <a:lnTo>
                    <a:pt x="1752072" y="8553"/>
                  </a:lnTo>
                  <a:lnTo>
                    <a:pt x="1914872" y="34122"/>
                  </a:lnTo>
                  <a:lnTo>
                    <a:pt x="2074143" y="76429"/>
                  </a:lnTo>
                  <a:lnTo>
                    <a:pt x="2228170" y="135020"/>
                  </a:lnTo>
                  <a:lnTo>
                    <a:pt x="2375293" y="209263"/>
                  </a:lnTo>
                  <a:lnTo>
                    <a:pt x="2513927" y="298357"/>
                  </a:lnTo>
                  <a:lnTo>
                    <a:pt x="2642578" y="401344"/>
                  </a:lnTo>
                  <a:lnTo>
                    <a:pt x="2759860" y="517113"/>
                  </a:lnTo>
                  <a:lnTo>
                    <a:pt x="2864508" y="644416"/>
                  </a:lnTo>
                  <a:lnTo>
                    <a:pt x="2955394" y="781882"/>
                  </a:lnTo>
                  <a:lnTo>
                    <a:pt x="3031541" y="928029"/>
                  </a:lnTo>
                  <a:lnTo>
                    <a:pt x="2453924" y="1191817"/>
                  </a:lnTo>
                  <a:lnTo>
                    <a:pt x="2408237" y="1104129"/>
                  </a:lnTo>
                  <a:lnTo>
                    <a:pt x="2353705" y="1021649"/>
                  </a:lnTo>
                  <a:lnTo>
                    <a:pt x="2290916" y="945268"/>
                  </a:lnTo>
                  <a:lnTo>
                    <a:pt x="2220547" y="875806"/>
                  </a:lnTo>
                  <a:lnTo>
                    <a:pt x="2143356" y="814014"/>
                  </a:lnTo>
                  <a:lnTo>
                    <a:pt x="2060176" y="760558"/>
                  </a:lnTo>
                  <a:lnTo>
                    <a:pt x="1971902" y="716012"/>
                  </a:lnTo>
                  <a:lnTo>
                    <a:pt x="1879486" y="680858"/>
                  </a:lnTo>
                  <a:lnTo>
                    <a:pt x="1783923" y="655473"/>
                  </a:lnTo>
                  <a:lnTo>
                    <a:pt x="1686243" y="640132"/>
                  </a:lnTo>
                  <a:lnTo>
                    <a:pt x="1587500" y="635000"/>
                  </a:lnTo>
                  <a:close/>
                </a:path>
              </a:pathLst>
            </a:custGeom>
            <a:solidFill>
              <a:srgbClr val="7599DD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7002178" y="2069523"/>
              <a:ext cx="34226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3031541" y="928029"/>
                  </a:moveTo>
                  <a:lnTo>
                    <a:pt x="3087689" y="1068280"/>
                  </a:lnTo>
                  <a:lnTo>
                    <a:pt x="3130251" y="1213233"/>
                  </a:lnTo>
                  <a:lnTo>
                    <a:pt x="3158842" y="1361575"/>
                  </a:lnTo>
                  <a:lnTo>
                    <a:pt x="3173202" y="1511964"/>
                  </a:lnTo>
                  <a:lnTo>
                    <a:pt x="3173202" y="1663036"/>
                  </a:lnTo>
                  <a:lnTo>
                    <a:pt x="3158842" y="1813425"/>
                  </a:lnTo>
                  <a:lnTo>
                    <a:pt x="3130251" y="1961767"/>
                  </a:lnTo>
                  <a:lnTo>
                    <a:pt x="3087689" y="2106720"/>
                  </a:lnTo>
                  <a:lnTo>
                    <a:pt x="2487613" y="1899032"/>
                  </a:lnTo>
                  <a:lnTo>
                    <a:pt x="2513151" y="1812060"/>
                  </a:lnTo>
                  <a:lnTo>
                    <a:pt x="2530305" y="1723055"/>
                  </a:lnTo>
                  <a:lnTo>
                    <a:pt x="2538921" y="1632822"/>
                  </a:lnTo>
                  <a:lnTo>
                    <a:pt x="2538921" y="1542178"/>
                  </a:lnTo>
                  <a:lnTo>
                    <a:pt x="2530305" y="1451945"/>
                  </a:lnTo>
                  <a:lnTo>
                    <a:pt x="2513151" y="1362940"/>
                  </a:lnTo>
                  <a:lnTo>
                    <a:pt x="2487613" y="1275968"/>
                  </a:lnTo>
                  <a:lnTo>
                    <a:pt x="2453924" y="1191817"/>
                  </a:lnTo>
                  <a:close/>
                </a:path>
              </a:pathLst>
            </a:custGeom>
            <a:solidFill>
              <a:srgbClr val="94ADE2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7770349" y="3400034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8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3087689" y="2106720"/>
                  </a:moveTo>
                  <a:lnTo>
                    <a:pt x="3031541" y="2246971"/>
                  </a:lnTo>
                  <a:lnTo>
                    <a:pt x="2962315" y="2381250"/>
                  </a:lnTo>
                  <a:lnTo>
                    <a:pt x="2880639" y="2508340"/>
                  </a:lnTo>
                  <a:lnTo>
                    <a:pt x="2787252" y="2627091"/>
                  </a:lnTo>
                  <a:lnTo>
                    <a:pt x="2683000" y="2736428"/>
                  </a:lnTo>
                  <a:lnTo>
                    <a:pt x="2244800" y="2276857"/>
                  </a:lnTo>
                  <a:lnTo>
                    <a:pt x="2307351" y="2211255"/>
                  </a:lnTo>
                  <a:lnTo>
                    <a:pt x="2363384" y="2140004"/>
                  </a:lnTo>
                  <a:lnTo>
                    <a:pt x="2412389" y="2063750"/>
                  </a:lnTo>
                  <a:lnTo>
                    <a:pt x="2453924" y="1983183"/>
                  </a:lnTo>
                  <a:lnTo>
                    <a:pt x="2487613" y="1899032"/>
                  </a:lnTo>
                  <a:close/>
                </a:path>
              </a:pathLst>
            </a:custGeom>
            <a:solidFill>
              <a:srgbClr val="ACBEE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506125" y="4386130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85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143348" y="26162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1609800" y="1641857"/>
                  </a:moveTo>
                  <a:lnTo>
                    <a:pt x="1535338" y="1705863"/>
                  </a:lnTo>
                  <a:lnTo>
                    <a:pt x="1454682" y="1761863"/>
                  </a:lnTo>
                  <a:lnTo>
                    <a:pt x="1368690" y="1809263"/>
                  </a:lnTo>
                  <a:lnTo>
                    <a:pt x="1278274" y="1847557"/>
                  </a:lnTo>
                  <a:lnTo>
                    <a:pt x="1184397" y="1876340"/>
                  </a:lnTo>
                  <a:lnTo>
                    <a:pt x="1088055" y="1895305"/>
                  </a:lnTo>
                  <a:lnTo>
                    <a:pt x="990273" y="1904251"/>
                  </a:lnTo>
                  <a:lnTo>
                    <a:pt x="892089" y="1903082"/>
                  </a:lnTo>
                  <a:lnTo>
                    <a:pt x="794547" y="1891812"/>
                  </a:lnTo>
                  <a:lnTo>
                    <a:pt x="698684" y="1870560"/>
                  </a:lnTo>
                  <a:lnTo>
                    <a:pt x="605518" y="1839551"/>
                  </a:lnTo>
                  <a:lnTo>
                    <a:pt x="516039" y="1799116"/>
                  </a:lnTo>
                  <a:lnTo>
                    <a:pt x="431199" y="1749683"/>
                  </a:lnTo>
                  <a:lnTo>
                    <a:pt x="351899" y="1691780"/>
                  </a:lnTo>
                  <a:lnTo>
                    <a:pt x="278981" y="1626019"/>
                  </a:lnTo>
                  <a:lnTo>
                    <a:pt x="213220" y="1553101"/>
                  </a:lnTo>
                  <a:lnTo>
                    <a:pt x="155317" y="1473801"/>
                  </a:lnTo>
                  <a:lnTo>
                    <a:pt x="105884" y="1388961"/>
                  </a:lnTo>
                  <a:lnTo>
                    <a:pt x="65449" y="1299482"/>
                  </a:lnTo>
                  <a:lnTo>
                    <a:pt x="34440" y="1206316"/>
                  </a:lnTo>
                  <a:lnTo>
                    <a:pt x="13188" y="1110453"/>
                  </a:lnTo>
                  <a:lnTo>
                    <a:pt x="1918" y="1012911"/>
                  </a:lnTo>
                  <a:lnTo>
                    <a:pt x="749" y="914727"/>
                  </a:lnTo>
                  <a:lnTo>
                    <a:pt x="9695" y="816945"/>
                  </a:lnTo>
                  <a:lnTo>
                    <a:pt x="449671" y="880204"/>
                  </a:lnTo>
                  <a:lnTo>
                    <a:pt x="444900" y="932355"/>
                  </a:lnTo>
                  <a:lnTo>
                    <a:pt x="445523" y="984719"/>
                  </a:lnTo>
                  <a:lnTo>
                    <a:pt x="451534" y="1036742"/>
                  </a:lnTo>
                  <a:lnTo>
                    <a:pt x="462868" y="1087869"/>
                  </a:lnTo>
                  <a:lnTo>
                    <a:pt x="479406" y="1137557"/>
                  </a:lnTo>
                  <a:lnTo>
                    <a:pt x="500972" y="1185279"/>
                  </a:lnTo>
                  <a:lnTo>
                    <a:pt x="527335" y="1230527"/>
                  </a:lnTo>
                  <a:lnTo>
                    <a:pt x="558218" y="1272821"/>
                  </a:lnTo>
                  <a:lnTo>
                    <a:pt x="593290" y="1311710"/>
                  </a:lnTo>
                  <a:lnTo>
                    <a:pt x="632179" y="1346782"/>
                  </a:lnTo>
                  <a:lnTo>
                    <a:pt x="674473" y="1377665"/>
                  </a:lnTo>
                  <a:lnTo>
                    <a:pt x="719721" y="1404028"/>
                  </a:lnTo>
                  <a:lnTo>
                    <a:pt x="767443" y="1425594"/>
                  </a:lnTo>
                  <a:lnTo>
                    <a:pt x="817131" y="1442132"/>
                  </a:lnTo>
                  <a:lnTo>
                    <a:pt x="868258" y="1453466"/>
                  </a:lnTo>
                  <a:lnTo>
                    <a:pt x="920281" y="1459477"/>
                  </a:lnTo>
                  <a:lnTo>
                    <a:pt x="972645" y="1460100"/>
                  </a:lnTo>
                  <a:lnTo>
                    <a:pt x="1024796" y="1455329"/>
                  </a:lnTo>
                  <a:lnTo>
                    <a:pt x="1076178" y="1445215"/>
                  </a:lnTo>
                  <a:lnTo>
                    <a:pt x="1126246" y="1429864"/>
                  </a:lnTo>
                  <a:lnTo>
                    <a:pt x="1174468" y="1409440"/>
                  </a:lnTo>
                  <a:lnTo>
                    <a:pt x="1220331" y="1384161"/>
                  </a:lnTo>
                  <a:lnTo>
                    <a:pt x="1263347" y="1354294"/>
                  </a:lnTo>
                  <a:lnTo>
                    <a:pt x="1303060" y="1320157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5502656" y="4128872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</a:t>
              </a:r>
              <a:endParaRPr lang="en-US" sz="8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2683000" y="2736428"/>
                  </a:moveTo>
                  <a:lnTo>
                    <a:pt x="2560888" y="2841562"/>
                  </a:lnTo>
                  <a:lnTo>
                    <a:pt x="2428747" y="2933776"/>
                  </a:lnTo>
                  <a:lnTo>
                    <a:pt x="2287938" y="3012120"/>
                  </a:lnTo>
                  <a:lnTo>
                    <a:pt x="2139914" y="3075786"/>
                  </a:lnTo>
                  <a:lnTo>
                    <a:pt x="1986197" y="3124119"/>
                  </a:lnTo>
                  <a:lnTo>
                    <a:pt x="1828373" y="3156620"/>
                  </a:lnTo>
                  <a:lnTo>
                    <a:pt x="1668068" y="3172954"/>
                  </a:lnTo>
                  <a:lnTo>
                    <a:pt x="1506932" y="3172954"/>
                  </a:lnTo>
                  <a:lnTo>
                    <a:pt x="1346627" y="3156620"/>
                  </a:lnTo>
                  <a:lnTo>
                    <a:pt x="1188803" y="3124119"/>
                  </a:lnTo>
                  <a:lnTo>
                    <a:pt x="1035086" y="3075786"/>
                  </a:lnTo>
                  <a:lnTo>
                    <a:pt x="887062" y="3012120"/>
                  </a:lnTo>
                  <a:lnTo>
                    <a:pt x="746253" y="2933776"/>
                  </a:lnTo>
                  <a:lnTo>
                    <a:pt x="614112" y="2841562"/>
                  </a:lnTo>
                  <a:lnTo>
                    <a:pt x="492000" y="2736428"/>
                  </a:lnTo>
                  <a:lnTo>
                    <a:pt x="930200" y="2276857"/>
                  </a:lnTo>
                  <a:lnTo>
                    <a:pt x="1003467" y="2339937"/>
                  </a:lnTo>
                  <a:lnTo>
                    <a:pt x="1082752" y="2395266"/>
                  </a:lnTo>
                  <a:lnTo>
                    <a:pt x="1167237" y="2442272"/>
                  </a:lnTo>
                  <a:lnTo>
                    <a:pt x="1256052" y="2480472"/>
                  </a:lnTo>
                  <a:lnTo>
                    <a:pt x="1348282" y="2509471"/>
                  </a:lnTo>
                  <a:lnTo>
                    <a:pt x="1442976" y="2528972"/>
                  </a:lnTo>
                  <a:lnTo>
                    <a:pt x="1539159" y="2538773"/>
                  </a:lnTo>
                  <a:lnTo>
                    <a:pt x="1635841" y="2538773"/>
                  </a:lnTo>
                  <a:lnTo>
                    <a:pt x="1732024" y="2528972"/>
                  </a:lnTo>
                  <a:lnTo>
                    <a:pt x="1826718" y="2509471"/>
                  </a:lnTo>
                  <a:lnTo>
                    <a:pt x="1918948" y="2480472"/>
                  </a:lnTo>
                  <a:lnTo>
                    <a:pt x="2007763" y="2442272"/>
                  </a:lnTo>
                  <a:lnTo>
                    <a:pt x="2092248" y="2395266"/>
                  </a:lnTo>
                  <a:lnTo>
                    <a:pt x="2171533" y="2339937"/>
                  </a:lnTo>
                  <a:lnTo>
                    <a:pt x="2244800" y="2276857"/>
                  </a:lnTo>
                  <a:close/>
                </a:path>
              </a:pathLst>
            </a:custGeom>
            <a:solidFill>
              <a:srgbClr val="72BF9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753583" y="5156200"/>
              <a:ext cx="34226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492000" y="2736428"/>
                  </a:moveTo>
                  <a:lnTo>
                    <a:pt x="387748" y="2627091"/>
                  </a:lnTo>
                  <a:lnTo>
                    <a:pt x="294361" y="2508340"/>
                  </a:lnTo>
                  <a:lnTo>
                    <a:pt x="212685" y="2381250"/>
                  </a:lnTo>
                  <a:lnTo>
                    <a:pt x="143459" y="2246971"/>
                  </a:lnTo>
                  <a:lnTo>
                    <a:pt x="87311" y="2106720"/>
                  </a:lnTo>
                  <a:lnTo>
                    <a:pt x="44749" y="1961767"/>
                  </a:lnTo>
                  <a:lnTo>
                    <a:pt x="16158" y="1813425"/>
                  </a:lnTo>
                  <a:lnTo>
                    <a:pt x="1798" y="1663036"/>
                  </a:lnTo>
                  <a:lnTo>
                    <a:pt x="1798" y="1511964"/>
                  </a:lnTo>
                  <a:lnTo>
                    <a:pt x="16158" y="1361575"/>
                  </a:lnTo>
                  <a:lnTo>
                    <a:pt x="644695" y="1451945"/>
                  </a:lnTo>
                  <a:lnTo>
                    <a:pt x="636079" y="1542178"/>
                  </a:lnTo>
                  <a:lnTo>
                    <a:pt x="636079" y="1632822"/>
                  </a:lnTo>
                  <a:lnTo>
                    <a:pt x="644695" y="1723055"/>
                  </a:lnTo>
                  <a:lnTo>
                    <a:pt x="661849" y="1812060"/>
                  </a:lnTo>
                  <a:lnTo>
                    <a:pt x="687387" y="1899032"/>
                  </a:lnTo>
                  <a:lnTo>
                    <a:pt x="721076" y="1983183"/>
                  </a:lnTo>
                  <a:lnTo>
                    <a:pt x="762611" y="2063750"/>
                  </a:lnTo>
                  <a:lnTo>
                    <a:pt x="811616" y="2140004"/>
                  </a:lnTo>
                  <a:lnTo>
                    <a:pt x="867649" y="2211255"/>
                  </a:lnTo>
                  <a:lnTo>
                    <a:pt x="930200" y="2276857"/>
                  </a:lnTo>
                  <a:close/>
                </a:path>
              </a:pathLst>
            </a:custGeom>
            <a:solidFill>
              <a:srgbClr val="92CAAD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994504" y="4028097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8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143348" y="26162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9695" y="816945"/>
                  </a:moveTo>
                  <a:lnTo>
                    <a:pt x="28398" y="721650"/>
                  </a:lnTo>
                  <a:lnTo>
                    <a:pt x="56707" y="628755"/>
                  </a:lnTo>
                  <a:lnTo>
                    <a:pt x="94327" y="539226"/>
                  </a:lnTo>
                  <a:lnTo>
                    <a:pt x="140868" y="453992"/>
                  </a:lnTo>
                  <a:lnTo>
                    <a:pt x="195846" y="373940"/>
                  </a:lnTo>
                  <a:lnTo>
                    <a:pt x="258690" y="299903"/>
                  </a:lnTo>
                  <a:lnTo>
                    <a:pt x="328745" y="232649"/>
                  </a:lnTo>
                  <a:lnTo>
                    <a:pt x="405285" y="172877"/>
                  </a:lnTo>
                  <a:lnTo>
                    <a:pt x="487512" y="121210"/>
                  </a:lnTo>
                  <a:lnTo>
                    <a:pt x="574573" y="78184"/>
                  </a:lnTo>
                  <a:lnTo>
                    <a:pt x="665563" y="44247"/>
                  </a:lnTo>
                  <a:lnTo>
                    <a:pt x="759535" y="19751"/>
                  </a:lnTo>
                  <a:lnTo>
                    <a:pt x="855514" y="4951"/>
                  </a:lnTo>
                  <a:lnTo>
                    <a:pt x="952500" y="0"/>
                  </a:lnTo>
                  <a:lnTo>
                    <a:pt x="952500" y="444500"/>
                  </a:lnTo>
                  <a:lnTo>
                    <a:pt x="900774" y="447140"/>
                  </a:lnTo>
                  <a:lnTo>
                    <a:pt x="849586" y="455034"/>
                  </a:lnTo>
                  <a:lnTo>
                    <a:pt x="799467" y="468098"/>
                  </a:lnTo>
                  <a:lnTo>
                    <a:pt x="750939" y="486198"/>
                  </a:lnTo>
                  <a:lnTo>
                    <a:pt x="704506" y="509145"/>
                  </a:lnTo>
                  <a:lnTo>
                    <a:pt x="660652" y="536701"/>
                  </a:lnTo>
                  <a:lnTo>
                    <a:pt x="619831" y="568579"/>
                  </a:lnTo>
                  <a:lnTo>
                    <a:pt x="582468" y="604448"/>
                  </a:lnTo>
                  <a:lnTo>
                    <a:pt x="548951" y="643935"/>
                  </a:lnTo>
                  <a:lnTo>
                    <a:pt x="519630" y="686629"/>
                  </a:lnTo>
                  <a:lnTo>
                    <a:pt x="494808" y="732087"/>
                  </a:lnTo>
                  <a:lnTo>
                    <a:pt x="474744" y="779836"/>
                  </a:lnTo>
                  <a:lnTo>
                    <a:pt x="459646" y="829380"/>
                  </a:lnTo>
                  <a:lnTo>
                    <a:pt x="449671" y="880204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475650" y="2927914"/>
              <a:ext cx="28397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</a:t>
              </a:r>
              <a:endParaRPr lang="en-US" sz="8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16158" y="1361575"/>
                  </a:moveTo>
                  <a:lnTo>
                    <a:pt x="44749" y="1213233"/>
                  </a:lnTo>
                  <a:lnTo>
                    <a:pt x="87311" y="1068280"/>
                  </a:lnTo>
                  <a:lnTo>
                    <a:pt x="143459" y="928029"/>
                  </a:lnTo>
                  <a:lnTo>
                    <a:pt x="212685" y="793750"/>
                  </a:lnTo>
                  <a:lnTo>
                    <a:pt x="294361" y="666660"/>
                  </a:lnTo>
                  <a:lnTo>
                    <a:pt x="387748" y="547909"/>
                  </a:lnTo>
                  <a:lnTo>
                    <a:pt x="492000" y="438572"/>
                  </a:lnTo>
                  <a:lnTo>
                    <a:pt x="606173" y="339641"/>
                  </a:lnTo>
                  <a:lnTo>
                    <a:pt x="729233" y="252010"/>
                  </a:lnTo>
                  <a:lnTo>
                    <a:pt x="1072540" y="786206"/>
                  </a:lnTo>
                  <a:lnTo>
                    <a:pt x="998704" y="838784"/>
                  </a:lnTo>
                  <a:lnTo>
                    <a:pt x="930200" y="898143"/>
                  </a:lnTo>
                  <a:lnTo>
                    <a:pt x="867649" y="963745"/>
                  </a:lnTo>
                  <a:lnTo>
                    <a:pt x="811616" y="1034996"/>
                  </a:lnTo>
                  <a:lnTo>
                    <a:pt x="762611" y="1111250"/>
                  </a:lnTo>
                  <a:lnTo>
                    <a:pt x="721076" y="1191817"/>
                  </a:lnTo>
                  <a:lnTo>
                    <a:pt x="687387" y="1275968"/>
                  </a:lnTo>
                  <a:lnTo>
                    <a:pt x="661849" y="1362940"/>
                  </a:lnTo>
                  <a:lnTo>
                    <a:pt x="644695" y="1451945"/>
                  </a:lnTo>
                  <a:close/>
                </a:path>
              </a:pathLst>
            </a:custGeom>
            <a:solidFill>
              <a:srgbClr val="F0B56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343305" y="2573470"/>
              <a:ext cx="34226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729233" y="252010"/>
                  </a:moveTo>
                  <a:lnTo>
                    <a:pt x="860065" y="176474"/>
                  </a:lnTo>
                  <a:lnTo>
                    <a:pt x="997486" y="113716"/>
                  </a:lnTo>
                  <a:lnTo>
                    <a:pt x="1140250" y="64305"/>
                  </a:lnTo>
                  <a:lnTo>
                    <a:pt x="1287064" y="28688"/>
                  </a:lnTo>
                  <a:lnTo>
                    <a:pt x="1436599" y="7188"/>
                  </a:lnTo>
                  <a:lnTo>
                    <a:pt x="1587500" y="0"/>
                  </a:lnTo>
                  <a:lnTo>
                    <a:pt x="1587500" y="635000"/>
                  </a:lnTo>
                  <a:lnTo>
                    <a:pt x="1496959" y="639313"/>
                  </a:lnTo>
                  <a:lnTo>
                    <a:pt x="1407238" y="652213"/>
                  </a:lnTo>
                  <a:lnTo>
                    <a:pt x="1319150" y="673583"/>
                  </a:lnTo>
                  <a:lnTo>
                    <a:pt x="1233492" y="703230"/>
                  </a:lnTo>
                  <a:lnTo>
                    <a:pt x="1151039" y="740884"/>
                  </a:lnTo>
                  <a:lnTo>
                    <a:pt x="1072540" y="786206"/>
                  </a:lnTo>
                  <a:close/>
                </a:path>
              </a:pathLst>
            </a:custGeom>
            <a:solidFill>
              <a:srgbClr val="F2C29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106407" y="1871306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Hardware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PowerChart" descr="violin plot. 10 data series: s1, s2, s3, s4 and 6 more. 3 categories: API, Web, Batch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Response-time distribution (ms)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43764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3736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30962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24561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479648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API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350781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Web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221914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Batch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630386" y="4245559"/>
              <a:ext cx="1570704" cy="337109"/>
            </a:xfrm>
            <a:custGeom>
              <a:avLst/>
              <a:gdLst/>
              <a:ahLst/>
              <a:cxnLst/>
              <a:rect l="l" t="t" r="r" b="b"/>
              <a:pathLst>
                <a:path w="1570704" h="337109">
                  <a:moveTo>
                    <a:pt x="961547" y="337109"/>
                  </a:moveTo>
                  <a:lnTo>
                    <a:pt x="1339221" y="269687"/>
                  </a:lnTo>
                  <a:lnTo>
                    <a:pt x="1453888" y="244404"/>
                  </a:lnTo>
                  <a:lnTo>
                    <a:pt x="1506464" y="227548"/>
                  </a:lnTo>
                  <a:lnTo>
                    <a:pt x="1540961" y="210693"/>
                  </a:lnTo>
                  <a:lnTo>
                    <a:pt x="1560825" y="193838"/>
                  </a:lnTo>
                  <a:lnTo>
                    <a:pt x="1570704" y="168554"/>
                  </a:lnTo>
                  <a:lnTo>
                    <a:pt x="1560825" y="143271"/>
                  </a:lnTo>
                  <a:lnTo>
                    <a:pt x="1540961" y="126416"/>
                  </a:lnTo>
                  <a:lnTo>
                    <a:pt x="1506464" y="109560"/>
                  </a:lnTo>
                  <a:lnTo>
                    <a:pt x="1453888" y="92705"/>
                  </a:lnTo>
                  <a:lnTo>
                    <a:pt x="1339221" y="67422"/>
                  </a:lnTo>
                  <a:lnTo>
                    <a:pt x="961547" y="0"/>
                  </a:lnTo>
                  <a:lnTo>
                    <a:pt x="608108" y="0"/>
                  </a:lnTo>
                  <a:lnTo>
                    <a:pt x="149384" y="84277"/>
                  </a:lnTo>
                  <a:lnTo>
                    <a:pt x="63192" y="109560"/>
                  </a:lnTo>
                  <a:lnTo>
                    <a:pt x="17176" y="134844"/>
                  </a:lnTo>
                  <a:lnTo>
                    <a:pt x="0" y="160127"/>
                  </a:lnTo>
                  <a:lnTo>
                    <a:pt x="0" y="176982"/>
                  </a:lnTo>
                  <a:lnTo>
                    <a:pt x="8830" y="193838"/>
                  </a:lnTo>
                  <a:lnTo>
                    <a:pt x="43873" y="219121"/>
                  </a:lnTo>
                  <a:lnTo>
                    <a:pt x="87064" y="235976"/>
                  </a:lnTo>
                  <a:lnTo>
                    <a:pt x="230435" y="269687"/>
                  </a:lnTo>
                  <a:lnTo>
                    <a:pt x="608108" y="337109"/>
                  </a:lnTo>
                  <a:close/>
                </a:path>
              </a:pathLst>
            </a:custGeom>
            <a:solidFill>
              <a:srgbClr val="D8DFF3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140158" y="4414114"/>
              <a:ext cx="550113" cy="0"/>
            </a:xfrm>
            <a:prstGeom prst="line">
              <a:avLst/>
            </a:prstGeom>
            <a:noFill/>
            <a:ln w="22225">
              <a:solidFill>
                <a:srgbClr val="0B0B0B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5501222" y="3580158"/>
              <a:ext cx="1571002" cy="739794"/>
            </a:xfrm>
            <a:custGeom>
              <a:avLst/>
              <a:gdLst/>
              <a:ahLst/>
              <a:cxnLst/>
              <a:rect l="l" t="t" r="r" b="b"/>
              <a:pathLst>
                <a:path w="1571002" h="739794">
                  <a:moveTo>
                    <a:pt x="965163" y="739794"/>
                  </a:moveTo>
                  <a:lnTo>
                    <a:pt x="1361451" y="591836"/>
                  </a:lnTo>
                  <a:lnTo>
                    <a:pt x="1472123" y="536351"/>
                  </a:lnTo>
                  <a:lnTo>
                    <a:pt x="1519322" y="499361"/>
                  </a:lnTo>
                  <a:lnTo>
                    <a:pt x="1548248" y="462372"/>
                  </a:lnTo>
                  <a:lnTo>
                    <a:pt x="1563755" y="425382"/>
                  </a:lnTo>
                  <a:lnTo>
                    <a:pt x="1571002" y="369897"/>
                  </a:lnTo>
                  <a:lnTo>
                    <a:pt x="1563755" y="314413"/>
                  </a:lnTo>
                  <a:lnTo>
                    <a:pt x="1548248" y="277423"/>
                  </a:lnTo>
                  <a:lnTo>
                    <a:pt x="1519322" y="240433"/>
                  </a:lnTo>
                  <a:lnTo>
                    <a:pt x="1472123" y="203443"/>
                  </a:lnTo>
                  <a:lnTo>
                    <a:pt x="1361451" y="147959"/>
                  </a:lnTo>
                  <a:lnTo>
                    <a:pt x="965163" y="0"/>
                  </a:lnTo>
                  <a:lnTo>
                    <a:pt x="605088" y="0"/>
                  </a:lnTo>
                  <a:lnTo>
                    <a:pt x="166660" y="166454"/>
                  </a:lnTo>
                  <a:lnTo>
                    <a:pt x="71982" y="221938"/>
                  </a:lnTo>
                  <a:lnTo>
                    <a:pt x="34473" y="258928"/>
                  </a:lnTo>
                  <a:lnTo>
                    <a:pt x="12880" y="295918"/>
                  </a:lnTo>
                  <a:lnTo>
                    <a:pt x="0" y="351402"/>
                  </a:lnTo>
                  <a:lnTo>
                    <a:pt x="0" y="388392"/>
                  </a:lnTo>
                  <a:lnTo>
                    <a:pt x="6496" y="425382"/>
                  </a:lnTo>
                  <a:lnTo>
                    <a:pt x="34473" y="480866"/>
                  </a:lnTo>
                  <a:lnTo>
                    <a:pt x="71982" y="517856"/>
                  </a:lnTo>
                  <a:lnTo>
                    <a:pt x="129674" y="554846"/>
                  </a:lnTo>
                  <a:lnTo>
                    <a:pt x="208800" y="591836"/>
                  </a:lnTo>
                  <a:lnTo>
                    <a:pt x="605088" y="739794"/>
                  </a:lnTo>
                  <a:close/>
                </a:path>
              </a:pathLst>
            </a:custGeom>
            <a:solidFill>
              <a:srgbClr val="D8E9E0"/>
            </a:solidFill>
            <a:ln w="12700">
              <a:solidFill>
                <a:srgbClr val="1BAF7A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6011291" y="3950056"/>
              <a:ext cx="550113" cy="0"/>
            </a:xfrm>
            <a:prstGeom prst="line">
              <a:avLst/>
            </a:prstGeom>
            <a:noFill/>
            <a:ln w="22225">
              <a:solidFill>
                <a:srgbClr val="0B0B0B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7371798" y="1905000"/>
              <a:ext cx="1570051" cy="1550674"/>
            </a:xfrm>
            <a:custGeom>
              <a:avLst/>
              <a:gdLst/>
              <a:ahLst/>
              <a:cxnLst/>
              <a:rect l="l" t="t" r="r" b="b"/>
              <a:pathLst>
                <a:path w="1570051" h="1550674">
                  <a:moveTo>
                    <a:pt x="965733" y="1550674"/>
                  </a:moveTo>
                  <a:lnTo>
                    <a:pt x="1084510" y="1434373"/>
                  </a:lnTo>
                  <a:lnTo>
                    <a:pt x="1308538" y="1240539"/>
                  </a:lnTo>
                  <a:lnTo>
                    <a:pt x="1420845" y="1124239"/>
                  </a:lnTo>
                  <a:lnTo>
                    <a:pt x="1450891" y="1085472"/>
                  </a:lnTo>
                  <a:lnTo>
                    <a:pt x="1498993" y="1007938"/>
                  </a:lnTo>
                  <a:lnTo>
                    <a:pt x="1532209" y="930404"/>
                  </a:lnTo>
                  <a:lnTo>
                    <a:pt x="1553202" y="852871"/>
                  </a:lnTo>
                  <a:lnTo>
                    <a:pt x="1568555" y="736570"/>
                  </a:lnTo>
                  <a:lnTo>
                    <a:pt x="1570051" y="581503"/>
                  </a:lnTo>
                  <a:lnTo>
                    <a:pt x="1557910" y="465202"/>
                  </a:lnTo>
                  <a:lnTo>
                    <a:pt x="1527334" y="348902"/>
                  </a:lnTo>
                  <a:lnTo>
                    <a:pt x="1491658" y="271368"/>
                  </a:lnTo>
                  <a:lnTo>
                    <a:pt x="1440765" y="193834"/>
                  </a:lnTo>
                  <a:lnTo>
                    <a:pt x="1374031" y="116301"/>
                  </a:lnTo>
                  <a:lnTo>
                    <a:pt x="1249606" y="0"/>
                  </a:lnTo>
                  <a:lnTo>
                    <a:pt x="321759" y="0"/>
                  </a:lnTo>
                  <a:lnTo>
                    <a:pt x="236103" y="77534"/>
                  </a:lnTo>
                  <a:lnTo>
                    <a:pt x="162049" y="155067"/>
                  </a:lnTo>
                  <a:lnTo>
                    <a:pt x="103157" y="232601"/>
                  </a:lnTo>
                  <a:lnTo>
                    <a:pt x="60091" y="310135"/>
                  </a:lnTo>
                  <a:lnTo>
                    <a:pt x="31172" y="387669"/>
                  </a:lnTo>
                  <a:lnTo>
                    <a:pt x="13455" y="465202"/>
                  </a:lnTo>
                  <a:lnTo>
                    <a:pt x="0" y="620270"/>
                  </a:lnTo>
                  <a:lnTo>
                    <a:pt x="2811" y="736570"/>
                  </a:lnTo>
                  <a:lnTo>
                    <a:pt x="11256" y="814104"/>
                  </a:lnTo>
                  <a:lnTo>
                    <a:pt x="27331" y="891638"/>
                  </a:lnTo>
                  <a:lnTo>
                    <a:pt x="54045" y="969171"/>
                  </a:lnTo>
                  <a:lnTo>
                    <a:pt x="94446" y="1046705"/>
                  </a:lnTo>
                  <a:lnTo>
                    <a:pt x="120474" y="1085472"/>
                  </a:lnTo>
                  <a:lnTo>
                    <a:pt x="184485" y="1163006"/>
                  </a:lnTo>
                  <a:lnTo>
                    <a:pt x="262827" y="1240539"/>
                  </a:lnTo>
                  <a:lnTo>
                    <a:pt x="529376" y="1473140"/>
                  </a:lnTo>
                  <a:lnTo>
                    <a:pt x="605632" y="1550674"/>
                  </a:lnTo>
                  <a:close/>
                </a:path>
              </a:pathLst>
            </a:custGeom>
            <a:solidFill>
              <a:srgbClr val="F9E6D7"/>
            </a:solidFill>
            <a:ln w="12700">
              <a:solidFill>
                <a:srgbClr val="EDA100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7882424" y="2551481"/>
              <a:ext cx="550113" cy="0"/>
            </a:xfrm>
            <a:prstGeom prst="line">
              <a:avLst/>
            </a:prstGeom>
            <a:noFill/>
            <a:ln w="22225">
              <a:solidFill>
                <a:srgbClr val="0B0B0B"/>
              </a:solidFill>
              <a:prstDash val="solid"/>
            </a:ln>
          </p:spPr>
        </p:sp>
      </p:grp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PowerChart" descr="candlestick chart. 4 data series: Open, High, Low, Close. 10 categories: D1, D2, D3, D4 and 6 more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Share price — last two weeks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47964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D1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04098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D2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60232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D3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16366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D4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72500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D5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28634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D6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84768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D7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40902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D8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97036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D9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853170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D10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760318" y="339852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3619983" y="3611880"/>
              <a:ext cx="28067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321658" y="2758440"/>
              <a:ext cx="0" cy="106680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181323" y="2971800"/>
              <a:ext cx="28067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4882998" y="254508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4742663" y="2971800"/>
              <a:ext cx="280670" cy="21336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444338" y="2331720"/>
              <a:ext cx="0" cy="106680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304003" y="2545080"/>
              <a:ext cx="28067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6005678" y="211836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5865343" y="2545080"/>
              <a:ext cx="280670" cy="21336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567018" y="2545080"/>
              <a:ext cx="0" cy="106680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6426683" y="2758440"/>
              <a:ext cx="280670" cy="64008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128358" y="275844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6988023" y="2971800"/>
              <a:ext cx="28067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689698" y="2118360"/>
              <a:ext cx="0" cy="106680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7549363" y="2331720"/>
              <a:ext cx="28067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8251038" y="190500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8110703" y="2331720"/>
              <a:ext cx="280670" cy="21336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8812378" y="211836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8672043" y="2545080"/>
              <a:ext cx="280670" cy="21336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</p:grp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PowerChart" descr="Gantt chart. 3 data series: Start, End, After. 6 categories: Research, Design, Build, Copywriting and 2 more."/>
          <p:cNvGrpSpPr/>
          <p:nvPr>
            <p:custDataLst>
              <p:tags r:id="rId3"/>
            </p:custDataLst>
          </p:nvPr>
        </p:nvGrpSpPr>
        <p:grpSpPr>
          <a:xfrm>
            <a:off x="2539848" y="1524000"/>
            <a:ext cx="7340600" cy="3733800"/>
            <a:chOff x="2539848" y="1524000"/>
            <a:chExt cx="7340600" cy="3733800"/>
          </a:xfrm>
        </p:grpSpPr>
        <p:sp>
          <p:nvSpPr>
            <p:cNvPr id="2" name="Text 0"/>
            <p:cNvSpPr/>
            <p:nvPr/>
          </p:nvSpPr>
          <p:spPr>
            <a:xfrm>
              <a:off x="2539848" y="1524000"/>
              <a:ext cx="711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Launch plan — critical path highlighted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21228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116428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959833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4655033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498438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193638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8037043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732243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9575648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9270848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539848" y="2182283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Research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728949" y="2188633"/>
              <a:ext cx="615442" cy="177800"/>
            </a:xfrm>
            <a:prstGeom prst="rect">
              <a:avLst/>
            </a:prstGeom>
            <a:solidFill>
              <a:srgbClr val="2A78D6"/>
            </a:solidFill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728949" y="2188633"/>
              <a:ext cx="61544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1–3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539848" y="2724150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Design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21228" y="2548467"/>
              <a:ext cx="61544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4344391" y="2730500"/>
              <a:ext cx="1538605" cy="177800"/>
            </a:xfrm>
            <a:prstGeom prst="rect">
              <a:avLst/>
            </a:prstGeom>
            <a:solidFill>
              <a:srgbClr val="2A78D6"/>
            </a:solidFill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344391" y="2730500"/>
              <a:ext cx="153860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3–8</a:t>
              </a:r>
              <a:endParaRPr lang="en-US" sz="9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539848" y="3266017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Build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421228" y="3090333"/>
              <a:ext cx="61544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882996" y="3272367"/>
              <a:ext cx="1846326" cy="177800"/>
            </a:xfrm>
            <a:prstGeom prst="rect">
              <a:avLst/>
            </a:prstGeom>
            <a:solidFill>
              <a:srgbClr val="2A78D6"/>
            </a:solidFill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5882996" y="3272367"/>
              <a:ext cx="184632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8–14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539848" y="3807883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Copywriting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421228" y="3632200"/>
              <a:ext cx="61544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4344391" y="3814233"/>
              <a:ext cx="615442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4344391" y="3814233"/>
              <a:ext cx="61544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3–5</a:t>
              </a:r>
              <a:endParaRPr lang="en-US" sz="9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2539848" y="4349750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QA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421228" y="4174067"/>
              <a:ext cx="61544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7729322" y="4356100"/>
              <a:ext cx="1230884" cy="177800"/>
            </a:xfrm>
            <a:prstGeom prst="rect">
              <a:avLst/>
            </a:prstGeom>
            <a:solidFill>
              <a:srgbClr val="2A78D6"/>
            </a:solidFill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729322" y="4356100"/>
              <a:ext cx="123088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14–18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539848" y="4891617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Launch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421228" y="4715933"/>
              <a:ext cx="61544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8960206" y="4897967"/>
              <a:ext cx="615442" cy="177800"/>
            </a:xfrm>
            <a:prstGeom prst="rect">
              <a:avLst/>
            </a:prstGeom>
            <a:solidFill>
              <a:srgbClr val="2A78D6"/>
            </a:solidFill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8960206" y="4897967"/>
              <a:ext cx="61544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18–20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344391" y="2277533"/>
              <a:ext cx="0" cy="541867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4318991" y="2819400"/>
              <a:ext cx="25400" cy="0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 rot="5400000">
              <a:off x="4225011" y="2766060"/>
              <a:ext cx="106680" cy="106680"/>
            </a:xfrm>
            <a:prstGeom prst="triangle">
              <a:avLst/>
            </a:prstGeom>
            <a:solidFill>
              <a:srgbClr val="E34948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5882996" y="2819400"/>
              <a:ext cx="0" cy="541867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5857596" y="3361267"/>
              <a:ext cx="25400" cy="0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 rot="5400000">
              <a:off x="5763616" y="3307927"/>
              <a:ext cx="106680" cy="106680"/>
            </a:xfrm>
            <a:prstGeom prst="triangle">
              <a:avLst/>
            </a:prstGeom>
            <a:solidFill>
              <a:srgbClr val="E34948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4344391" y="2277533"/>
              <a:ext cx="0" cy="16256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4318991" y="3903133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 rot="5400000">
              <a:off x="4242791" y="3858683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7729322" y="3361267"/>
              <a:ext cx="0" cy="1083733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7703922" y="4445000"/>
              <a:ext cx="25400" cy="0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 rot="5400000">
              <a:off x="7609942" y="4391660"/>
              <a:ext cx="106680" cy="106680"/>
            </a:xfrm>
            <a:prstGeom prst="triangle">
              <a:avLst/>
            </a:prstGeom>
            <a:solidFill>
              <a:srgbClr val="E34948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8960206" y="4445000"/>
              <a:ext cx="0" cy="541867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49" name="Shape 47"/>
            <p:cNvSpPr/>
            <p:nvPr/>
          </p:nvSpPr>
          <p:spPr>
            <a:xfrm>
              <a:off x="8934806" y="4986867"/>
              <a:ext cx="25400" cy="0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 rot="5400000">
              <a:off x="8840826" y="4933527"/>
              <a:ext cx="106680" cy="106680"/>
            </a:xfrm>
            <a:prstGeom prst="triangle">
              <a:avLst/>
            </a:prstGeom>
            <a:solidFill>
              <a:srgbClr val="E34948"/>
            </a:solidFill>
            <a:ln/>
          </p:spPr>
        </p:sp>
      </p:grp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PowerChart" descr="box-and-whisker plot. 8 data series: r1, r2, r3, r4 and 4 more. 3 categories: Lot A, Lot B, Lot C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Assay reproducibility (mean ± SD)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43764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3736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30962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24561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479648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Lot A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350781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Lot B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221914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Lot C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415214" y="2407290"/>
              <a:ext cx="0" cy="144904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415214" y="2842003"/>
              <a:ext cx="0" cy="144904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4183662" y="240729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183662" y="2986908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3900653" y="2552195"/>
              <a:ext cx="1029123" cy="289809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900653" y="2697099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3900653" y="2506599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98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286348" y="2696642"/>
              <a:ext cx="0" cy="16024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286348" y="3177387"/>
              <a:ext cx="0" cy="16024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054795" y="2696642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054795" y="3337636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771786" y="2856891"/>
              <a:ext cx="1029123" cy="320497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771786" y="3017139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5771786" y="2826639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93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8157481" y="2596482"/>
              <a:ext cx="0" cy="470361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8157481" y="4007565"/>
              <a:ext cx="0" cy="470361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7925928" y="2596482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925928" y="4477926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7642919" y="3066843"/>
              <a:ext cx="1029123" cy="940722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642919" y="3537204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7642919" y="3346704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85</a:t>
              </a:r>
              <a:endParaRPr lang="en-US" sz="9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PowerChart" descr="line chart. 4 data series: Signups, Revenue, Churn %, NPS. 12 categories: w1, w2, w3, w4 and 8 more."/>
          <p:cNvGrpSpPr/>
          <p:nvPr>
            <p:custDataLst>
              <p:tags r:id="rId3"/>
            </p:custDataLst>
          </p:nvPr>
        </p:nvGrpSpPr>
        <p:grpSpPr>
          <a:xfrm>
            <a:off x="3047848" y="1778000"/>
            <a:ext cx="6096000" cy="3220466"/>
            <a:chOff x="3047848" y="1778000"/>
            <a:chExt cx="6096000" cy="3220466"/>
          </a:xfrm>
        </p:grpSpPr>
        <p:sp>
          <p:nvSpPr>
            <p:cNvPr id="2" name="Text 0"/>
            <p:cNvSpPr/>
            <p:nvPr/>
          </p:nvSpPr>
          <p:spPr>
            <a:xfrm>
              <a:off x="3047848" y="1778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KPI sparklines — last 12 weeks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2292350"/>
              <a:ext cx="5054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Signups</a:t>
              </a:r>
              <a:endParaRPr lang="en-US" sz="1000" dirty="0"/>
            </a:p>
          </p:txBody>
        </p:sp>
        <p:sp>
          <p:nvSpPr>
            <p:cNvPr id="4" name="Shape 2"/>
            <p:cNvSpPr/>
            <p:nvPr/>
          </p:nvSpPr>
          <p:spPr>
            <a:xfrm flipV="1">
              <a:off x="3629508" y="2577592"/>
              <a:ext cx="474980" cy="34544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4104488" y="2577592"/>
              <a:ext cx="474980" cy="17272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 flipV="1">
              <a:off x="4579468" y="2525776"/>
              <a:ext cx="474980" cy="69088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5054448" y="2525776"/>
              <a:ext cx="474980" cy="17272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 flipV="1">
              <a:off x="5529428" y="2439416"/>
              <a:ext cx="474980" cy="103632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6004408" y="2439416"/>
              <a:ext cx="474980" cy="17272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 flipV="1">
              <a:off x="6479388" y="2335784"/>
              <a:ext cx="474980" cy="120904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6954368" y="2335784"/>
              <a:ext cx="474980" cy="51816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 flipV="1">
              <a:off x="7429348" y="2266696"/>
              <a:ext cx="474980" cy="120904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7904328" y="2266696"/>
              <a:ext cx="474980" cy="17272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 flipV="1">
              <a:off x="8379308" y="2163064"/>
              <a:ext cx="474980" cy="120904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3605378" y="2588006"/>
              <a:ext cx="48260" cy="48260"/>
            </a:xfrm>
            <a:prstGeom prst="ellipse">
              <a:avLst/>
            </a:prstGeom>
            <a:solidFill>
              <a:srgbClr val="E34948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8830158" y="2138934"/>
              <a:ext cx="48260" cy="48260"/>
            </a:xfrm>
            <a:prstGeom prst="ellipse">
              <a:avLst/>
            </a:prstGeom>
            <a:solidFill>
              <a:srgbClr val="1A9E6E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8827618" y="2136394"/>
              <a:ext cx="53340" cy="53340"/>
            </a:xfrm>
            <a:prstGeom prst="ellipse">
              <a:avLst/>
            </a:prstGeom>
            <a:solidFill>
              <a:srgbClr val="2A78D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8905088" y="2067814"/>
              <a:ext cx="238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92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047848" y="3079750"/>
              <a:ext cx="5054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Revenue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 flipV="1">
              <a:off x="3629508" y="3379124"/>
              <a:ext cx="474980" cy="20412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 flipV="1">
              <a:off x="4104488" y="3338299"/>
              <a:ext cx="474980" cy="40825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4579468" y="3338299"/>
              <a:ext cx="474980" cy="20412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 flipV="1">
              <a:off x="5054448" y="3277062"/>
              <a:ext cx="474980" cy="81649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529428" y="3277062"/>
              <a:ext cx="474980" cy="20412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 flipV="1">
              <a:off x="6004408" y="3195412"/>
              <a:ext cx="474980" cy="102062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 flipV="1">
              <a:off x="6479388" y="3134175"/>
              <a:ext cx="474980" cy="61237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954368" y="3134175"/>
              <a:ext cx="474980" cy="20412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 flipV="1">
              <a:off x="7429348" y="3032113"/>
              <a:ext cx="474980" cy="122474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 flipV="1">
              <a:off x="7904328" y="2950464"/>
              <a:ext cx="474980" cy="81649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8379308" y="2950464"/>
              <a:ext cx="474980" cy="20412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3605378" y="3375406"/>
              <a:ext cx="48260" cy="48260"/>
            </a:xfrm>
            <a:prstGeom prst="ellipse">
              <a:avLst/>
            </a:prstGeom>
            <a:solidFill>
              <a:srgbClr val="E34948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8355178" y="2926334"/>
              <a:ext cx="48260" cy="48260"/>
            </a:xfrm>
            <a:prstGeom prst="ellipse">
              <a:avLst/>
            </a:prstGeom>
            <a:solidFill>
              <a:srgbClr val="1A9E6E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8827618" y="2944206"/>
              <a:ext cx="53340" cy="53340"/>
            </a:xfrm>
            <a:prstGeom prst="ellipse">
              <a:avLst/>
            </a:prstGeom>
            <a:solidFill>
              <a:srgbClr val="1BAF7A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8905088" y="2875626"/>
              <a:ext cx="238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33</a:t>
              </a:r>
              <a:endParaRPr lang="en-US" sz="10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3047848" y="3867150"/>
              <a:ext cx="5054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Churn %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3629508" y="3737864"/>
              <a:ext cx="468745" cy="56134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 flipV="1">
              <a:off x="4098253" y="3775287"/>
              <a:ext cx="468745" cy="18711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4566999" y="3775287"/>
              <a:ext cx="468745" cy="93557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 flipV="1">
              <a:off x="5035744" y="3831421"/>
              <a:ext cx="468745" cy="37423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5504489" y="3831421"/>
              <a:ext cx="468745" cy="112268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5973235" y="3943689"/>
              <a:ext cx="468745" cy="37423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 flipV="1">
              <a:off x="6441980" y="3962400"/>
              <a:ext cx="468745" cy="18711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6910726" y="3962400"/>
              <a:ext cx="468745" cy="112268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7379471" y="4074668"/>
              <a:ext cx="468745" cy="37423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7848217" y="4112091"/>
              <a:ext cx="468745" cy="37423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8316962" y="4149513"/>
              <a:ext cx="468745" cy="37423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8761578" y="4162806"/>
              <a:ext cx="48260" cy="48260"/>
            </a:xfrm>
            <a:prstGeom prst="ellipse">
              <a:avLst/>
            </a:prstGeom>
            <a:solidFill>
              <a:srgbClr val="E34948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3605378" y="3713734"/>
              <a:ext cx="48260" cy="48260"/>
            </a:xfrm>
            <a:prstGeom prst="ellipse">
              <a:avLst/>
            </a:prstGeom>
            <a:solidFill>
              <a:srgbClr val="1A9E6E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8759038" y="4160266"/>
              <a:ext cx="53340" cy="53340"/>
            </a:xfrm>
            <a:prstGeom prst="ellipse">
              <a:avLst/>
            </a:prstGeom>
            <a:solidFill>
              <a:srgbClr val="EDA100"/>
            </a:solidFill>
            <a:ln/>
          </p:spPr>
        </p:sp>
        <p:sp>
          <p:nvSpPr>
            <p:cNvPr id="50" name="Text 48"/>
            <p:cNvSpPr/>
            <p:nvPr/>
          </p:nvSpPr>
          <p:spPr>
            <a:xfrm>
              <a:off x="8836508" y="4091686"/>
              <a:ext cx="3073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2.7</a:t>
              </a:r>
              <a:endParaRPr lang="en-US" sz="10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3047848" y="4654550"/>
              <a:ext cx="231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NPS</a:t>
              </a:r>
              <a:endParaRPr lang="en-US" sz="1000" dirty="0"/>
            </a:p>
          </p:txBody>
        </p:sp>
        <p:sp>
          <p:nvSpPr>
            <p:cNvPr id="52" name="Shape 50"/>
            <p:cNvSpPr/>
            <p:nvPr/>
          </p:nvSpPr>
          <p:spPr>
            <a:xfrm flipV="1">
              <a:off x="3355188" y="4938410"/>
              <a:ext cx="499918" cy="35926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3855106" y="4938410"/>
              <a:ext cx="499918" cy="17963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 flipV="1">
              <a:off x="4355024" y="4884522"/>
              <a:ext cx="499918" cy="71852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55" name="Shape 53"/>
            <p:cNvSpPr/>
            <p:nvPr/>
          </p:nvSpPr>
          <p:spPr>
            <a:xfrm flipV="1">
              <a:off x="4854942" y="4830633"/>
              <a:ext cx="499918" cy="53889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 flipV="1">
              <a:off x="5354860" y="4794707"/>
              <a:ext cx="499918" cy="35926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57" name="Shape 55"/>
            <p:cNvSpPr/>
            <p:nvPr/>
          </p:nvSpPr>
          <p:spPr>
            <a:xfrm>
              <a:off x="5854779" y="4794707"/>
              <a:ext cx="499918" cy="17963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58" name="Shape 56"/>
            <p:cNvSpPr/>
            <p:nvPr/>
          </p:nvSpPr>
          <p:spPr>
            <a:xfrm flipV="1">
              <a:off x="6354697" y="4722856"/>
              <a:ext cx="499918" cy="89814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 flipV="1">
              <a:off x="6854615" y="4668967"/>
              <a:ext cx="499918" cy="53889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60" name="Shape 58"/>
            <p:cNvSpPr/>
            <p:nvPr/>
          </p:nvSpPr>
          <p:spPr>
            <a:xfrm>
              <a:off x="7354533" y="4668967"/>
              <a:ext cx="499918" cy="17963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61" name="Shape 59"/>
            <p:cNvSpPr/>
            <p:nvPr/>
          </p:nvSpPr>
          <p:spPr>
            <a:xfrm flipV="1">
              <a:off x="7854451" y="4579153"/>
              <a:ext cx="499918" cy="107777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62" name="Shape 60"/>
            <p:cNvSpPr/>
            <p:nvPr/>
          </p:nvSpPr>
          <p:spPr>
            <a:xfrm flipV="1">
              <a:off x="8354369" y="4525264"/>
              <a:ext cx="499918" cy="53889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63" name="Shape 61"/>
            <p:cNvSpPr/>
            <p:nvPr/>
          </p:nvSpPr>
          <p:spPr>
            <a:xfrm>
              <a:off x="3331058" y="4950206"/>
              <a:ext cx="48260" cy="48260"/>
            </a:xfrm>
            <a:prstGeom prst="ellipse">
              <a:avLst/>
            </a:prstGeom>
            <a:solidFill>
              <a:srgbClr val="E34948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8830158" y="4501134"/>
              <a:ext cx="48260" cy="48260"/>
            </a:xfrm>
            <a:prstGeom prst="ellipse">
              <a:avLst/>
            </a:prstGeom>
            <a:solidFill>
              <a:srgbClr val="1A9E6E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8827618" y="4498594"/>
              <a:ext cx="53340" cy="53340"/>
            </a:xfrm>
            <a:prstGeom prst="ellipse">
              <a:avLst/>
            </a:prstGeom>
            <a:solidFill>
              <a:srgbClr val="008300"/>
            </a:solidFill>
            <a:ln/>
          </p:spPr>
        </p:sp>
        <p:sp>
          <p:nvSpPr>
            <p:cNvPr id="66" name="Text 64"/>
            <p:cNvSpPr/>
            <p:nvPr/>
          </p:nvSpPr>
          <p:spPr>
            <a:xfrm>
              <a:off x="8905088" y="4430014"/>
              <a:ext cx="238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083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owerChart" descr="radar chart. 1 data series: Units. 8 categories: Jan, Feb, Mar, Apr and 4 more."/>
          <p:cNvGrpSpPr/>
          <p:nvPr>
            <p:custDataLst>
              <p:tags r:id="rId3"/>
            </p:custDataLst>
          </p:nvPr>
        </p:nvGrpSpPr>
        <p:grpSpPr>
          <a:xfrm>
            <a:off x="3428848" y="1397000"/>
            <a:ext cx="5334000" cy="3856325"/>
            <a:chOff x="3428848" y="1397000"/>
            <a:chExt cx="5334000" cy="3856325"/>
          </a:xfrm>
        </p:grpSpPr>
        <p:sp>
          <p:nvSpPr>
            <p:cNvPr id="2" name="Text 0"/>
            <p:cNvSpPr/>
            <p:nvPr/>
          </p:nvSpPr>
          <p:spPr>
            <a:xfrm>
              <a:off x="3428848" y="1397000"/>
              <a:ext cx="5334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Monthly sales (radial bars)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121758" y="2594610"/>
              <a:ext cx="1948180" cy="1948180"/>
            </a:xfrm>
            <a:prstGeom prst="ellipse">
              <a:avLst/>
            </a:pr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133948" y="2518410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8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444848" y="1917700"/>
              <a:ext cx="3302000" cy="3302000"/>
            </a:xfrm>
            <a:prstGeom prst="ellipse">
              <a:avLst/>
            </a:pr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6133948" y="1841500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8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5257140" y="2729992"/>
              <a:ext cx="1677416" cy="1677416"/>
            </a:xfrm>
            <a:custGeom>
              <a:avLst/>
              <a:gdLst/>
              <a:ahLst/>
              <a:cxnLst/>
              <a:rect l="l" t="t" r="r" b="b"/>
              <a:pathLst>
                <a:path w="1677416" h="1677416">
                  <a:moveTo>
                    <a:pt x="878217" y="931"/>
                  </a:moveTo>
                  <a:lnTo>
                    <a:pt x="960608" y="8906"/>
                  </a:lnTo>
                  <a:lnTo>
                    <a:pt x="1041813" y="24964"/>
                  </a:lnTo>
                  <a:lnTo>
                    <a:pt x="1121039" y="48948"/>
                  </a:lnTo>
                  <a:lnTo>
                    <a:pt x="1197515" y="80626"/>
                  </a:lnTo>
                  <a:lnTo>
                    <a:pt x="1270495" y="119687"/>
                  </a:lnTo>
                  <a:lnTo>
                    <a:pt x="1339270" y="165753"/>
                  </a:lnTo>
                  <a:lnTo>
                    <a:pt x="1403169" y="218373"/>
                  </a:lnTo>
                  <a:lnTo>
                    <a:pt x="1038714" y="618904"/>
                  </a:lnTo>
                  <a:lnTo>
                    <a:pt x="1016073" y="600259"/>
                  </a:lnTo>
                  <a:lnTo>
                    <a:pt x="991703" y="583937"/>
                  </a:lnTo>
                  <a:lnTo>
                    <a:pt x="965844" y="570096"/>
                  </a:lnTo>
                  <a:lnTo>
                    <a:pt x="938746" y="558872"/>
                  </a:lnTo>
                  <a:lnTo>
                    <a:pt x="910674" y="550373"/>
                  </a:lnTo>
                  <a:lnTo>
                    <a:pt x="881901" y="544684"/>
                  </a:lnTo>
                  <a:lnTo>
                    <a:pt x="852707" y="541858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756818" y="1884075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054067" y="2526919"/>
              <a:ext cx="2083562" cy="2083562"/>
            </a:xfrm>
            <a:custGeom>
              <a:avLst/>
              <a:gdLst/>
              <a:ahLst/>
              <a:cxnLst/>
              <a:rect l="l" t="t" r="r" b="b"/>
              <a:pathLst>
                <a:path w="2083562" h="2083562">
                  <a:moveTo>
                    <a:pt x="1812315" y="340649"/>
                  </a:moveTo>
                  <a:lnTo>
                    <a:pt x="1877676" y="420020"/>
                  </a:lnTo>
                  <a:lnTo>
                    <a:pt x="1934895" y="505447"/>
                  </a:lnTo>
                  <a:lnTo>
                    <a:pt x="1983415" y="596098"/>
                  </a:lnTo>
                  <a:lnTo>
                    <a:pt x="2022762" y="691091"/>
                  </a:lnTo>
                  <a:lnTo>
                    <a:pt x="2052554" y="789499"/>
                  </a:lnTo>
                  <a:lnTo>
                    <a:pt x="2072500" y="890365"/>
                  </a:lnTo>
                  <a:lnTo>
                    <a:pt x="2082405" y="992706"/>
                  </a:lnTo>
                  <a:lnTo>
                    <a:pt x="1338631" y="1027782"/>
                  </a:lnTo>
                  <a:lnTo>
                    <a:pt x="1335805" y="998588"/>
                  </a:lnTo>
                  <a:lnTo>
                    <a:pt x="1330116" y="969815"/>
                  </a:lnTo>
                  <a:lnTo>
                    <a:pt x="1321617" y="941743"/>
                  </a:lnTo>
                  <a:lnTo>
                    <a:pt x="1310393" y="914645"/>
                  </a:lnTo>
                  <a:lnTo>
                    <a:pt x="1296552" y="888786"/>
                  </a:lnTo>
                  <a:lnTo>
                    <a:pt x="1280230" y="864416"/>
                  </a:lnTo>
                  <a:lnTo>
                    <a:pt x="1261585" y="841775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691572" y="2818829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392522" y="2865374"/>
              <a:ext cx="1406652" cy="1406652"/>
            </a:xfrm>
            <a:custGeom>
              <a:avLst/>
              <a:gdLst/>
              <a:ahLst/>
              <a:cxnLst/>
              <a:rect l="l" t="t" r="r" b="b"/>
              <a:pathLst>
                <a:path w="1406652" h="1406652">
                  <a:moveTo>
                    <a:pt x="1405871" y="736457"/>
                  </a:moveTo>
                  <a:lnTo>
                    <a:pt x="1399184" y="805550"/>
                  </a:lnTo>
                  <a:lnTo>
                    <a:pt x="1385718" y="873646"/>
                  </a:lnTo>
                  <a:lnTo>
                    <a:pt x="1365605" y="940084"/>
                  </a:lnTo>
                  <a:lnTo>
                    <a:pt x="1339041" y="1004215"/>
                  </a:lnTo>
                  <a:lnTo>
                    <a:pt x="1306284" y="1065415"/>
                  </a:lnTo>
                  <a:lnTo>
                    <a:pt x="1267655" y="1123089"/>
                  </a:lnTo>
                  <a:lnTo>
                    <a:pt x="1223528" y="1176673"/>
                  </a:lnTo>
                  <a:lnTo>
                    <a:pt x="923130" y="903332"/>
                  </a:lnTo>
                  <a:lnTo>
                    <a:pt x="941775" y="880691"/>
                  </a:lnTo>
                  <a:lnTo>
                    <a:pt x="958097" y="856321"/>
                  </a:lnTo>
                  <a:lnTo>
                    <a:pt x="971938" y="830462"/>
                  </a:lnTo>
                  <a:lnTo>
                    <a:pt x="983162" y="803364"/>
                  </a:lnTo>
                  <a:lnTo>
                    <a:pt x="991661" y="775292"/>
                  </a:lnTo>
                  <a:lnTo>
                    <a:pt x="997350" y="746519"/>
                  </a:lnTo>
                  <a:lnTo>
                    <a:pt x="1000176" y="717325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7691572" y="4140771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850994" y="2323846"/>
              <a:ext cx="2489708" cy="2489708"/>
            </a:xfrm>
            <a:custGeom>
              <a:avLst/>
              <a:gdLst/>
              <a:ahLst/>
              <a:cxnLst/>
              <a:rect l="l" t="t" r="r" b="b"/>
              <a:pathLst>
                <a:path w="2489708" h="2489708">
                  <a:moveTo>
                    <a:pt x="2082656" y="2165587"/>
                  </a:moveTo>
                  <a:lnTo>
                    <a:pt x="1987814" y="2243689"/>
                  </a:lnTo>
                  <a:lnTo>
                    <a:pt x="1885735" y="2312062"/>
                  </a:lnTo>
                  <a:lnTo>
                    <a:pt x="1777413" y="2370039"/>
                  </a:lnTo>
                  <a:lnTo>
                    <a:pt x="1663904" y="2417056"/>
                  </a:lnTo>
                  <a:lnTo>
                    <a:pt x="1546313" y="2452655"/>
                  </a:lnTo>
                  <a:lnTo>
                    <a:pt x="1425785" y="2476489"/>
                  </a:lnTo>
                  <a:lnTo>
                    <a:pt x="1303495" y="2488326"/>
                  </a:lnTo>
                  <a:lnTo>
                    <a:pt x="1258853" y="1541704"/>
                  </a:lnTo>
                  <a:lnTo>
                    <a:pt x="1288047" y="1538878"/>
                  </a:lnTo>
                  <a:lnTo>
                    <a:pt x="1316820" y="1533189"/>
                  </a:lnTo>
                  <a:lnTo>
                    <a:pt x="1344892" y="1524690"/>
                  </a:lnTo>
                  <a:lnTo>
                    <a:pt x="1371990" y="1513466"/>
                  </a:lnTo>
                  <a:lnTo>
                    <a:pt x="1397849" y="1499625"/>
                  </a:lnTo>
                  <a:lnTo>
                    <a:pt x="1422219" y="1483303"/>
                  </a:lnTo>
                  <a:lnTo>
                    <a:pt x="1444860" y="1464658"/>
                  </a:lnTo>
                  <a:close/>
                </a:path>
              </a:pathLst>
            </a:cu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6756818" y="5075525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Apr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959299" y="2432152"/>
              <a:ext cx="2273097" cy="2273097"/>
            </a:xfrm>
            <a:custGeom>
              <a:avLst/>
              <a:gdLst/>
              <a:ahLst/>
              <a:cxnLst/>
              <a:rect l="l" t="t" r="r" b="b"/>
              <a:pathLst>
                <a:path w="2273097" h="2273097">
                  <a:moveTo>
                    <a:pt x="1083010" y="2271835"/>
                  </a:moveTo>
                  <a:lnTo>
                    <a:pt x="971359" y="2261028"/>
                  </a:lnTo>
                  <a:lnTo>
                    <a:pt x="861318" y="2239268"/>
                  </a:lnTo>
                  <a:lnTo>
                    <a:pt x="753957" y="2206766"/>
                  </a:lnTo>
                  <a:lnTo>
                    <a:pt x="650323" y="2163840"/>
                  </a:lnTo>
                  <a:lnTo>
                    <a:pt x="551426" y="2110906"/>
                  </a:lnTo>
                  <a:lnTo>
                    <a:pt x="458228" y="2048482"/>
                  </a:lnTo>
                  <a:lnTo>
                    <a:pt x="371637" y="1977175"/>
                  </a:lnTo>
                  <a:lnTo>
                    <a:pt x="936543" y="1356352"/>
                  </a:lnTo>
                  <a:lnTo>
                    <a:pt x="959184" y="1374997"/>
                  </a:lnTo>
                  <a:lnTo>
                    <a:pt x="983553" y="1391320"/>
                  </a:lnTo>
                  <a:lnTo>
                    <a:pt x="1009412" y="1405160"/>
                  </a:lnTo>
                  <a:lnTo>
                    <a:pt x="1036510" y="1416385"/>
                  </a:lnTo>
                  <a:lnTo>
                    <a:pt x="1064582" y="1424883"/>
                  </a:lnTo>
                  <a:lnTo>
                    <a:pt x="1093355" y="1430573"/>
                  </a:lnTo>
                  <a:lnTo>
                    <a:pt x="1122549" y="1433398"/>
                  </a:lnTo>
                  <a:close/>
                </a:path>
              </a:pathLst>
            </a:custGeom>
            <a:solidFill>
              <a:srgbClr val="4A3AA7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178337" y="5075525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May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148834" y="2621686"/>
              <a:ext cx="1894027" cy="1894027"/>
            </a:xfrm>
            <a:custGeom>
              <a:avLst/>
              <a:gdLst/>
              <a:ahLst/>
              <a:cxnLst/>
              <a:rect l="l" t="t" r="r" b="b"/>
              <a:pathLst>
                <a:path w="1894027" h="1894027">
                  <a:moveTo>
                    <a:pt x="246573" y="1584366"/>
                  </a:moveTo>
                  <a:lnTo>
                    <a:pt x="187157" y="1512215"/>
                  </a:lnTo>
                  <a:lnTo>
                    <a:pt x="135143" y="1434559"/>
                  </a:lnTo>
                  <a:lnTo>
                    <a:pt x="91037" y="1352154"/>
                  </a:lnTo>
                  <a:lnTo>
                    <a:pt x="55269" y="1265803"/>
                  </a:lnTo>
                  <a:lnTo>
                    <a:pt x="28188" y="1176346"/>
                  </a:lnTo>
                  <a:lnTo>
                    <a:pt x="10056" y="1084655"/>
                  </a:lnTo>
                  <a:lnTo>
                    <a:pt x="1051" y="991624"/>
                  </a:lnTo>
                  <a:lnTo>
                    <a:pt x="650164" y="961013"/>
                  </a:lnTo>
                  <a:lnTo>
                    <a:pt x="652989" y="990207"/>
                  </a:lnTo>
                  <a:lnTo>
                    <a:pt x="658679" y="1018980"/>
                  </a:lnTo>
                  <a:lnTo>
                    <a:pt x="667177" y="1047052"/>
                  </a:lnTo>
                  <a:lnTo>
                    <a:pt x="678402" y="1074150"/>
                  </a:lnTo>
                  <a:lnTo>
                    <a:pt x="692242" y="1100009"/>
                  </a:lnTo>
                  <a:lnTo>
                    <a:pt x="708565" y="1124378"/>
                  </a:lnTo>
                  <a:lnTo>
                    <a:pt x="727210" y="1147019"/>
                  </a:lnTo>
                  <a:close/>
                </a:path>
              </a:pathLst>
            </a:custGeom>
            <a:solidFill>
              <a:srgbClr val="E3494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243583" y="4140771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Jun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715612" y="2188464"/>
              <a:ext cx="2760472" cy="2760472"/>
            </a:xfrm>
            <a:custGeom>
              <a:avLst/>
              <a:gdLst/>
              <a:ahLst/>
              <a:cxnLst/>
              <a:rect l="l" t="t" r="r" b="b"/>
              <a:pathLst>
                <a:path w="2760472" h="2760472">
                  <a:moveTo>
                    <a:pt x="1532" y="1315218"/>
                  </a:moveTo>
                  <a:lnTo>
                    <a:pt x="14656" y="1179628"/>
                  </a:lnTo>
                  <a:lnTo>
                    <a:pt x="41082" y="1045993"/>
                  </a:lnTo>
                  <a:lnTo>
                    <a:pt x="80553" y="915613"/>
                  </a:lnTo>
                  <a:lnTo>
                    <a:pt x="132683" y="789759"/>
                  </a:lnTo>
                  <a:lnTo>
                    <a:pt x="196966" y="669657"/>
                  </a:lnTo>
                  <a:lnTo>
                    <a:pt x="272774" y="556476"/>
                  </a:lnTo>
                  <a:lnTo>
                    <a:pt x="359371" y="451320"/>
                  </a:lnTo>
                  <a:lnTo>
                    <a:pt x="1160432" y="1180230"/>
                  </a:lnTo>
                  <a:lnTo>
                    <a:pt x="1141787" y="1202871"/>
                  </a:lnTo>
                  <a:lnTo>
                    <a:pt x="1125465" y="1227241"/>
                  </a:lnTo>
                  <a:lnTo>
                    <a:pt x="1111624" y="1253100"/>
                  </a:lnTo>
                  <a:lnTo>
                    <a:pt x="1100400" y="1280198"/>
                  </a:lnTo>
                  <a:lnTo>
                    <a:pt x="1091901" y="1308270"/>
                  </a:lnTo>
                  <a:lnTo>
                    <a:pt x="1086212" y="1337043"/>
                  </a:lnTo>
                  <a:lnTo>
                    <a:pt x="1083386" y="1366237"/>
                  </a:lnTo>
                  <a:close/>
                </a:path>
              </a:pathLst>
            </a:custGeom>
            <a:solidFill>
              <a:srgbClr val="E87BA4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243583" y="2818829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Jul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324831" y="2797683"/>
              <a:ext cx="1542034" cy="1542034"/>
            </a:xfrm>
            <a:custGeom>
              <a:avLst/>
              <a:gdLst/>
              <a:ahLst/>
              <a:cxnLst/>
              <a:rect l="l" t="t" r="r" b="b"/>
              <a:pathLst>
                <a:path w="1542034" h="1542034">
                  <a:moveTo>
                    <a:pt x="252113" y="200749"/>
                  </a:moveTo>
                  <a:lnTo>
                    <a:pt x="310855" y="152375"/>
                  </a:lnTo>
                  <a:lnTo>
                    <a:pt x="374079" y="110027"/>
                  </a:lnTo>
                  <a:lnTo>
                    <a:pt x="441169" y="74118"/>
                  </a:lnTo>
                  <a:lnTo>
                    <a:pt x="511473" y="44998"/>
                  </a:lnTo>
                  <a:lnTo>
                    <a:pt x="584305" y="22949"/>
                  </a:lnTo>
                  <a:lnTo>
                    <a:pt x="658955" y="8187"/>
                  </a:lnTo>
                  <a:lnTo>
                    <a:pt x="734697" y="856"/>
                  </a:lnTo>
                  <a:lnTo>
                    <a:pt x="757018" y="474167"/>
                  </a:lnTo>
                  <a:lnTo>
                    <a:pt x="727824" y="476993"/>
                  </a:lnTo>
                  <a:lnTo>
                    <a:pt x="699051" y="482682"/>
                  </a:lnTo>
                  <a:lnTo>
                    <a:pt x="670979" y="491181"/>
                  </a:lnTo>
                  <a:lnTo>
                    <a:pt x="643881" y="502405"/>
                  </a:lnTo>
                  <a:lnTo>
                    <a:pt x="618022" y="516246"/>
                  </a:lnTo>
                  <a:lnTo>
                    <a:pt x="593652" y="532568"/>
                  </a:lnTo>
                  <a:lnTo>
                    <a:pt x="571011" y="551213"/>
                  </a:lnTo>
                  <a:close/>
                </a:path>
              </a:pathLst>
            </a:custGeom>
            <a:solidFill>
              <a:srgbClr val="EB6834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178337" y="1884075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Aug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owerChart" descr="radar chart. 3 data series: Alice, Bob, Cara. 6 categories: Strategy, Delivery, Design, Data and 2 more."/>
          <p:cNvGrpSpPr/>
          <p:nvPr>
            <p:custDataLst>
              <p:tags r:id="rId3"/>
            </p:custDataLst>
          </p:nvPr>
        </p:nvGrpSpPr>
        <p:grpSpPr>
          <a:xfrm>
            <a:off x="3174848" y="1397000"/>
            <a:ext cx="5842000" cy="4076700"/>
            <a:chOff x="3174848" y="1397000"/>
            <a:chExt cx="5842000" cy="4076700"/>
          </a:xfrm>
        </p:grpSpPr>
        <p:sp>
          <p:nvSpPr>
            <p:cNvPr id="2" name="Text 0"/>
            <p:cNvSpPr/>
            <p:nvPr/>
          </p:nvSpPr>
          <p:spPr>
            <a:xfrm>
              <a:off x="3174848" y="1397000"/>
              <a:ext cx="584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Team capability (stacked radar)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648574" y="3153833"/>
              <a:ext cx="894547" cy="1032933"/>
            </a:xfrm>
            <a:custGeom>
              <a:avLst/>
              <a:gdLst/>
              <a:ahLst/>
              <a:cxnLst/>
              <a:rect l="l" t="t" r="r" b="b"/>
              <a:pathLst>
                <a:path w="894547" h="1032933">
                  <a:moveTo>
                    <a:pt x="447273" y="0"/>
                  </a:moveTo>
                  <a:lnTo>
                    <a:pt x="894547" y="258233"/>
                  </a:lnTo>
                  <a:lnTo>
                    <a:pt x="894547" y="774700"/>
                  </a:lnTo>
                  <a:lnTo>
                    <a:pt x="447273" y="1032933"/>
                  </a:lnTo>
                  <a:lnTo>
                    <a:pt x="0" y="774700"/>
                  </a:lnTo>
                  <a:lnTo>
                    <a:pt x="0" y="258233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133948" y="3077633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8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201301" y="2637367"/>
              <a:ext cx="1789093" cy="2065867"/>
            </a:xfrm>
            <a:custGeom>
              <a:avLst/>
              <a:gdLst/>
              <a:ahLst/>
              <a:cxnLst/>
              <a:rect l="l" t="t" r="r" b="b"/>
              <a:pathLst>
                <a:path w="1789093" h="2065867">
                  <a:moveTo>
                    <a:pt x="894547" y="0"/>
                  </a:moveTo>
                  <a:lnTo>
                    <a:pt x="1789093" y="516467"/>
                  </a:lnTo>
                  <a:lnTo>
                    <a:pt x="1789093" y="1549400"/>
                  </a:lnTo>
                  <a:lnTo>
                    <a:pt x="894547" y="2065867"/>
                  </a:lnTo>
                  <a:lnTo>
                    <a:pt x="0" y="1549400"/>
                  </a:lnTo>
                  <a:lnTo>
                    <a:pt x="0" y="516467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6133948" y="2561167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8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754028" y="2120900"/>
              <a:ext cx="2683640" cy="3098800"/>
            </a:xfrm>
            <a:custGeom>
              <a:avLst/>
              <a:gdLst/>
              <a:ahLst/>
              <a:cxnLst/>
              <a:rect l="l" t="t" r="r" b="b"/>
              <a:pathLst>
                <a:path w="2683640" h="3098800">
                  <a:moveTo>
                    <a:pt x="1341820" y="0"/>
                  </a:moveTo>
                  <a:lnTo>
                    <a:pt x="2683640" y="774700"/>
                  </a:lnTo>
                  <a:lnTo>
                    <a:pt x="2683640" y="2324100"/>
                  </a:lnTo>
                  <a:lnTo>
                    <a:pt x="1341820" y="3098800"/>
                  </a:lnTo>
                  <a:lnTo>
                    <a:pt x="0" y="2324100"/>
                  </a:lnTo>
                  <a:lnTo>
                    <a:pt x="0" y="774700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133948" y="2044700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8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095848" y="2120900"/>
              <a:ext cx="0" cy="1549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5796128" y="1866900"/>
              <a:ext cx="5994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Strategy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 flipV="1">
              <a:off x="6095848" y="2895600"/>
              <a:ext cx="1341820" cy="7747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7503658" y="2768600"/>
              <a:ext cx="5994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Delivery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095848" y="3670300"/>
              <a:ext cx="1341820" cy="7747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503658" y="4394200"/>
              <a:ext cx="4622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Design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095848" y="3670300"/>
              <a:ext cx="0" cy="1549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933288" y="5295900"/>
              <a:ext cx="3251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Data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 flipV="1">
              <a:off x="4754028" y="3670300"/>
              <a:ext cx="1341820" cy="7747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294337" y="4394200"/>
              <a:ext cx="3937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Comms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754028" y="2895600"/>
              <a:ext cx="1341820" cy="7747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431497" y="2768600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Ops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738029" y="3257127"/>
              <a:ext cx="805092" cy="671407"/>
            </a:xfrm>
            <a:custGeom>
              <a:avLst/>
              <a:gdLst/>
              <a:ahLst/>
              <a:cxnLst/>
              <a:rect l="l" t="t" r="r" b="b"/>
              <a:pathLst>
                <a:path w="805092" h="671407">
                  <a:moveTo>
                    <a:pt x="357819" y="0"/>
                  </a:moveTo>
                  <a:lnTo>
                    <a:pt x="626183" y="258233"/>
                  </a:lnTo>
                  <a:lnTo>
                    <a:pt x="805092" y="671407"/>
                  </a:lnTo>
                  <a:lnTo>
                    <a:pt x="357819" y="619760"/>
                  </a:lnTo>
                  <a:lnTo>
                    <a:pt x="0" y="619760"/>
                  </a:lnTo>
                  <a:lnTo>
                    <a:pt x="89455" y="258233"/>
                  </a:lnTo>
                  <a:lnTo>
                    <a:pt x="357819" y="413173"/>
                  </a:lnTo>
                  <a:lnTo>
                    <a:pt x="357819" y="413173"/>
                  </a:lnTo>
                  <a:lnTo>
                    <a:pt x="357819" y="413173"/>
                  </a:lnTo>
                  <a:lnTo>
                    <a:pt x="357819" y="413173"/>
                  </a:lnTo>
                  <a:lnTo>
                    <a:pt x="357819" y="413173"/>
                  </a:lnTo>
                  <a:lnTo>
                    <a:pt x="357819" y="413173"/>
                  </a:lnTo>
                  <a:close/>
                </a:path>
              </a:pathLst>
            </a:custGeom>
            <a:solidFill>
              <a:srgbClr val="2A78D6">
                <a:alpha val="55000"/>
              </a:srgbClr>
            </a:solidFill>
            <a:ln w="15240">
              <a:solidFill>
                <a:srgbClr val="2A78D6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469665" y="2947247"/>
              <a:ext cx="1252365" cy="1446107"/>
            </a:xfrm>
            <a:custGeom>
              <a:avLst/>
              <a:gdLst/>
              <a:ahLst/>
              <a:cxnLst/>
              <a:rect l="l" t="t" r="r" b="b"/>
              <a:pathLst>
                <a:path w="1252365" h="1446107">
                  <a:moveTo>
                    <a:pt x="626183" y="0"/>
                  </a:moveTo>
                  <a:lnTo>
                    <a:pt x="1252365" y="361527"/>
                  </a:lnTo>
                  <a:lnTo>
                    <a:pt x="1252365" y="1084580"/>
                  </a:lnTo>
                  <a:lnTo>
                    <a:pt x="626183" y="1446107"/>
                  </a:lnTo>
                  <a:lnTo>
                    <a:pt x="0" y="1084580"/>
                  </a:lnTo>
                  <a:lnTo>
                    <a:pt x="0" y="361527"/>
                  </a:lnTo>
                  <a:lnTo>
                    <a:pt x="357819" y="568113"/>
                  </a:lnTo>
                  <a:lnTo>
                    <a:pt x="268364" y="929640"/>
                  </a:lnTo>
                  <a:lnTo>
                    <a:pt x="626183" y="929640"/>
                  </a:lnTo>
                  <a:lnTo>
                    <a:pt x="1073456" y="981287"/>
                  </a:lnTo>
                  <a:lnTo>
                    <a:pt x="894547" y="568113"/>
                  </a:lnTo>
                  <a:lnTo>
                    <a:pt x="626183" y="309880"/>
                  </a:lnTo>
                  <a:close/>
                </a:path>
              </a:pathLst>
            </a:custGeom>
            <a:solidFill>
              <a:srgbClr val="1BAF7A">
                <a:alpha val="55000"/>
              </a:srgbClr>
            </a:solidFill>
            <a:ln w="15240">
              <a:solidFill>
                <a:srgbClr val="1BAF7A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022392" y="2740660"/>
              <a:ext cx="1968002" cy="1962573"/>
            </a:xfrm>
            <a:custGeom>
              <a:avLst/>
              <a:gdLst/>
              <a:ahLst/>
              <a:cxnLst/>
              <a:rect l="l" t="t" r="r" b="b"/>
              <a:pathLst>
                <a:path w="1968002" h="1962573">
                  <a:moveTo>
                    <a:pt x="1073456" y="0"/>
                  </a:moveTo>
                  <a:lnTo>
                    <a:pt x="1968002" y="413173"/>
                  </a:lnTo>
                  <a:lnTo>
                    <a:pt x="1968002" y="1446107"/>
                  </a:lnTo>
                  <a:lnTo>
                    <a:pt x="1073456" y="1962573"/>
                  </a:lnTo>
                  <a:lnTo>
                    <a:pt x="0" y="1549400"/>
                  </a:lnTo>
                  <a:lnTo>
                    <a:pt x="268364" y="464820"/>
                  </a:lnTo>
                  <a:lnTo>
                    <a:pt x="447273" y="568113"/>
                  </a:lnTo>
                  <a:lnTo>
                    <a:pt x="447273" y="1291167"/>
                  </a:lnTo>
                  <a:lnTo>
                    <a:pt x="1073456" y="1652693"/>
                  </a:lnTo>
                  <a:lnTo>
                    <a:pt x="1699638" y="1291167"/>
                  </a:lnTo>
                  <a:lnTo>
                    <a:pt x="1699638" y="568113"/>
                  </a:lnTo>
                  <a:lnTo>
                    <a:pt x="1073456" y="206587"/>
                  </a:lnTo>
                  <a:close/>
                </a:path>
              </a:pathLst>
            </a:custGeom>
            <a:solidFill>
              <a:srgbClr val="EDA100">
                <a:alpha val="55000"/>
              </a:srgbClr>
            </a:solidFill>
            <a:ln w="15240">
              <a:solidFill>
                <a:srgbClr val="EDA100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3174848" y="17208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3301848" y="1676400"/>
              <a:ext cx="4191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Alice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797148" y="17208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3924148" y="1676400"/>
              <a:ext cx="2819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Bob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282288" y="172085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4409288" y="1676400"/>
              <a:ext cx="3505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Cara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PowerChart" descr="pie chart. 2 data series: Revenue, Radius. 4 categories: EMEA, Americas, APAC, LatAm."/>
          <p:cNvGrpSpPr/>
          <p:nvPr>
            <p:custDataLst>
              <p:tags r:id="rId3"/>
            </p:custDataLst>
          </p:nvPr>
        </p:nvGrpSpPr>
        <p:grpSpPr>
          <a:xfrm>
            <a:off x="3174848" y="1397000"/>
            <a:ext cx="5842000" cy="3784600"/>
            <a:chOff x="3174848" y="1397000"/>
            <a:chExt cx="5842000" cy="3784600"/>
          </a:xfrm>
        </p:grpSpPr>
        <p:sp>
          <p:nvSpPr>
            <p:cNvPr id="2" name="Text 0"/>
            <p:cNvSpPr/>
            <p:nvPr/>
          </p:nvSpPr>
          <p:spPr>
            <a:xfrm>
              <a:off x="3174848" y="1397000"/>
              <a:ext cx="584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Region share (angle = revenue, radius = margin)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482948" y="1955800"/>
              <a:ext cx="3225800" cy="3225800"/>
            </a:xfrm>
            <a:custGeom>
              <a:avLst/>
              <a:gdLst/>
              <a:ahLst/>
              <a:cxnLst/>
              <a:rect l="l" t="t" r="r" b="b"/>
              <a:pathLst>
                <a:path w="3225800" h="3225800">
                  <a:moveTo>
                    <a:pt x="1612900" y="0"/>
                  </a:moveTo>
                  <a:lnTo>
                    <a:pt x="1781494" y="8836"/>
                  </a:lnTo>
                  <a:lnTo>
                    <a:pt x="1948241" y="35246"/>
                  </a:lnTo>
                  <a:lnTo>
                    <a:pt x="2111314" y="78941"/>
                  </a:lnTo>
                  <a:lnTo>
                    <a:pt x="2268926" y="139443"/>
                  </a:lnTo>
                  <a:lnTo>
                    <a:pt x="2419350" y="216088"/>
                  </a:lnTo>
                  <a:lnTo>
                    <a:pt x="2560939" y="308036"/>
                  </a:lnTo>
                  <a:lnTo>
                    <a:pt x="2692141" y="414282"/>
                  </a:lnTo>
                  <a:lnTo>
                    <a:pt x="2811518" y="533659"/>
                  </a:lnTo>
                  <a:lnTo>
                    <a:pt x="2917764" y="664861"/>
                  </a:lnTo>
                  <a:lnTo>
                    <a:pt x="3009712" y="806450"/>
                  </a:lnTo>
                  <a:lnTo>
                    <a:pt x="3086357" y="956874"/>
                  </a:lnTo>
                  <a:lnTo>
                    <a:pt x="3146859" y="1114486"/>
                  </a:lnTo>
                  <a:lnTo>
                    <a:pt x="3190554" y="1277559"/>
                  </a:lnTo>
                  <a:lnTo>
                    <a:pt x="3216964" y="1444306"/>
                  </a:lnTo>
                  <a:lnTo>
                    <a:pt x="3225800" y="1612900"/>
                  </a:lnTo>
                  <a:lnTo>
                    <a:pt x="3216964" y="1781494"/>
                  </a:lnTo>
                  <a:lnTo>
                    <a:pt x="3190554" y="1948241"/>
                  </a:lnTo>
                  <a:lnTo>
                    <a:pt x="3146859" y="2111314"/>
                  </a:lnTo>
                  <a:lnTo>
                    <a:pt x="3086357" y="2268926"/>
                  </a:lnTo>
                  <a:lnTo>
                    <a:pt x="3009712" y="2419350"/>
                  </a:lnTo>
                  <a:lnTo>
                    <a:pt x="2917764" y="2560939"/>
                  </a:lnTo>
                  <a:lnTo>
                    <a:pt x="2811518" y="2692141"/>
                  </a:lnTo>
                  <a:lnTo>
                    <a:pt x="2692141" y="2811518"/>
                  </a:lnTo>
                  <a:lnTo>
                    <a:pt x="2560939" y="2917764"/>
                  </a:lnTo>
                  <a:lnTo>
                    <a:pt x="2419350" y="3009712"/>
                  </a:lnTo>
                  <a:lnTo>
                    <a:pt x="2268926" y="3086357"/>
                  </a:lnTo>
                  <a:lnTo>
                    <a:pt x="2111314" y="3146859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 flipV="1">
              <a:off x="7701434" y="3303473"/>
              <a:ext cx="68990" cy="10927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7789239" y="3205243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 45%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796567" y="2269419"/>
              <a:ext cx="2598561" cy="2598561"/>
            </a:xfrm>
            <a:custGeom>
              <a:avLst/>
              <a:gdLst/>
              <a:ahLst/>
              <a:cxnLst/>
              <a:rect l="l" t="t" r="r" b="b"/>
              <a:pathLst>
                <a:path w="2598561" h="2598561">
                  <a:moveTo>
                    <a:pt x="1700780" y="2534970"/>
                  </a:moveTo>
                  <a:lnTo>
                    <a:pt x="1569416" y="2570169"/>
                  </a:lnTo>
                  <a:lnTo>
                    <a:pt x="1435092" y="2591444"/>
                  </a:lnTo>
                  <a:lnTo>
                    <a:pt x="1299281" y="2598561"/>
                  </a:lnTo>
                  <a:lnTo>
                    <a:pt x="1163469" y="2591444"/>
                  </a:lnTo>
                  <a:lnTo>
                    <a:pt x="1029145" y="2570169"/>
                  </a:lnTo>
                  <a:lnTo>
                    <a:pt x="897781" y="2534970"/>
                  </a:lnTo>
                  <a:lnTo>
                    <a:pt x="770816" y="2486232"/>
                  </a:lnTo>
                  <a:lnTo>
                    <a:pt x="649640" y="2424491"/>
                  </a:lnTo>
                  <a:lnTo>
                    <a:pt x="535583" y="2350421"/>
                  </a:lnTo>
                  <a:lnTo>
                    <a:pt x="429892" y="2264834"/>
                  </a:lnTo>
                  <a:lnTo>
                    <a:pt x="333727" y="2168669"/>
                  </a:lnTo>
                  <a:lnTo>
                    <a:pt x="248141" y="2062979"/>
                  </a:lnTo>
                  <a:lnTo>
                    <a:pt x="174071" y="1948921"/>
                  </a:lnTo>
                  <a:lnTo>
                    <a:pt x="112329" y="1827746"/>
                  </a:lnTo>
                  <a:lnTo>
                    <a:pt x="63591" y="1700780"/>
                  </a:lnTo>
                  <a:lnTo>
                    <a:pt x="28392" y="1569416"/>
                  </a:lnTo>
                  <a:lnTo>
                    <a:pt x="7118" y="1435092"/>
                  </a:lnTo>
                  <a:lnTo>
                    <a:pt x="0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 flipV="1">
              <a:off x="5283628" y="4630115"/>
              <a:ext cx="41057" cy="5651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398671" y="4606786"/>
              <a:ext cx="873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 30%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662159" y="2135011"/>
              <a:ext cx="2867378" cy="2867378"/>
            </a:xfrm>
            <a:custGeom>
              <a:avLst/>
              <a:gdLst/>
              <a:ahLst/>
              <a:cxnLst/>
              <a:rect l="l" t="t" r="r" b="b"/>
              <a:pathLst>
                <a:path w="2867378" h="2867378">
                  <a:moveTo>
                    <a:pt x="0" y="1433689"/>
                  </a:moveTo>
                  <a:lnTo>
                    <a:pt x="7571" y="1286543"/>
                  </a:lnTo>
                  <a:lnTo>
                    <a:pt x="30205" y="1140951"/>
                  </a:lnTo>
                  <a:lnTo>
                    <a:pt x="67661" y="998450"/>
                  </a:lnTo>
                  <a:lnTo>
                    <a:pt x="119546" y="860547"/>
                  </a:lnTo>
                  <a:lnTo>
                    <a:pt x="185310" y="728697"/>
                  </a:lnTo>
                  <a:lnTo>
                    <a:pt x="264259" y="604293"/>
                  </a:lnTo>
                  <a:lnTo>
                    <a:pt x="355560" y="488649"/>
                  </a:lnTo>
                  <a:lnTo>
                    <a:pt x="458247" y="382986"/>
                  </a:lnTo>
                  <a:lnTo>
                    <a:pt x="571237" y="288420"/>
                  </a:lnTo>
                  <a:lnTo>
                    <a:pt x="693336" y="205951"/>
                  </a:lnTo>
                  <a:lnTo>
                    <a:pt x="823254" y="136448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4815645" y="2756259"/>
              <a:ext cx="58976" cy="37428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200120" y="2650801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 18%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930975" y="2403828"/>
              <a:ext cx="2329744" cy="2329744"/>
            </a:xfrm>
            <a:custGeom>
              <a:avLst/>
              <a:gdLst/>
              <a:ahLst/>
              <a:cxnLst/>
              <a:rect l="l" t="t" r="r" b="b"/>
              <a:pathLst>
                <a:path w="2329744" h="2329744">
                  <a:moveTo>
                    <a:pt x="668894" y="110864"/>
                  </a:moveTo>
                  <a:lnTo>
                    <a:pt x="763407" y="71367"/>
                  </a:lnTo>
                  <a:lnTo>
                    <a:pt x="861025" y="40326"/>
                  </a:lnTo>
                  <a:lnTo>
                    <a:pt x="960993" y="17981"/>
                  </a:lnTo>
                  <a:lnTo>
                    <a:pt x="1062537" y="4504"/>
                  </a:lnTo>
                  <a:lnTo>
                    <a:pt x="1164872" y="0"/>
                  </a:lnTo>
                  <a:lnTo>
                    <a:pt x="1164872" y="1164872"/>
                  </a:lnTo>
                  <a:lnTo>
                    <a:pt x="1164872" y="1164872"/>
                  </a:lnTo>
                  <a:lnTo>
                    <a:pt x="1164872" y="1164872"/>
                  </a:lnTo>
                  <a:lnTo>
                    <a:pt x="1164872" y="1164872"/>
                  </a:lnTo>
                  <a:lnTo>
                    <a:pt x="1164872" y="1164872"/>
                  </a:lnTo>
                  <a:lnTo>
                    <a:pt x="1164872" y="1164872"/>
                  </a:lnTo>
                  <a:close/>
                </a:path>
              </a:pathLst>
            </a:cu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5823731" y="2351320"/>
              <a:ext cx="15237" cy="68168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220135" y="2237479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LatAm 7%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PowerChart" descr="heatmap. 5 data series: Rev, Cost, Head, NPS and 1 more. 5 categories: Rev, Cost, Head, NPS and 1 more."/>
          <p:cNvGrpSpPr/>
          <p:nvPr>
            <p:custDataLst>
              <p:tags r:id="rId3"/>
            </p:custDataLst>
          </p:nvPr>
        </p:nvGrpSpPr>
        <p:grpSpPr>
          <a:xfrm>
            <a:off x="3174848" y="1397000"/>
            <a:ext cx="5842000" cy="4032250"/>
            <a:chOff x="3174848" y="1397000"/>
            <a:chExt cx="5842000" cy="4032250"/>
          </a:xfrm>
        </p:grpSpPr>
        <p:sp>
          <p:nvSpPr>
            <p:cNvPr id="2" name="Text 0"/>
            <p:cNvSpPr/>
            <p:nvPr/>
          </p:nvSpPr>
          <p:spPr>
            <a:xfrm>
              <a:off x="3174848" y="1397000"/>
              <a:ext cx="584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Correlation matrix — size = magnitude, +/− marks the direction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619348" y="1676400"/>
              <a:ext cx="10744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693768" y="1676400"/>
              <a:ext cx="10744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768188" y="1676400"/>
              <a:ext cx="10744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Head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842608" y="1676400"/>
              <a:ext cx="10744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NPS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917028" y="1676400"/>
              <a:ext cx="10744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Churn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174848" y="1866900"/>
              <a:ext cx="393700" cy="6426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835248" y="1866900"/>
              <a:ext cx="629920" cy="6299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3961232" y="1992884"/>
              <a:ext cx="377952" cy="377952"/>
            </a:xfrm>
            <a:prstGeom prst="plus">
              <a:avLst/>
            </a:prstGeom>
            <a:solidFill>
              <a:srgbClr val="FFFFFF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4942919" y="1900151"/>
              <a:ext cx="563418" cy="563418"/>
            </a:xfrm>
            <a:prstGeom prst="rect">
              <a:avLst/>
            </a:prstGeom>
            <a:solidFill>
              <a:srgbClr val="81A0DF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5055602" y="2012835"/>
              <a:ext cx="338051" cy="338051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6055081" y="1937893"/>
              <a:ext cx="487934" cy="487934"/>
            </a:xfrm>
            <a:prstGeom prst="rect">
              <a:avLst/>
            </a:prstGeom>
            <a:solidFill>
              <a:srgbClr val="ACBEE8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6152667" y="2035480"/>
              <a:ext cx="292760" cy="292760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7150757" y="1959150"/>
              <a:ext cx="445421" cy="445421"/>
            </a:xfrm>
            <a:prstGeom prst="rect">
              <a:avLst/>
            </a:prstGeom>
            <a:solidFill>
              <a:srgbClr val="BDCBEC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7239841" y="2048234"/>
              <a:ext cx="267252" cy="267252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8184373" y="1918346"/>
              <a:ext cx="527029" cy="527029"/>
            </a:xfrm>
            <a:prstGeom prst="rect">
              <a:avLst/>
            </a:prstGeom>
            <a:solidFill>
              <a:srgbClr val="EC9F9F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8289779" y="2102806"/>
              <a:ext cx="316217" cy="158109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3174848" y="2509520"/>
              <a:ext cx="393700" cy="6426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868499" y="2542771"/>
              <a:ext cx="563418" cy="563418"/>
            </a:xfrm>
            <a:prstGeom prst="rect">
              <a:avLst/>
            </a:prstGeom>
            <a:solidFill>
              <a:srgbClr val="81A0DF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3981182" y="2655455"/>
              <a:ext cx="338051" cy="338051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4909668" y="2509520"/>
              <a:ext cx="629920" cy="6299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5035652" y="2635504"/>
              <a:ext cx="377952" cy="377952"/>
            </a:xfrm>
            <a:prstGeom prst="plus">
              <a:avLst/>
            </a:prstGeom>
            <a:solidFill>
              <a:srgbClr val="FFFFFF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6035533" y="2560966"/>
              <a:ext cx="527029" cy="527029"/>
            </a:xfrm>
            <a:prstGeom prst="rect">
              <a:avLst/>
            </a:prstGeom>
            <a:solidFill>
              <a:srgbClr val="98B0E3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6140939" y="2666371"/>
              <a:ext cx="316217" cy="316217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7273869" y="2724881"/>
              <a:ext cx="199198" cy="199198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7313708" y="2764721"/>
              <a:ext cx="119519" cy="119519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8275377" y="2651969"/>
              <a:ext cx="345021" cy="345021"/>
            </a:xfrm>
            <a:prstGeom prst="rect">
              <a:avLst/>
            </a:prstGeom>
            <a:solidFill>
              <a:srgbClr val="F7DDDD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8344381" y="2772727"/>
              <a:ext cx="207013" cy="103506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3174848" y="3152140"/>
              <a:ext cx="393700" cy="6426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Head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906241" y="3223133"/>
              <a:ext cx="487934" cy="487934"/>
            </a:xfrm>
            <a:prstGeom prst="rect">
              <a:avLst/>
            </a:prstGeom>
            <a:solidFill>
              <a:srgbClr val="ACBEE8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4003827" y="3320720"/>
              <a:ext cx="292760" cy="292760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4961113" y="3203586"/>
              <a:ext cx="527029" cy="527029"/>
            </a:xfrm>
            <a:prstGeom prst="rect">
              <a:avLst/>
            </a:prstGeom>
            <a:solidFill>
              <a:srgbClr val="98B0E3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5066519" y="3308991"/>
              <a:ext cx="316217" cy="316217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5984088" y="3152140"/>
              <a:ext cx="629920" cy="6299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6110072" y="3278124"/>
              <a:ext cx="377952" cy="377952"/>
            </a:xfrm>
            <a:prstGeom prst="plus">
              <a:avLst/>
            </a:prstGeom>
            <a:solidFill>
              <a:srgbClr val="FFFFFF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7232613" y="3326246"/>
              <a:ext cx="281709" cy="281709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7288955" y="3382587"/>
              <a:ext cx="169025" cy="169025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8307033" y="3326246"/>
              <a:ext cx="281709" cy="281709"/>
            </a:xfrm>
            <a:prstGeom prst="rect">
              <a:avLst/>
            </a:prstGeom>
            <a:solidFill>
              <a:srgbClr val="FAE9E9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8363375" y="3424844"/>
              <a:ext cx="169025" cy="84513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41" name="Text 39"/>
            <p:cNvSpPr/>
            <p:nvPr/>
          </p:nvSpPr>
          <p:spPr>
            <a:xfrm>
              <a:off x="3174848" y="3794760"/>
              <a:ext cx="393700" cy="6426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NPS</a:t>
              </a:r>
              <a:endParaRPr lang="en-US" sz="10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3927497" y="3887010"/>
              <a:ext cx="445421" cy="445421"/>
            </a:xfrm>
            <a:prstGeom prst="rect">
              <a:avLst/>
            </a:prstGeom>
            <a:solidFill>
              <a:srgbClr val="BDCBEC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4016581" y="3976094"/>
              <a:ext cx="267252" cy="267252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5125029" y="4010121"/>
              <a:ext cx="199198" cy="199198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5164868" y="4049961"/>
              <a:ext cx="119519" cy="119519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6158193" y="3968866"/>
              <a:ext cx="281709" cy="281709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6214535" y="4025207"/>
              <a:ext cx="169025" cy="169025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7058508" y="3794760"/>
              <a:ext cx="629920" cy="6299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7184492" y="3920744"/>
              <a:ext cx="377952" cy="377952"/>
            </a:xfrm>
            <a:prstGeom prst="plus">
              <a:avLst/>
            </a:prstGeom>
            <a:solidFill>
              <a:srgbClr val="FFFFFF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8149090" y="3810923"/>
              <a:ext cx="597595" cy="597595"/>
            </a:xfrm>
            <a:prstGeom prst="rect">
              <a:avLst/>
            </a:prstGeom>
            <a:solidFill>
              <a:srgbClr val="E66F6F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8268609" y="4020081"/>
              <a:ext cx="358557" cy="179278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52" name="Text 50"/>
            <p:cNvSpPr/>
            <p:nvPr/>
          </p:nvSpPr>
          <p:spPr>
            <a:xfrm>
              <a:off x="3174848" y="4437380"/>
              <a:ext cx="393700" cy="6426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Churn</a:t>
              </a:r>
              <a:endParaRPr lang="en-US" sz="10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3886693" y="4488826"/>
              <a:ext cx="527029" cy="527029"/>
            </a:xfrm>
            <a:prstGeom prst="rect">
              <a:avLst/>
            </a:prstGeom>
            <a:solidFill>
              <a:srgbClr val="EC9F9F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3992099" y="4673286"/>
              <a:ext cx="316217" cy="158109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5052117" y="4579829"/>
              <a:ext cx="345021" cy="345021"/>
            </a:xfrm>
            <a:prstGeom prst="rect">
              <a:avLst/>
            </a:prstGeom>
            <a:solidFill>
              <a:srgbClr val="F7DDDD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5121121" y="4700587"/>
              <a:ext cx="207013" cy="103506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6158193" y="4611486"/>
              <a:ext cx="281709" cy="281709"/>
            </a:xfrm>
            <a:prstGeom prst="rect">
              <a:avLst/>
            </a:prstGeom>
            <a:solidFill>
              <a:srgbClr val="FAE9E9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6214535" y="4710084"/>
              <a:ext cx="169025" cy="84513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7074670" y="4453543"/>
              <a:ext cx="597595" cy="597595"/>
            </a:xfrm>
            <a:prstGeom prst="rect">
              <a:avLst/>
            </a:prstGeom>
            <a:solidFill>
              <a:srgbClr val="E66F6F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7194189" y="4662701"/>
              <a:ext cx="358557" cy="179278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8132928" y="4437380"/>
              <a:ext cx="629920" cy="6299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8258912" y="4563364"/>
              <a:ext cx="377952" cy="377952"/>
            </a:xfrm>
            <a:prstGeom prst="plus">
              <a:avLst/>
            </a:prstGeom>
            <a:solidFill>
              <a:srgbClr val="FFFFFF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3619348" y="5156200"/>
              <a:ext cx="80433" cy="114300"/>
            </a:xfrm>
            <a:prstGeom prst="rect">
              <a:avLst/>
            </a:prstGeom>
            <a:solidFill>
              <a:srgbClr val="E66F6F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3693431" y="5156200"/>
              <a:ext cx="80433" cy="114300"/>
            </a:xfrm>
            <a:prstGeom prst="rect">
              <a:avLst/>
            </a:prstGeom>
            <a:solidFill>
              <a:srgbClr val="E88685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3767514" y="5156200"/>
              <a:ext cx="80433" cy="114300"/>
            </a:xfrm>
            <a:prstGeom prst="rect">
              <a:avLst/>
            </a:prstGeom>
            <a:solidFill>
              <a:srgbClr val="EB9898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3841598" y="5156200"/>
              <a:ext cx="80433" cy="114300"/>
            </a:xfrm>
            <a:prstGeom prst="rect">
              <a:avLst/>
            </a:prstGeom>
            <a:solidFill>
              <a:srgbClr val="EDA8A8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3915681" y="5156200"/>
              <a:ext cx="80433" cy="114300"/>
            </a:xfrm>
            <a:prstGeom prst="rect">
              <a:avLst/>
            </a:prstGeom>
            <a:solidFill>
              <a:srgbClr val="F0B6B6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3989764" y="5156200"/>
              <a:ext cx="80433" cy="114300"/>
            </a:xfrm>
            <a:prstGeom prst="rect">
              <a:avLst/>
            </a:prstGeom>
            <a:solidFill>
              <a:srgbClr val="F2C3C3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4063848" y="5156200"/>
              <a:ext cx="80433" cy="114300"/>
            </a:xfrm>
            <a:prstGeom prst="rect">
              <a:avLst/>
            </a:prstGeom>
            <a:solidFill>
              <a:srgbClr val="F4CFCF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4137931" y="5156200"/>
              <a:ext cx="80433" cy="114300"/>
            </a:xfrm>
            <a:prstGeom prst="rect">
              <a:avLst/>
            </a:prstGeom>
            <a:solidFill>
              <a:srgbClr val="F6DADA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4212014" y="5156200"/>
              <a:ext cx="80433" cy="114300"/>
            </a:xfrm>
            <a:prstGeom prst="rect">
              <a:avLst/>
            </a:prstGeom>
            <a:solidFill>
              <a:srgbClr val="F9E4E4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4286098" y="5156200"/>
              <a:ext cx="80433" cy="114300"/>
            </a:xfrm>
            <a:prstGeom prst="rect">
              <a:avLst/>
            </a:prstGeom>
            <a:solidFill>
              <a:srgbClr val="FBEEEE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4360181" y="5156200"/>
              <a:ext cx="80433" cy="114300"/>
            </a:xfrm>
            <a:prstGeom prst="rect">
              <a:avLst/>
            </a:prstGeom>
            <a:solidFill>
              <a:srgbClr val="FDF7F7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4434264" y="5156200"/>
              <a:ext cx="80433" cy="114300"/>
            </a:xfrm>
            <a:prstGeom prst="rect">
              <a:avLst/>
            </a:prstGeom>
            <a:solidFill>
              <a:srgbClr val="FEFEFF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4508348" y="5156200"/>
              <a:ext cx="80433" cy="114300"/>
            </a:xfrm>
            <a:prstGeom prst="rect">
              <a:avLst/>
            </a:prstGeom>
            <a:solidFill>
              <a:srgbClr val="F5F7FC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4582431" y="5156200"/>
              <a:ext cx="80433" cy="114300"/>
            </a:xfrm>
            <a:prstGeom prst="rect">
              <a:avLst/>
            </a:prstGeom>
            <a:solidFill>
              <a:srgbClr val="EBEEF9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4656514" y="5156200"/>
              <a:ext cx="80433" cy="114300"/>
            </a:xfrm>
            <a:prstGeom prst="rect">
              <a:avLst/>
            </a:prstGeom>
            <a:solidFill>
              <a:srgbClr val="E1E6F5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4730598" y="5156200"/>
              <a:ext cx="80433" cy="114300"/>
            </a:xfrm>
            <a:prstGeom prst="rect">
              <a:avLst/>
            </a:prstGeom>
            <a:solidFill>
              <a:srgbClr val="D5DDF2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4804681" y="5156200"/>
              <a:ext cx="80433" cy="114300"/>
            </a:xfrm>
            <a:prstGeom prst="rect">
              <a:avLst/>
            </a:prstGeom>
            <a:solidFill>
              <a:srgbClr val="CAD4EF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4878764" y="5156200"/>
              <a:ext cx="80433" cy="114300"/>
            </a:xfrm>
            <a:prstGeom prst="rect">
              <a:avLst/>
            </a:prstGeom>
            <a:solidFill>
              <a:srgbClr val="BDCAEC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4952848" y="5156200"/>
              <a:ext cx="80433" cy="114300"/>
            </a:xfrm>
            <a:prstGeom prst="rect">
              <a:avLst/>
            </a:prstGeom>
            <a:solidFill>
              <a:srgbClr val="AFBFE8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5026931" y="5156200"/>
              <a:ext cx="80433" cy="114300"/>
            </a:xfrm>
            <a:prstGeom prst="rect">
              <a:avLst/>
            </a:prstGeom>
            <a:solidFill>
              <a:srgbClr val="9FB4E5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5101014" y="5156200"/>
              <a:ext cx="80433" cy="114300"/>
            </a:xfrm>
            <a:prstGeom prst="rect">
              <a:avLst/>
            </a:prstGeom>
            <a:solidFill>
              <a:srgbClr val="8DA8E1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5175098" y="5156200"/>
              <a:ext cx="80433" cy="114300"/>
            </a:xfrm>
            <a:prstGeom prst="rect">
              <a:avLst/>
            </a:prstGeom>
            <a:solidFill>
              <a:srgbClr val="779ADD"/>
            </a:solidFill>
            <a:ln/>
          </p:spPr>
        </p:sp>
        <p:sp>
          <p:nvSpPr>
            <p:cNvPr id="85" name="Shape 83"/>
            <p:cNvSpPr/>
            <p:nvPr/>
          </p:nvSpPr>
          <p:spPr>
            <a:xfrm>
              <a:off x="5249181" y="5156200"/>
              <a:ext cx="80433" cy="114300"/>
            </a:xfrm>
            <a:prstGeom prst="rect">
              <a:avLst/>
            </a:prstGeom>
            <a:solidFill>
              <a:srgbClr val="5B8ADA"/>
            </a:solidFill>
            <a:ln/>
          </p:spPr>
        </p:sp>
        <p:sp>
          <p:nvSpPr>
            <p:cNvPr id="86" name="Shape 84"/>
            <p:cNvSpPr/>
            <p:nvPr/>
          </p:nvSpPr>
          <p:spPr>
            <a:xfrm>
              <a:off x="5323264" y="5156200"/>
              <a:ext cx="80433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7" name="Text 85"/>
            <p:cNvSpPr/>
            <p:nvPr/>
          </p:nvSpPr>
          <p:spPr>
            <a:xfrm>
              <a:off x="3619348" y="5276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-0.9</a:t>
              </a:r>
              <a:endParaRPr lang="en-US" sz="850" dirty="0"/>
            </a:p>
          </p:txBody>
        </p:sp>
        <p:sp>
          <p:nvSpPr>
            <p:cNvPr id="88" name="Text 86"/>
            <p:cNvSpPr/>
            <p:nvPr/>
          </p:nvSpPr>
          <p:spPr>
            <a:xfrm>
              <a:off x="4508348" y="5276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1.0</a:t>
              </a:r>
              <a:endParaRPr lang="en-US" sz="850" dirty="0"/>
            </a:p>
          </p:txBody>
        </p:sp>
        <p:sp>
          <p:nvSpPr>
            <p:cNvPr id="89" name="Text 87"/>
            <p:cNvSpPr/>
            <p:nvPr/>
          </p:nvSpPr>
          <p:spPr>
            <a:xfrm>
              <a:off x="4334558" y="5276850"/>
              <a:ext cx="254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PowerChart" descr="heatmap. 6 data series: North, South, East, West and 2 more. 4 categories: Q1, Q2, Q3, Q4."/>
          <p:cNvGrpSpPr/>
          <p:nvPr>
            <p:custDataLst>
              <p:tags r:id="rId3"/>
            </p:custDataLst>
          </p:nvPr>
        </p:nvGrpSpPr>
        <p:grpSpPr>
          <a:xfrm>
            <a:off x="2920848" y="1397000"/>
            <a:ext cx="6350000" cy="4032250"/>
            <a:chOff x="2920848" y="1397000"/>
            <a:chExt cx="6350000" cy="4032250"/>
          </a:xfrm>
        </p:grpSpPr>
        <p:sp>
          <p:nvSpPr>
            <p:cNvPr id="2" name="Text 0"/>
            <p:cNvSpPr/>
            <p:nvPr/>
          </p:nvSpPr>
          <p:spPr>
            <a:xfrm>
              <a:off x="2920848" y="1397000"/>
              <a:ext cx="6350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Region KPIs (rows clustered)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4010508" y="1676400"/>
              <a:ext cx="130873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5319243" y="1676400"/>
              <a:ext cx="130873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627978" y="1676400"/>
              <a:ext cx="130873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936713" y="1676400"/>
              <a:ext cx="130873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428848" y="1866900"/>
              <a:ext cx="530860" cy="535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010508" y="1866900"/>
              <a:ext cx="1296035" cy="522817"/>
            </a:xfrm>
            <a:prstGeom prst="rect">
              <a:avLst/>
            </a:prstGeom>
            <a:solidFill>
              <a:srgbClr val="7197DD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4010508" y="186690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78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319243" y="1866900"/>
              <a:ext cx="1296035" cy="522817"/>
            </a:xfrm>
            <a:prstGeom prst="rect">
              <a:avLst/>
            </a:prstGeom>
            <a:solidFill>
              <a:srgbClr val="6992DC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5319243" y="186690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627978" y="1866900"/>
              <a:ext cx="1296035" cy="522817"/>
            </a:xfrm>
            <a:prstGeom prst="rect">
              <a:avLst/>
            </a:prstGeom>
            <a:solidFill>
              <a:srgbClr val="5C8BDA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627978" y="186690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936713" y="1866900"/>
              <a:ext cx="1296035" cy="52281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7936713" y="186690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90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428848" y="2402417"/>
              <a:ext cx="530860" cy="535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010508" y="2402417"/>
              <a:ext cx="1296035" cy="522817"/>
            </a:xfrm>
            <a:prstGeom prst="rect">
              <a:avLst/>
            </a:prstGeom>
            <a:solidFill>
              <a:srgbClr val="6992DC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010508" y="240241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319243" y="2402417"/>
              <a:ext cx="1296035" cy="522817"/>
            </a:xfrm>
            <a:prstGeom prst="rect">
              <a:avLst/>
            </a:prstGeom>
            <a:solidFill>
              <a:srgbClr val="618DDB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5319243" y="240241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82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627978" y="2402417"/>
              <a:ext cx="1296035" cy="522817"/>
            </a:xfrm>
            <a:prstGeom prst="rect">
              <a:avLst/>
            </a:prstGeom>
            <a:solidFill>
              <a:srgbClr val="5186D9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6627978" y="240241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85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936713" y="2402417"/>
              <a:ext cx="1296035" cy="522817"/>
            </a:xfrm>
            <a:prstGeom prst="rect">
              <a:avLst/>
            </a:prstGeom>
            <a:solidFill>
              <a:srgbClr val="3D7ED7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7936713" y="240241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88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428848" y="2937933"/>
              <a:ext cx="530860" cy="535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Metro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010508" y="2937933"/>
              <a:ext cx="1296035" cy="522817"/>
            </a:xfrm>
            <a:prstGeom prst="rect">
              <a:avLst/>
            </a:prstGeom>
            <a:solidFill>
              <a:srgbClr val="6590DB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4010508" y="293793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81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5319243" y="2937933"/>
              <a:ext cx="1296035" cy="522817"/>
            </a:xfrm>
            <a:prstGeom prst="rect">
              <a:avLst/>
            </a:prstGeom>
            <a:solidFill>
              <a:srgbClr val="6D94DC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5319243" y="293793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79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627978" y="2937933"/>
              <a:ext cx="1296035" cy="522817"/>
            </a:xfrm>
            <a:prstGeom prst="rect">
              <a:avLst/>
            </a:prstGeom>
            <a:solidFill>
              <a:srgbClr val="4B83D8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6627978" y="293793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86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936713" y="2937933"/>
              <a:ext cx="1296035" cy="522817"/>
            </a:xfrm>
            <a:prstGeom prst="rect">
              <a:avLst/>
            </a:prstGeom>
            <a:solidFill>
              <a:srgbClr val="4581D8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7936713" y="293793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87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3428848" y="3473450"/>
              <a:ext cx="530860" cy="535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Central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010508" y="3473450"/>
              <a:ext cx="1296035" cy="522817"/>
            </a:xfrm>
            <a:prstGeom prst="rect">
              <a:avLst/>
            </a:prstGeom>
            <a:solidFill>
              <a:srgbClr val="BBC9EC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4010508" y="347345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5319243" y="3473450"/>
              <a:ext cx="1296035" cy="522817"/>
            </a:xfrm>
            <a:prstGeom prst="rect">
              <a:avLst/>
            </a:prstGeom>
            <a:solidFill>
              <a:srgbClr val="B7C6EA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5319243" y="347345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6627978" y="3473450"/>
              <a:ext cx="1296035" cy="522817"/>
            </a:xfrm>
            <a:prstGeom prst="rect">
              <a:avLst/>
            </a:prstGeom>
            <a:solidFill>
              <a:srgbClr val="BFCCED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6627978" y="347345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7936713" y="3473450"/>
              <a:ext cx="1296035" cy="522817"/>
            </a:xfrm>
            <a:prstGeom prst="rect">
              <a:avLst/>
            </a:prstGeom>
            <a:solidFill>
              <a:srgbClr val="B1C1E9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7936713" y="347345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3428848" y="4008967"/>
              <a:ext cx="530860" cy="535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4010508" y="4008967"/>
              <a:ext cx="1296035" cy="522817"/>
            </a:xfrm>
            <a:prstGeom prst="rect">
              <a:avLst/>
            </a:prstGeom>
            <a:solidFill>
              <a:srgbClr val="EEF2FA"/>
            </a:solidFill>
            <a:ln/>
          </p:spPr>
        </p:sp>
        <p:sp>
          <p:nvSpPr>
            <p:cNvPr id="45" name="Text 43"/>
            <p:cNvSpPr/>
            <p:nvPr/>
          </p:nvSpPr>
          <p:spPr>
            <a:xfrm>
              <a:off x="4010508" y="400896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10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5319243" y="4008967"/>
              <a:ext cx="1296035" cy="522817"/>
            </a:xfrm>
            <a:prstGeom prst="rect">
              <a:avLst/>
            </a:prstGeom>
            <a:solidFill>
              <a:srgbClr val="EBEFF9"/>
            </a:solidFill>
            <a:ln/>
          </p:spPr>
        </p:sp>
        <p:sp>
          <p:nvSpPr>
            <p:cNvPr id="47" name="Text 45"/>
            <p:cNvSpPr/>
            <p:nvPr/>
          </p:nvSpPr>
          <p:spPr>
            <a:xfrm>
              <a:off x="5319243" y="400896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6627978" y="4008967"/>
              <a:ext cx="1296035" cy="522817"/>
            </a:xfrm>
            <a:prstGeom prst="rect">
              <a:avLst/>
            </a:prstGeom>
            <a:solidFill>
              <a:srgbClr val="F0F3FB"/>
            </a:solidFill>
            <a:ln/>
          </p:spPr>
        </p:sp>
        <p:sp>
          <p:nvSpPr>
            <p:cNvPr id="49" name="Text 47"/>
            <p:cNvSpPr/>
            <p:nvPr/>
          </p:nvSpPr>
          <p:spPr>
            <a:xfrm>
              <a:off x="6627978" y="400896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7936713" y="4008967"/>
              <a:ext cx="1296035" cy="522817"/>
            </a:xfrm>
            <a:prstGeom prst="rect">
              <a:avLst/>
            </a:prstGeom>
            <a:solidFill>
              <a:srgbClr val="E7ECF8"/>
            </a:solidFill>
            <a:ln/>
          </p:spPr>
        </p:sp>
        <p:sp>
          <p:nvSpPr>
            <p:cNvPr id="51" name="Text 49"/>
            <p:cNvSpPr/>
            <p:nvPr/>
          </p:nvSpPr>
          <p:spPr>
            <a:xfrm>
              <a:off x="7936713" y="400896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10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3428848" y="4544483"/>
              <a:ext cx="530860" cy="535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West</a:t>
              </a:r>
              <a:endParaRPr lang="en-US" sz="10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4010508" y="4544483"/>
              <a:ext cx="1296035" cy="522817"/>
            </a:xfrm>
            <a:prstGeom prst="rect">
              <a:avLst/>
            </a:prstGeom>
            <a:solidFill>
              <a:srgbClr val="EBEFF9"/>
            </a:solidFill>
            <a:ln/>
          </p:spPr>
        </p:sp>
        <p:sp>
          <p:nvSpPr>
            <p:cNvPr id="54" name="Text 52"/>
            <p:cNvSpPr/>
            <p:nvPr/>
          </p:nvSpPr>
          <p:spPr>
            <a:xfrm>
              <a:off x="4010508" y="454448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5319243" y="4544483"/>
              <a:ext cx="1296035" cy="522817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56" name="Text 54"/>
            <p:cNvSpPr/>
            <p:nvPr/>
          </p:nvSpPr>
          <p:spPr>
            <a:xfrm>
              <a:off x="5319243" y="454448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6627978" y="4544483"/>
              <a:ext cx="1296035" cy="522817"/>
            </a:xfrm>
            <a:prstGeom prst="rect">
              <a:avLst/>
            </a:prstGeom>
            <a:solidFill>
              <a:srgbClr val="E8EDF8"/>
            </a:solidFill>
            <a:ln/>
          </p:spPr>
        </p:sp>
        <p:sp>
          <p:nvSpPr>
            <p:cNvPr id="58" name="Text 56"/>
            <p:cNvSpPr/>
            <p:nvPr/>
          </p:nvSpPr>
          <p:spPr>
            <a:xfrm>
              <a:off x="6627978" y="454448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24</a:t>
              </a:r>
              <a:endParaRPr lang="en-US" sz="100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7936713" y="4544483"/>
              <a:ext cx="1296035" cy="522817"/>
            </a:xfrm>
            <a:prstGeom prst="rect">
              <a:avLst/>
            </a:prstGeom>
            <a:solidFill>
              <a:srgbClr val="EDF0FA"/>
            </a:solidFill>
            <a:ln/>
          </p:spPr>
        </p:sp>
        <p:sp>
          <p:nvSpPr>
            <p:cNvPr id="60" name="Text 58"/>
            <p:cNvSpPr/>
            <p:nvPr/>
          </p:nvSpPr>
          <p:spPr>
            <a:xfrm>
              <a:off x="7936713" y="454448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21</a:t>
              </a:r>
              <a:endParaRPr lang="en-US" sz="10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4010508" y="5156200"/>
              <a:ext cx="80433" cy="1143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4084591" y="5156200"/>
              <a:ext cx="80433" cy="114300"/>
            </a:xfrm>
            <a:prstGeom prst="rect">
              <a:avLst/>
            </a:prstGeom>
            <a:solidFill>
              <a:srgbClr val="ECF0FA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4158674" y="5156200"/>
              <a:ext cx="80433" cy="114300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4232758" y="5156200"/>
              <a:ext cx="80433" cy="114300"/>
            </a:xfrm>
            <a:prstGeom prst="rect">
              <a:avLst/>
            </a:prstGeom>
            <a:solidFill>
              <a:srgbClr val="E3E9F7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4306841" y="5156200"/>
              <a:ext cx="80433" cy="114300"/>
            </a:xfrm>
            <a:prstGeom prst="rect">
              <a:avLst/>
            </a:prstGeom>
            <a:solidFill>
              <a:srgbClr val="DEE5F5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4380924" y="5156200"/>
              <a:ext cx="80433" cy="114300"/>
            </a:xfrm>
            <a:prstGeom prst="rect">
              <a:avLst/>
            </a:prstGeom>
            <a:solidFill>
              <a:srgbClr val="D9E0F4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4455008" y="5156200"/>
              <a:ext cx="80433" cy="114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4529091" y="5156200"/>
              <a:ext cx="80433" cy="114300"/>
            </a:xfrm>
            <a:prstGeom prst="rect">
              <a:avLst/>
            </a:prstGeom>
            <a:solidFill>
              <a:srgbClr val="CED8F1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4603174" y="5156200"/>
              <a:ext cx="80433" cy="114300"/>
            </a:xfrm>
            <a:prstGeom prst="rect">
              <a:avLst/>
            </a:prstGeom>
            <a:solidFill>
              <a:srgbClr val="C9D4EF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4677258" y="5156200"/>
              <a:ext cx="80433" cy="114300"/>
            </a:xfrm>
            <a:prstGeom prst="rect">
              <a:avLst/>
            </a:prstGeom>
            <a:solidFill>
              <a:srgbClr val="C3CFED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4751341" y="5156200"/>
              <a:ext cx="80433" cy="114300"/>
            </a:xfrm>
            <a:prstGeom prst="rect">
              <a:avLst/>
            </a:prstGeom>
            <a:solidFill>
              <a:srgbClr val="BDCAEC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4825424" y="5156200"/>
              <a:ext cx="80433" cy="114300"/>
            </a:xfrm>
            <a:prstGeom prst="rect">
              <a:avLst/>
            </a:prstGeom>
            <a:solidFill>
              <a:srgbClr val="B6C6EA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4899508" y="5156200"/>
              <a:ext cx="80433" cy="114300"/>
            </a:xfrm>
            <a:prstGeom prst="rect">
              <a:avLst/>
            </a:prstGeom>
            <a:solidFill>
              <a:srgbClr val="B0C1E9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4973591" y="5156200"/>
              <a:ext cx="80433" cy="114300"/>
            </a:xfrm>
            <a:prstGeom prst="rect">
              <a:avLst/>
            </a:prstGeom>
            <a:solidFill>
              <a:srgbClr val="A9BBE7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5047674" y="5156200"/>
              <a:ext cx="80433" cy="114300"/>
            </a:xfrm>
            <a:prstGeom prst="rect">
              <a:avLst/>
            </a:prstGeom>
            <a:solidFill>
              <a:srgbClr val="A1B6E5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5121758" y="5156200"/>
              <a:ext cx="80433" cy="114300"/>
            </a:xfrm>
            <a:prstGeom prst="rect">
              <a:avLst/>
            </a:prstGeom>
            <a:solidFill>
              <a:srgbClr val="9AB1E4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5195841" y="5156200"/>
              <a:ext cx="80433" cy="114300"/>
            </a:xfrm>
            <a:prstGeom prst="rect">
              <a:avLst/>
            </a:prstGeom>
            <a:solidFill>
              <a:srgbClr val="91ABE2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5269924" y="5156200"/>
              <a:ext cx="80433" cy="114300"/>
            </a:xfrm>
            <a:prstGeom prst="rect">
              <a:avLst/>
            </a:prstGeom>
            <a:solidFill>
              <a:srgbClr val="88A5E0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5344008" y="5156200"/>
              <a:ext cx="80433" cy="114300"/>
            </a:xfrm>
            <a:prstGeom prst="rect">
              <a:avLst/>
            </a:prstGeom>
            <a:solidFill>
              <a:srgbClr val="7E9EDF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5418091" y="5156200"/>
              <a:ext cx="80433" cy="114300"/>
            </a:xfrm>
            <a:prstGeom prst="rect">
              <a:avLst/>
            </a:prstGeom>
            <a:solidFill>
              <a:srgbClr val="7398DD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5492174" y="5156200"/>
              <a:ext cx="80433" cy="114300"/>
            </a:xfrm>
            <a:prstGeom prst="rect">
              <a:avLst/>
            </a:prstGeom>
            <a:solidFill>
              <a:srgbClr val="6791DB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5566258" y="5156200"/>
              <a:ext cx="80433" cy="114300"/>
            </a:xfrm>
            <a:prstGeom prst="rect">
              <a:avLst/>
            </a:prstGeom>
            <a:solidFill>
              <a:srgbClr val="5889DA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5640341" y="5156200"/>
              <a:ext cx="80433" cy="114300"/>
            </a:xfrm>
            <a:prstGeom prst="rect">
              <a:avLst/>
            </a:prstGeom>
            <a:solidFill>
              <a:srgbClr val="4681D8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5714424" y="5156200"/>
              <a:ext cx="80433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5" name="Text 83"/>
            <p:cNvSpPr/>
            <p:nvPr/>
          </p:nvSpPr>
          <p:spPr>
            <a:xfrm>
              <a:off x="4010508" y="5276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850" dirty="0"/>
            </a:p>
          </p:txBody>
        </p:sp>
        <p:sp>
          <p:nvSpPr>
            <p:cNvPr id="86" name="Text 84"/>
            <p:cNvSpPr/>
            <p:nvPr/>
          </p:nvSpPr>
          <p:spPr>
            <a:xfrm>
              <a:off x="4899508" y="5276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90</a:t>
              </a:r>
              <a:endParaRPr lang="en-US" sz="850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3375954" y="2670175"/>
              <a:ext cx="14794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88" name="Shape 86"/>
            <p:cNvSpPr/>
            <p:nvPr/>
          </p:nvSpPr>
          <p:spPr>
            <a:xfrm>
              <a:off x="3375954" y="3205692"/>
              <a:ext cx="14794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89" name="Shape 87"/>
            <p:cNvSpPr/>
            <p:nvPr/>
          </p:nvSpPr>
          <p:spPr>
            <a:xfrm>
              <a:off x="3375954" y="2670175"/>
              <a:ext cx="0" cy="535517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0" name="Shape 88"/>
            <p:cNvSpPr/>
            <p:nvPr/>
          </p:nvSpPr>
          <p:spPr>
            <a:xfrm>
              <a:off x="3370908" y="2134658"/>
              <a:ext cx="1984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1" name="Shape 89"/>
            <p:cNvSpPr/>
            <p:nvPr/>
          </p:nvSpPr>
          <p:spPr>
            <a:xfrm>
              <a:off x="3370908" y="2937933"/>
              <a:ext cx="5046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2" name="Shape 90"/>
            <p:cNvSpPr/>
            <p:nvPr/>
          </p:nvSpPr>
          <p:spPr>
            <a:xfrm>
              <a:off x="3370908" y="2134658"/>
              <a:ext cx="0" cy="803275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3" name="Shape 91"/>
            <p:cNvSpPr/>
            <p:nvPr/>
          </p:nvSpPr>
          <p:spPr>
            <a:xfrm>
              <a:off x="3357394" y="4276725"/>
              <a:ext cx="33354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4" name="Shape 92"/>
            <p:cNvSpPr/>
            <p:nvPr/>
          </p:nvSpPr>
          <p:spPr>
            <a:xfrm>
              <a:off x="3357394" y="4812242"/>
              <a:ext cx="33354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5" name="Shape 93"/>
            <p:cNvSpPr/>
            <p:nvPr/>
          </p:nvSpPr>
          <p:spPr>
            <a:xfrm>
              <a:off x="3357394" y="4276725"/>
              <a:ext cx="0" cy="535517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6" name="Shape 94"/>
            <p:cNvSpPr/>
            <p:nvPr/>
          </p:nvSpPr>
          <p:spPr>
            <a:xfrm>
              <a:off x="3134294" y="3741208"/>
              <a:ext cx="256454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7" name="Shape 95"/>
            <p:cNvSpPr/>
            <p:nvPr/>
          </p:nvSpPr>
          <p:spPr>
            <a:xfrm>
              <a:off x="3134294" y="4544483"/>
              <a:ext cx="22310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8" name="Shape 96"/>
            <p:cNvSpPr/>
            <p:nvPr/>
          </p:nvSpPr>
          <p:spPr>
            <a:xfrm>
              <a:off x="3134294" y="3741208"/>
              <a:ext cx="0" cy="803275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9" name="Shape 97"/>
            <p:cNvSpPr/>
            <p:nvPr/>
          </p:nvSpPr>
          <p:spPr>
            <a:xfrm>
              <a:off x="2946248" y="2536296"/>
              <a:ext cx="42466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00" name="Shape 98"/>
            <p:cNvSpPr/>
            <p:nvPr/>
          </p:nvSpPr>
          <p:spPr>
            <a:xfrm>
              <a:off x="2946248" y="4142846"/>
              <a:ext cx="188046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01" name="Shape 99"/>
            <p:cNvSpPr/>
            <p:nvPr/>
          </p:nvSpPr>
          <p:spPr>
            <a:xfrm>
              <a:off x="2946248" y="2536296"/>
              <a:ext cx="0" cy="160655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</p:grp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PowerChart" descr="combination chart. 4 data series: Cloud, Licenses, Services, Margin %. 6 categories: Jan, Feb, Mar, Apr and 2 more."/>
          <p:cNvGrpSpPr/>
          <p:nvPr>
            <p:custDataLst>
              <p:tags r:id="rId3"/>
            </p:custDataLst>
          </p:nvPr>
        </p:nvGrpSpPr>
        <p:grpSpPr>
          <a:xfrm>
            <a:off x="2793848" y="1397000"/>
            <a:ext cx="6604000" cy="4051300"/>
            <a:chOff x="2793848" y="1397000"/>
            <a:chExt cx="6604000" cy="4051300"/>
          </a:xfrm>
        </p:grpSpPr>
        <p:sp>
          <p:nvSpPr>
            <p:cNvPr id="2" name="Text 0"/>
            <p:cNvSpPr/>
            <p:nvPr/>
          </p:nvSpPr>
          <p:spPr>
            <a:xfrm>
              <a:off x="2793848" y="1397000"/>
              <a:ext cx="6604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Revenue mix (stacked area) + margin %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2819248" y="5270500"/>
              <a:ext cx="9711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790374" y="5270500"/>
              <a:ext cx="9711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761501" y="5270500"/>
              <a:ext cx="9711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732628" y="5270500"/>
              <a:ext cx="9711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Apr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703754" y="5270500"/>
              <a:ext cx="9711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May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674881" y="5270500"/>
              <a:ext cx="9711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Jun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304811" y="4356463"/>
              <a:ext cx="145082" cy="87593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3443543" y="4331789"/>
              <a:ext cx="145082" cy="90061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3582276" y="4307114"/>
              <a:ext cx="145082" cy="92528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3721008" y="4282440"/>
              <a:ext cx="145082" cy="94996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3859740" y="4257766"/>
              <a:ext cx="145082" cy="97463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3998473" y="4233091"/>
              <a:ext cx="145082" cy="99930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4137205" y="4208417"/>
              <a:ext cx="145082" cy="102398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4275938" y="4183743"/>
              <a:ext cx="145082" cy="104865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4414670" y="4159069"/>
              <a:ext cx="145082" cy="107333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4553402" y="4134394"/>
              <a:ext cx="145082" cy="109800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4692135" y="4109720"/>
              <a:ext cx="145082" cy="112268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4830867" y="4085046"/>
              <a:ext cx="145082" cy="114735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4969600" y="4060371"/>
              <a:ext cx="145082" cy="117202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5108332" y="4035697"/>
              <a:ext cx="145082" cy="119670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5247064" y="4012565"/>
              <a:ext cx="249132" cy="121983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5489846" y="3990975"/>
              <a:ext cx="249132" cy="124142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5732628" y="3969385"/>
              <a:ext cx="249132" cy="126301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5975409" y="3947795"/>
              <a:ext cx="249132" cy="128460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6218191" y="3925006"/>
              <a:ext cx="114253" cy="13073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6326094" y="3901017"/>
              <a:ext cx="114253" cy="133138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6433997" y="3877028"/>
              <a:ext cx="114253" cy="135537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6541900" y="3853039"/>
              <a:ext cx="114253" cy="137936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6649803" y="3829050"/>
              <a:ext cx="114253" cy="140335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6757706" y="3805061"/>
              <a:ext cx="114253" cy="142733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6865609" y="3781072"/>
              <a:ext cx="114253" cy="145132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6973512" y="3757083"/>
              <a:ext cx="114253" cy="147531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7081415" y="3733094"/>
              <a:ext cx="114253" cy="149930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7189318" y="3709106"/>
              <a:ext cx="114253" cy="15232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7297221" y="3685117"/>
              <a:ext cx="114253" cy="154728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7405124" y="3661128"/>
              <a:ext cx="114253" cy="157127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7513026" y="3637139"/>
              <a:ext cx="114253" cy="159526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7620929" y="3613150"/>
              <a:ext cx="114253" cy="161925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7728832" y="3589161"/>
              <a:ext cx="114253" cy="164323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7836735" y="3565172"/>
              <a:ext cx="114253" cy="166722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7944638" y="3541183"/>
              <a:ext cx="114253" cy="169121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8052541" y="3517194"/>
              <a:ext cx="114253" cy="171520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3304811" y="3711847"/>
              <a:ext cx="145082" cy="64461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3443543" y="3693341"/>
              <a:ext cx="145082" cy="63844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3582276" y="3674836"/>
              <a:ext cx="145082" cy="63227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3721008" y="3656330"/>
              <a:ext cx="145082" cy="62611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3859740" y="3637824"/>
              <a:ext cx="145082" cy="61994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3998473" y="3619319"/>
              <a:ext cx="145082" cy="61377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4137205" y="3600813"/>
              <a:ext cx="145082" cy="60760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4275938" y="3579784"/>
              <a:ext cx="94634" cy="60844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4364222" y="3556231"/>
              <a:ext cx="94634" cy="61629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4452506" y="3532678"/>
              <a:ext cx="94634" cy="62414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4540790" y="3509125"/>
              <a:ext cx="94634" cy="63199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4629075" y="3485573"/>
              <a:ext cx="94634" cy="63984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4717359" y="3462020"/>
              <a:ext cx="94634" cy="6477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4805643" y="3438467"/>
              <a:ext cx="94634" cy="65555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4893927" y="3414915"/>
              <a:ext cx="94634" cy="66340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4982212" y="3391362"/>
              <a:ext cx="94634" cy="67125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5070496" y="3367809"/>
              <a:ext cx="94634" cy="67910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5158780" y="3344256"/>
              <a:ext cx="94634" cy="68695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5247064" y="3327082"/>
              <a:ext cx="249132" cy="68548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5489846" y="3316287"/>
              <a:ext cx="249132" cy="67468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5732628" y="3305492"/>
              <a:ext cx="249132" cy="6638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5975409" y="3294698"/>
              <a:ext cx="249132" cy="65309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6218191" y="3276706"/>
              <a:ext cx="87277" cy="65129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6299118" y="3251518"/>
              <a:ext cx="87277" cy="65849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6380045" y="3226329"/>
              <a:ext cx="87277" cy="66569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6460973" y="3201141"/>
              <a:ext cx="87277" cy="67288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6541900" y="3175952"/>
              <a:ext cx="87277" cy="68008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6622827" y="3150764"/>
              <a:ext cx="87277" cy="68728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6703754" y="3125576"/>
              <a:ext cx="87277" cy="69447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6784681" y="3100388"/>
              <a:ext cx="87277" cy="70167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6865609" y="3075199"/>
              <a:ext cx="87277" cy="70887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6946536" y="3050011"/>
              <a:ext cx="87277" cy="71606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7027463" y="3024822"/>
              <a:ext cx="87277" cy="72326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7108390" y="2999634"/>
              <a:ext cx="87277" cy="73046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7189318" y="2975264"/>
              <a:ext cx="94634" cy="73602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7277602" y="2951711"/>
              <a:ext cx="94634" cy="73994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7365886" y="2928158"/>
              <a:ext cx="94634" cy="74387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7454170" y="2904605"/>
              <a:ext cx="94634" cy="74779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7542455" y="2881053"/>
              <a:ext cx="94634" cy="75172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7630739" y="2857500"/>
              <a:ext cx="94634" cy="75565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5" name="Shape 83"/>
            <p:cNvSpPr/>
            <p:nvPr/>
          </p:nvSpPr>
          <p:spPr>
            <a:xfrm>
              <a:off x="7719023" y="2833947"/>
              <a:ext cx="94634" cy="75957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6" name="Shape 84"/>
            <p:cNvSpPr/>
            <p:nvPr/>
          </p:nvSpPr>
          <p:spPr>
            <a:xfrm>
              <a:off x="7807307" y="2810395"/>
              <a:ext cx="94634" cy="76350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7" name="Shape 85"/>
            <p:cNvSpPr/>
            <p:nvPr/>
          </p:nvSpPr>
          <p:spPr>
            <a:xfrm>
              <a:off x="7895592" y="2786842"/>
              <a:ext cx="94634" cy="76742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8" name="Shape 86"/>
            <p:cNvSpPr/>
            <p:nvPr/>
          </p:nvSpPr>
          <p:spPr>
            <a:xfrm>
              <a:off x="7983876" y="2763289"/>
              <a:ext cx="94634" cy="77135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9" name="Shape 87"/>
            <p:cNvSpPr/>
            <p:nvPr/>
          </p:nvSpPr>
          <p:spPr>
            <a:xfrm>
              <a:off x="8072160" y="2739736"/>
              <a:ext cx="94634" cy="77527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0" name="Shape 88"/>
            <p:cNvSpPr/>
            <p:nvPr/>
          </p:nvSpPr>
          <p:spPr>
            <a:xfrm>
              <a:off x="3304811" y="3276963"/>
              <a:ext cx="145082" cy="43488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1" name="Shape 89"/>
            <p:cNvSpPr/>
            <p:nvPr/>
          </p:nvSpPr>
          <p:spPr>
            <a:xfrm>
              <a:off x="3443543" y="3252289"/>
              <a:ext cx="145082" cy="44105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2" name="Shape 90"/>
            <p:cNvSpPr/>
            <p:nvPr/>
          </p:nvSpPr>
          <p:spPr>
            <a:xfrm>
              <a:off x="3582276" y="3227614"/>
              <a:ext cx="145082" cy="44722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3" name="Shape 91"/>
            <p:cNvSpPr/>
            <p:nvPr/>
          </p:nvSpPr>
          <p:spPr>
            <a:xfrm>
              <a:off x="3721008" y="3202940"/>
              <a:ext cx="145082" cy="45339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4" name="Shape 92"/>
            <p:cNvSpPr/>
            <p:nvPr/>
          </p:nvSpPr>
          <p:spPr>
            <a:xfrm>
              <a:off x="3859740" y="3178266"/>
              <a:ext cx="145082" cy="45955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5" name="Shape 93"/>
            <p:cNvSpPr/>
            <p:nvPr/>
          </p:nvSpPr>
          <p:spPr>
            <a:xfrm>
              <a:off x="3998473" y="3153591"/>
              <a:ext cx="145082" cy="46572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6" name="Shape 94"/>
            <p:cNvSpPr/>
            <p:nvPr/>
          </p:nvSpPr>
          <p:spPr>
            <a:xfrm>
              <a:off x="4137205" y="3128917"/>
              <a:ext cx="145082" cy="471896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7" name="Shape 95"/>
            <p:cNvSpPr/>
            <p:nvPr/>
          </p:nvSpPr>
          <p:spPr>
            <a:xfrm>
              <a:off x="4275938" y="3103986"/>
              <a:ext cx="87277" cy="47677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8" name="Shape 96"/>
            <p:cNvSpPr/>
            <p:nvPr/>
          </p:nvSpPr>
          <p:spPr>
            <a:xfrm>
              <a:off x="4356865" y="3078798"/>
              <a:ext cx="87277" cy="480378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4437792" y="3053609"/>
              <a:ext cx="87277" cy="483976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0" name="Shape 98"/>
            <p:cNvSpPr/>
            <p:nvPr/>
          </p:nvSpPr>
          <p:spPr>
            <a:xfrm>
              <a:off x="4518719" y="3028421"/>
              <a:ext cx="87277" cy="48757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1" name="Shape 99"/>
            <p:cNvSpPr/>
            <p:nvPr/>
          </p:nvSpPr>
          <p:spPr>
            <a:xfrm>
              <a:off x="4599646" y="3003233"/>
              <a:ext cx="87277" cy="49117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2" name="Shape 100"/>
            <p:cNvSpPr/>
            <p:nvPr/>
          </p:nvSpPr>
          <p:spPr>
            <a:xfrm>
              <a:off x="4680574" y="2978044"/>
              <a:ext cx="87277" cy="49477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3" name="Shape 101"/>
            <p:cNvSpPr/>
            <p:nvPr/>
          </p:nvSpPr>
          <p:spPr>
            <a:xfrm>
              <a:off x="4761501" y="2952856"/>
              <a:ext cx="87277" cy="49836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4" name="Shape 102"/>
            <p:cNvSpPr/>
            <p:nvPr/>
          </p:nvSpPr>
          <p:spPr>
            <a:xfrm>
              <a:off x="4842428" y="2927668"/>
              <a:ext cx="87277" cy="50196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5" name="Shape 103"/>
            <p:cNvSpPr/>
            <p:nvPr/>
          </p:nvSpPr>
          <p:spPr>
            <a:xfrm>
              <a:off x="4923355" y="2902479"/>
              <a:ext cx="87277" cy="505566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6" name="Shape 104"/>
            <p:cNvSpPr/>
            <p:nvPr/>
          </p:nvSpPr>
          <p:spPr>
            <a:xfrm>
              <a:off x="5004283" y="2877291"/>
              <a:ext cx="87277" cy="50916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7" name="Shape 105"/>
            <p:cNvSpPr/>
            <p:nvPr/>
          </p:nvSpPr>
          <p:spPr>
            <a:xfrm>
              <a:off x="5085210" y="2852102"/>
              <a:ext cx="87277" cy="512762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8" name="Shape 106"/>
            <p:cNvSpPr/>
            <p:nvPr/>
          </p:nvSpPr>
          <p:spPr>
            <a:xfrm>
              <a:off x="5166137" y="2826914"/>
              <a:ext cx="87277" cy="51636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9" name="Shape 107"/>
            <p:cNvSpPr/>
            <p:nvPr/>
          </p:nvSpPr>
          <p:spPr>
            <a:xfrm>
              <a:off x="5247064" y="2803525"/>
              <a:ext cx="168204" cy="52535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10" name="Shape 108"/>
            <p:cNvSpPr/>
            <p:nvPr/>
          </p:nvSpPr>
          <p:spPr>
            <a:xfrm>
              <a:off x="5408919" y="2781935"/>
              <a:ext cx="168204" cy="53975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11" name="Shape 109"/>
            <p:cNvSpPr/>
            <p:nvPr/>
          </p:nvSpPr>
          <p:spPr>
            <a:xfrm>
              <a:off x="5570773" y="2760345"/>
              <a:ext cx="168204" cy="55414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12" name="Shape 110"/>
            <p:cNvSpPr/>
            <p:nvPr/>
          </p:nvSpPr>
          <p:spPr>
            <a:xfrm>
              <a:off x="5732628" y="2738755"/>
              <a:ext cx="168204" cy="56853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13" name="Shape 111"/>
            <p:cNvSpPr/>
            <p:nvPr/>
          </p:nvSpPr>
          <p:spPr>
            <a:xfrm>
              <a:off x="5894482" y="2717165"/>
              <a:ext cx="168204" cy="58293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14" name="Shape 112"/>
            <p:cNvSpPr/>
            <p:nvPr/>
          </p:nvSpPr>
          <p:spPr>
            <a:xfrm>
              <a:off x="6056336" y="2695575"/>
              <a:ext cx="168204" cy="59732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15" name="Shape 113"/>
            <p:cNvSpPr/>
            <p:nvPr/>
          </p:nvSpPr>
          <p:spPr>
            <a:xfrm>
              <a:off x="6218191" y="2673985"/>
              <a:ext cx="87277" cy="60272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16" name="Shape 114"/>
            <p:cNvSpPr/>
            <p:nvPr/>
          </p:nvSpPr>
          <p:spPr>
            <a:xfrm>
              <a:off x="6299118" y="2652395"/>
              <a:ext cx="87277" cy="59912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17" name="Shape 115"/>
            <p:cNvSpPr/>
            <p:nvPr/>
          </p:nvSpPr>
          <p:spPr>
            <a:xfrm>
              <a:off x="6380045" y="2630805"/>
              <a:ext cx="87277" cy="59552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18" name="Shape 116"/>
            <p:cNvSpPr/>
            <p:nvPr/>
          </p:nvSpPr>
          <p:spPr>
            <a:xfrm>
              <a:off x="6460973" y="2609215"/>
              <a:ext cx="87277" cy="591926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19" name="Shape 117"/>
            <p:cNvSpPr/>
            <p:nvPr/>
          </p:nvSpPr>
          <p:spPr>
            <a:xfrm>
              <a:off x="6541900" y="2587625"/>
              <a:ext cx="87277" cy="588328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20" name="Shape 118"/>
            <p:cNvSpPr/>
            <p:nvPr/>
          </p:nvSpPr>
          <p:spPr>
            <a:xfrm>
              <a:off x="6622827" y="2566035"/>
              <a:ext cx="87277" cy="58472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21" name="Shape 119"/>
            <p:cNvSpPr/>
            <p:nvPr/>
          </p:nvSpPr>
          <p:spPr>
            <a:xfrm>
              <a:off x="6703754" y="2544445"/>
              <a:ext cx="87277" cy="58113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22" name="Shape 120"/>
            <p:cNvSpPr/>
            <p:nvPr/>
          </p:nvSpPr>
          <p:spPr>
            <a:xfrm>
              <a:off x="6784681" y="2522855"/>
              <a:ext cx="87277" cy="57753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23" name="Shape 121"/>
            <p:cNvSpPr/>
            <p:nvPr/>
          </p:nvSpPr>
          <p:spPr>
            <a:xfrm>
              <a:off x="6865609" y="2501265"/>
              <a:ext cx="87277" cy="57393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24" name="Shape 122"/>
            <p:cNvSpPr/>
            <p:nvPr/>
          </p:nvSpPr>
          <p:spPr>
            <a:xfrm>
              <a:off x="6946536" y="2479675"/>
              <a:ext cx="87277" cy="570336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25" name="Shape 123"/>
            <p:cNvSpPr/>
            <p:nvPr/>
          </p:nvSpPr>
          <p:spPr>
            <a:xfrm>
              <a:off x="7027463" y="2458085"/>
              <a:ext cx="87277" cy="56673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26" name="Shape 124"/>
            <p:cNvSpPr/>
            <p:nvPr/>
          </p:nvSpPr>
          <p:spPr>
            <a:xfrm>
              <a:off x="7108390" y="2436495"/>
              <a:ext cx="87277" cy="56313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27" name="Shape 125"/>
            <p:cNvSpPr/>
            <p:nvPr/>
          </p:nvSpPr>
          <p:spPr>
            <a:xfrm>
              <a:off x="7189318" y="2413363"/>
              <a:ext cx="75716" cy="56442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28" name="Shape 126"/>
            <p:cNvSpPr/>
            <p:nvPr/>
          </p:nvSpPr>
          <p:spPr>
            <a:xfrm>
              <a:off x="7258684" y="2388689"/>
              <a:ext cx="75716" cy="57059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29" name="Shape 127"/>
            <p:cNvSpPr/>
            <p:nvPr/>
          </p:nvSpPr>
          <p:spPr>
            <a:xfrm>
              <a:off x="7328050" y="2364014"/>
              <a:ext cx="75716" cy="57676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30" name="Shape 128"/>
            <p:cNvSpPr/>
            <p:nvPr/>
          </p:nvSpPr>
          <p:spPr>
            <a:xfrm>
              <a:off x="7397416" y="2339340"/>
              <a:ext cx="75716" cy="58293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31" name="Shape 129"/>
            <p:cNvSpPr/>
            <p:nvPr/>
          </p:nvSpPr>
          <p:spPr>
            <a:xfrm>
              <a:off x="7466782" y="2314666"/>
              <a:ext cx="75716" cy="58909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32" name="Shape 130"/>
            <p:cNvSpPr/>
            <p:nvPr/>
          </p:nvSpPr>
          <p:spPr>
            <a:xfrm>
              <a:off x="7536149" y="2289991"/>
              <a:ext cx="75716" cy="59526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33" name="Shape 131"/>
            <p:cNvSpPr/>
            <p:nvPr/>
          </p:nvSpPr>
          <p:spPr>
            <a:xfrm>
              <a:off x="7605515" y="2265317"/>
              <a:ext cx="75716" cy="601436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34" name="Shape 132"/>
            <p:cNvSpPr/>
            <p:nvPr/>
          </p:nvSpPr>
          <p:spPr>
            <a:xfrm>
              <a:off x="7674881" y="2240643"/>
              <a:ext cx="75716" cy="60760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35" name="Shape 133"/>
            <p:cNvSpPr/>
            <p:nvPr/>
          </p:nvSpPr>
          <p:spPr>
            <a:xfrm>
              <a:off x="7744247" y="2215969"/>
              <a:ext cx="75716" cy="61377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36" name="Shape 134"/>
            <p:cNvSpPr/>
            <p:nvPr/>
          </p:nvSpPr>
          <p:spPr>
            <a:xfrm>
              <a:off x="7813613" y="2191294"/>
              <a:ext cx="75716" cy="61994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37" name="Shape 135"/>
            <p:cNvSpPr/>
            <p:nvPr/>
          </p:nvSpPr>
          <p:spPr>
            <a:xfrm>
              <a:off x="7882980" y="2166620"/>
              <a:ext cx="75716" cy="62611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38" name="Shape 136"/>
            <p:cNvSpPr/>
            <p:nvPr/>
          </p:nvSpPr>
          <p:spPr>
            <a:xfrm>
              <a:off x="7952346" y="2141946"/>
              <a:ext cx="75716" cy="63227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39" name="Shape 137"/>
            <p:cNvSpPr/>
            <p:nvPr/>
          </p:nvSpPr>
          <p:spPr>
            <a:xfrm>
              <a:off x="8021712" y="2117271"/>
              <a:ext cx="75716" cy="63844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40" name="Shape 138"/>
            <p:cNvSpPr/>
            <p:nvPr/>
          </p:nvSpPr>
          <p:spPr>
            <a:xfrm>
              <a:off x="8091078" y="2092597"/>
              <a:ext cx="75716" cy="644616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41" name="Shape 139"/>
            <p:cNvSpPr/>
            <p:nvPr/>
          </p:nvSpPr>
          <p:spPr>
            <a:xfrm>
              <a:off x="2819248" y="5232400"/>
              <a:ext cx="582676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42" name="Text 140"/>
            <p:cNvSpPr/>
            <p:nvPr/>
          </p:nvSpPr>
          <p:spPr>
            <a:xfrm>
              <a:off x="8696808" y="2318385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1000" dirty="0"/>
            </a:p>
          </p:txBody>
        </p:sp>
        <p:sp>
          <p:nvSpPr>
            <p:cNvPr id="143" name="Text 141"/>
            <p:cNvSpPr/>
            <p:nvPr/>
          </p:nvSpPr>
          <p:spPr>
            <a:xfrm>
              <a:off x="8696808" y="3030855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1000" dirty="0"/>
            </a:p>
          </p:txBody>
        </p:sp>
        <p:sp>
          <p:nvSpPr>
            <p:cNvPr id="144" name="Text 142"/>
            <p:cNvSpPr/>
            <p:nvPr/>
          </p:nvSpPr>
          <p:spPr>
            <a:xfrm>
              <a:off x="8696808" y="4283075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1000" dirty="0"/>
            </a:p>
          </p:txBody>
        </p:sp>
        <p:sp>
          <p:nvSpPr>
            <p:cNvPr id="145" name="Text 143"/>
            <p:cNvSpPr/>
            <p:nvPr/>
          </p:nvSpPr>
          <p:spPr>
            <a:xfrm>
              <a:off x="8671408" y="51435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46" name="Text 144"/>
            <p:cNvSpPr/>
            <p:nvPr/>
          </p:nvSpPr>
          <p:spPr>
            <a:xfrm>
              <a:off x="8671408" y="3992033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147" name="Text 145"/>
            <p:cNvSpPr/>
            <p:nvPr/>
          </p:nvSpPr>
          <p:spPr>
            <a:xfrm>
              <a:off x="8671408" y="2840567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48" name="Text 146"/>
            <p:cNvSpPr/>
            <p:nvPr/>
          </p:nvSpPr>
          <p:spPr>
            <a:xfrm>
              <a:off x="8671408" y="16891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149" name="Shape 147"/>
            <p:cNvSpPr/>
            <p:nvPr/>
          </p:nvSpPr>
          <p:spPr>
            <a:xfrm>
              <a:off x="3274331" y="2668693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0" name="Text 148"/>
            <p:cNvSpPr/>
            <p:nvPr/>
          </p:nvSpPr>
          <p:spPr>
            <a:xfrm>
              <a:off x="2923811" y="248962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51" name="Shape 149"/>
            <p:cNvSpPr/>
            <p:nvPr/>
          </p:nvSpPr>
          <p:spPr>
            <a:xfrm flipV="1">
              <a:off x="3304811" y="2468880"/>
              <a:ext cx="971127" cy="230293"/>
            </a:xfrm>
            <a:prstGeom prst="line">
              <a:avLst/>
            </a:prstGeom>
            <a:noFill/>
            <a:ln w="25400">
              <a:solidFill>
                <a:srgbClr val="008300"/>
              </a:solidFill>
              <a:prstDash val="solid"/>
            </a:ln>
          </p:spPr>
        </p:sp>
        <p:sp>
          <p:nvSpPr>
            <p:cNvPr id="152" name="Shape 150"/>
            <p:cNvSpPr/>
            <p:nvPr/>
          </p:nvSpPr>
          <p:spPr>
            <a:xfrm>
              <a:off x="4245458" y="2438400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3" name="Text 151"/>
            <p:cNvSpPr/>
            <p:nvPr/>
          </p:nvSpPr>
          <p:spPr>
            <a:xfrm>
              <a:off x="3894938" y="225933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24</a:t>
              </a:r>
              <a:endParaRPr lang="en-US" sz="1000" dirty="0"/>
            </a:p>
          </p:txBody>
        </p:sp>
        <p:sp>
          <p:nvSpPr>
            <p:cNvPr id="154" name="Shape 152"/>
            <p:cNvSpPr/>
            <p:nvPr/>
          </p:nvSpPr>
          <p:spPr>
            <a:xfrm flipV="1">
              <a:off x="4275938" y="2238587"/>
              <a:ext cx="971127" cy="230293"/>
            </a:xfrm>
            <a:prstGeom prst="line">
              <a:avLst/>
            </a:prstGeom>
            <a:noFill/>
            <a:ln w="25400">
              <a:solidFill>
                <a:srgbClr val="008300"/>
              </a:solidFill>
              <a:prstDash val="solid"/>
            </a:ln>
          </p:spPr>
        </p:sp>
        <p:sp>
          <p:nvSpPr>
            <p:cNvPr id="155" name="Shape 153"/>
            <p:cNvSpPr/>
            <p:nvPr/>
          </p:nvSpPr>
          <p:spPr>
            <a:xfrm>
              <a:off x="5216584" y="2208107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6" name="Text 154"/>
            <p:cNvSpPr/>
            <p:nvPr/>
          </p:nvSpPr>
          <p:spPr>
            <a:xfrm>
              <a:off x="4866064" y="2029037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157" name="Shape 155"/>
            <p:cNvSpPr/>
            <p:nvPr/>
          </p:nvSpPr>
          <p:spPr>
            <a:xfrm>
              <a:off x="5247064" y="2238587"/>
              <a:ext cx="971127" cy="115147"/>
            </a:xfrm>
            <a:prstGeom prst="line">
              <a:avLst/>
            </a:prstGeom>
            <a:noFill/>
            <a:ln w="25400">
              <a:solidFill>
                <a:srgbClr val="008300"/>
              </a:solidFill>
              <a:prstDash val="solid"/>
            </a:ln>
          </p:spPr>
        </p:sp>
        <p:sp>
          <p:nvSpPr>
            <p:cNvPr id="158" name="Shape 156"/>
            <p:cNvSpPr/>
            <p:nvPr/>
          </p:nvSpPr>
          <p:spPr>
            <a:xfrm>
              <a:off x="6187711" y="2323253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9" name="Text 157"/>
            <p:cNvSpPr/>
            <p:nvPr/>
          </p:nvSpPr>
          <p:spPr>
            <a:xfrm>
              <a:off x="5837191" y="214418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1000" dirty="0"/>
            </a:p>
          </p:txBody>
        </p:sp>
        <p:sp>
          <p:nvSpPr>
            <p:cNvPr id="160" name="Shape 158"/>
            <p:cNvSpPr/>
            <p:nvPr/>
          </p:nvSpPr>
          <p:spPr>
            <a:xfrm flipV="1">
              <a:off x="6218191" y="2008293"/>
              <a:ext cx="971127" cy="345440"/>
            </a:xfrm>
            <a:prstGeom prst="line">
              <a:avLst/>
            </a:prstGeom>
            <a:noFill/>
            <a:ln w="25400">
              <a:solidFill>
                <a:srgbClr val="008300"/>
              </a:solidFill>
              <a:prstDash val="solid"/>
            </a:ln>
          </p:spPr>
        </p:sp>
        <p:sp>
          <p:nvSpPr>
            <p:cNvPr id="161" name="Shape 159"/>
            <p:cNvSpPr/>
            <p:nvPr/>
          </p:nvSpPr>
          <p:spPr>
            <a:xfrm>
              <a:off x="7158838" y="1977813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2" name="Text 160"/>
            <p:cNvSpPr/>
            <p:nvPr/>
          </p:nvSpPr>
          <p:spPr>
            <a:xfrm>
              <a:off x="6808318" y="179874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28</a:t>
              </a:r>
              <a:endParaRPr lang="en-US" sz="1000" dirty="0"/>
            </a:p>
          </p:txBody>
        </p:sp>
        <p:sp>
          <p:nvSpPr>
            <p:cNvPr id="163" name="Shape 161"/>
            <p:cNvSpPr/>
            <p:nvPr/>
          </p:nvSpPr>
          <p:spPr>
            <a:xfrm flipV="1">
              <a:off x="7189318" y="1778000"/>
              <a:ext cx="971127" cy="230293"/>
            </a:xfrm>
            <a:prstGeom prst="line">
              <a:avLst/>
            </a:prstGeom>
            <a:noFill/>
            <a:ln w="25400">
              <a:solidFill>
                <a:srgbClr val="008300"/>
              </a:solidFill>
              <a:prstDash val="solid"/>
            </a:ln>
          </p:spPr>
        </p:sp>
        <p:sp>
          <p:nvSpPr>
            <p:cNvPr id="164" name="Shape 162"/>
            <p:cNvSpPr/>
            <p:nvPr/>
          </p:nvSpPr>
          <p:spPr>
            <a:xfrm>
              <a:off x="8129964" y="1747520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5" name="Text 163"/>
            <p:cNvSpPr/>
            <p:nvPr/>
          </p:nvSpPr>
          <p:spPr>
            <a:xfrm>
              <a:off x="7779444" y="156845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66" name="Text 164"/>
            <p:cNvSpPr/>
            <p:nvPr/>
          </p:nvSpPr>
          <p:spPr>
            <a:xfrm>
              <a:off x="8696808" y="1840548"/>
              <a:ext cx="7010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Margin 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PowerChart" descr="Gantt chart. 4 data series: Start, End, Column Cost k€, Column FTE. 6 categories: Discovery | Ana, &gt; Research | Ana, &gt; Concept | Ana, Delivery | Ben and 2 more."/>
          <p:cNvGrpSpPr/>
          <p:nvPr>
            <p:custDataLst>
              <p:tags r:id="rId3"/>
            </p:custDataLst>
          </p:nvPr>
        </p:nvGrpSpPr>
        <p:grpSpPr>
          <a:xfrm>
            <a:off x="2158848" y="1778000"/>
            <a:ext cx="7874000" cy="3225800"/>
            <a:chOff x="2158848" y="1778000"/>
            <a:chExt cx="7874000" cy="3225800"/>
          </a:xfrm>
        </p:grpSpPr>
        <p:sp>
          <p:nvSpPr>
            <p:cNvPr id="2" name="Text 0"/>
            <p:cNvSpPr/>
            <p:nvPr/>
          </p:nvSpPr>
          <p:spPr>
            <a:xfrm>
              <a:off x="2158848" y="1778000"/>
              <a:ext cx="7874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Programme plan — cost and effort beside the bars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853282" y="2260600"/>
              <a:ext cx="0" cy="2743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548482" y="2057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745497" y="2260600"/>
              <a:ext cx="0" cy="2743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440697" y="2057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637712" y="2260600"/>
              <a:ext cx="0" cy="2743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7332912" y="2057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9529928" y="2260600"/>
              <a:ext cx="0" cy="2743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9225128" y="2057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158848" y="2273300"/>
              <a:ext cx="7874000" cy="43180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2158848" y="2393950"/>
              <a:ext cx="7874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Discovery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853282" y="2453640"/>
              <a:ext cx="1892215" cy="71120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3853282" y="2453640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5745497" y="2453640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2285848" y="2851150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Research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9606128" y="2851150"/>
              <a:ext cx="3505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Ana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853282" y="2717800"/>
              <a:ext cx="5676646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853282" y="2857500"/>
              <a:ext cx="1135329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3853282" y="2857500"/>
              <a:ext cx="1135329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0–3</a:t>
              </a:r>
              <a:endParaRPr lang="en-US" sz="9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2285848" y="3308350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Concept</a:t>
              </a:r>
              <a:endParaRPr lang="en-US" sz="1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9606128" y="3308350"/>
              <a:ext cx="3505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Ana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853282" y="3175000"/>
              <a:ext cx="5676646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4988611" y="3314700"/>
              <a:ext cx="756886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4988611" y="3314700"/>
              <a:ext cx="75688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3–5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2158848" y="3644900"/>
              <a:ext cx="7874000" cy="43180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2158848" y="3765550"/>
              <a:ext cx="7874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Delivery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5745497" y="3825240"/>
              <a:ext cx="3405988" cy="71120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5745497" y="3825240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9151485" y="3825240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2285848" y="4222750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Build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9606128" y="4222750"/>
              <a:ext cx="3505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Ben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853282" y="4089400"/>
              <a:ext cx="5676646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5745497" y="4229100"/>
              <a:ext cx="2270658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5745497" y="4229100"/>
              <a:ext cx="227065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5–11</a:t>
              </a:r>
              <a:endParaRPr lang="en-US" sz="9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2285848" y="4679950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QA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9606128" y="4679950"/>
              <a:ext cx="3505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Cara</a:t>
              </a:r>
              <a:endParaRPr lang="en-US" sz="10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3853282" y="4546600"/>
              <a:ext cx="5676646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8016155" y="4686300"/>
              <a:ext cx="1135329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8016155" y="4686300"/>
              <a:ext cx="1135329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11–14</a:t>
              </a:r>
              <a:endParaRPr lang="en-US" sz="9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2961488" y="2057400"/>
              <a:ext cx="482854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b="1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 k€</a:t>
              </a:r>
              <a:endParaRPr lang="en-US" sz="9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2961488" y="2393950"/>
              <a:ext cx="48285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2961488" y="2851150"/>
              <a:ext cx="48285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2961488" y="3308350"/>
              <a:ext cx="48285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75</a:t>
              </a:r>
              <a:endParaRPr lang="en-US" sz="10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2961488" y="3765550"/>
              <a:ext cx="48285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260</a:t>
              </a:r>
              <a:endParaRPr lang="en-US" sz="10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2961488" y="4222750"/>
              <a:ext cx="48285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191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2961488" y="4679950"/>
              <a:ext cx="48285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3520542" y="2057400"/>
              <a:ext cx="25654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b="1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FTE</a:t>
              </a:r>
              <a:endParaRPr lang="en-US" sz="9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3520542" y="2393950"/>
              <a:ext cx="2565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2.0</a:t>
              </a:r>
              <a:endParaRPr lang="en-US" sz="10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3520542" y="2851150"/>
              <a:ext cx="2565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1.0</a:t>
              </a:r>
              <a:endParaRPr lang="en-US" sz="10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3520542" y="3308350"/>
              <a:ext cx="2565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1.0</a:t>
              </a:r>
              <a:endParaRPr lang="en-US" sz="10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3520542" y="3765550"/>
              <a:ext cx="2565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3.0</a:t>
              </a:r>
              <a:endParaRPr lang="en-US" sz="10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3520542" y="4222750"/>
              <a:ext cx="2565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2.0</a:t>
              </a:r>
              <a:endParaRPr lang="en-US" sz="10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3520542" y="4679950"/>
              <a:ext cx="2565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1.0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PowerChart" descr="Gantt chart. 4 data series: Start, End, Holiday, After. 4 categories: Spec, Build, Review, Ship."/>
          <p:cNvGrpSpPr/>
          <p:nvPr>
            <p:custDataLst>
              <p:tags r:id="rId3"/>
            </p:custDataLst>
          </p:nvPr>
        </p:nvGrpSpPr>
        <p:grpSpPr>
          <a:xfrm>
            <a:off x="2539848" y="1905000"/>
            <a:ext cx="7231634" cy="2971800"/>
            <a:chOff x="2539848" y="1905000"/>
            <a:chExt cx="7231634" cy="2971800"/>
          </a:xfrm>
        </p:grpSpPr>
        <p:sp>
          <p:nvSpPr>
            <p:cNvPr id="2" name="Text 0"/>
            <p:cNvSpPr/>
            <p:nvPr/>
          </p:nvSpPr>
          <p:spPr>
            <a:xfrm>
              <a:off x="2539848" y="1905000"/>
              <a:ext cx="711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Working-day timeline — weekends carry no width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078328" y="2387600"/>
              <a:ext cx="0" cy="2489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2773528" y="2184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29 Dec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788149" y="2387600"/>
              <a:ext cx="0" cy="2489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4483349" y="2184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 Jan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497970" y="2387600"/>
              <a:ext cx="0" cy="2489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193170" y="2184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 Jan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7865827" y="2387600"/>
              <a:ext cx="0" cy="2489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561027" y="2184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 Jan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9575648" y="2387600"/>
              <a:ext cx="0" cy="2489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9161882" y="2184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 Jan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539848" y="2603500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Spec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788149" y="2609850"/>
              <a:ext cx="1025893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788149" y="2609850"/>
              <a:ext cx="102589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 Jan–8 Jan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539848" y="3225800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Build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078328" y="3009900"/>
              <a:ext cx="64973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5814041" y="3232150"/>
              <a:ext cx="1367857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5814041" y="3232150"/>
              <a:ext cx="136785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 Jan–15 Jan</a:t>
              </a:r>
              <a:endParaRPr lang="en-US" sz="9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539848" y="3848100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Review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078328" y="3632200"/>
              <a:ext cx="64973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7181898" y="3854450"/>
              <a:ext cx="1025893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7181898" y="3854450"/>
              <a:ext cx="102589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 Jan–20 Jan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539848" y="4470400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Ship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078328" y="4254500"/>
              <a:ext cx="64973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8207791" y="4476750"/>
              <a:ext cx="683928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5814041" y="2698750"/>
              <a:ext cx="0" cy="6223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5788641" y="3321050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 rot="5400000">
              <a:off x="5712441" y="3276600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7181898" y="3321050"/>
              <a:ext cx="0" cy="6223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156498" y="3943350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 rot="5400000">
              <a:off x="7080298" y="3898900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8207791" y="3943350"/>
              <a:ext cx="0" cy="6223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8182391" y="4565650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 rot="5400000">
              <a:off x="8106191" y="4521200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</p:grp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PowerChart" descr="scatter plot. 2 data series: X, Y. 40 categories: A1, A2, A3, A4 and 36 more."/>
          <p:cNvGrpSpPr/>
          <p:nvPr>
            <p:custDataLst>
              <p:tags r:id="rId3"/>
            </p:custDataLst>
          </p:nvPr>
        </p:nvGrpSpPr>
        <p:grpSpPr>
          <a:xfrm>
            <a:off x="2793848" y="1397000"/>
            <a:ext cx="6604000" cy="4064000"/>
            <a:chOff x="2793848" y="1397000"/>
            <a:chExt cx="6604000" cy="4064000"/>
          </a:xfrm>
        </p:grpSpPr>
        <p:sp>
          <p:nvSpPr>
            <p:cNvPr id="2" name="Text 0"/>
            <p:cNvSpPr/>
            <p:nvPr/>
          </p:nvSpPr>
          <p:spPr>
            <a:xfrm>
              <a:off x="2793848" y="1397000"/>
              <a:ext cx="6604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Marginal histograms — distribution beside the relationship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225648" y="5257800"/>
              <a:ext cx="56388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2793848" y="5168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225648" y="4489450"/>
              <a:ext cx="56388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793848" y="44005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25648" y="3721100"/>
              <a:ext cx="56388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793848" y="36322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25648" y="2952750"/>
              <a:ext cx="56388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2793848" y="28638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25648" y="2184400"/>
              <a:ext cx="56388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2793848" y="2095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951709" y="5283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330548" y="5283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740248" y="5283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149948" y="5283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559648" y="5283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225648" y="5257800"/>
              <a:ext cx="5638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225648" y="2184400"/>
              <a:ext cx="0" cy="30734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3930498" y="2072640"/>
              <a:ext cx="692150" cy="7366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4635348" y="1778000"/>
              <a:ext cx="692150" cy="368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5340198" y="1778000"/>
              <a:ext cx="692150" cy="368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6749898" y="2035810"/>
              <a:ext cx="692150" cy="11049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7454748" y="1925320"/>
              <a:ext cx="692150" cy="22098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8159598" y="1814830"/>
              <a:ext cx="692150" cy="33147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8902548" y="4873625"/>
              <a:ext cx="322263" cy="371475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8902548" y="4489450"/>
              <a:ext cx="368300" cy="371475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8902548" y="4105275"/>
              <a:ext cx="322263" cy="371475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8902548" y="3721100"/>
              <a:ext cx="276225" cy="371475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8902548" y="3336925"/>
              <a:ext cx="276225" cy="371475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8902548" y="2952750"/>
              <a:ext cx="138113" cy="371475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8902548" y="2568575"/>
              <a:ext cx="138113" cy="371475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4456278" y="514286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4949673" y="4720272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5443068" y="429768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5936463" y="487394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4879188" y="445135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5372583" y="502761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5865978" y="460502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4808703" y="418242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5302098" y="475869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5795493" y="433609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4738218" y="491236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5231613" y="4489767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5725008" y="506603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4667733" y="464343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5161128" y="422084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8" name="Shape 46"/>
            <p:cNvSpPr/>
            <p:nvPr/>
          </p:nvSpPr>
          <p:spPr>
            <a:xfrm>
              <a:off x="5654523" y="479710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9" name="Shape 47"/>
            <p:cNvSpPr/>
            <p:nvPr/>
          </p:nvSpPr>
          <p:spPr>
            <a:xfrm>
              <a:off x="4597248" y="437451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>
              <a:off x="5090643" y="4950777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1" name="Shape 49"/>
            <p:cNvSpPr/>
            <p:nvPr/>
          </p:nvSpPr>
          <p:spPr>
            <a:xfrm>
              <a:off x="5584038" y="452818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2" name="Shape 50"/>
            <p:cNvSpPr/>
            <p:nvPr/>
          </p:nvSpPr>
          <p:spPr>
            <a:xfrm>
              <a:off x="4526763" y="510444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5020158" y="468185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>
              <a:off x="5513553" y="425926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5" name="Shape 53"/>
            <p:cNvSpPr/>
            <p:nvPr/>
          </p:nvSpPr>
          <p:spPr>
            <a:xfrm>
              <a:off x="8473923" y="276098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>
              <a:off x="8826348" y="395192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7" name="Shape 55"/>
            <p:cNvSpPr/>
            <p:nvPr/>
          </p:nvSpPr>
          <p:spPr>
            <a:xfrm>
              <a:off x="7064223" y="383667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8" name="Shape 56"/>
            <p:cNvSpPr/>
            <p:nvPr/>
          </p:nvSpPr>
          <p:spPr>
            <a:xfrm>
              <a:off x="7416648" y="372141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>
              <a:off x="7769073" y="360616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0" name="Shape 58"/>
            <p:cNvSpPr/>
            <p:nvPr/>
          </p:nvSpPr>
          <p:spPr>
            <a:xfrm>
              <a:off x="8121498" y="3490912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1" name="Shape 59"/>
            <p:cNvSpPr/>
            <p:nvPr/>
          </p:nvSpPr>
          <p:spPr>
            <a:xfrm>
              <a:off x="8473923" y="337566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2" name="Shape 60"/>
            <p:cNvSpPr/>
            <p:nvPr/>
          </p:nvSpPr>
          <p:spPr>
            <a:xfrm>
              <a:off x="8826348" y="326040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3" name="Shape 61"/>
            <p:cNvSpPr/>
            <p:nvPr/>
          </p:nvSpPr>
          <p:spPr>
            <a:xfrm>
              <a:off x="7064223" y="314515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4" name="Shape 62"/>
            <p:cNvSpPr/>
            <p:nvPr/>
          </p:nvSpPr>
          <p:spPr>
            <a:xfrm>
              <a:off x="7416648" y="302990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5" name="Shape 63"/>
            <p:cNvSpPr/>
            <p:nvPr/>
          </p:nvSpPr>
          <p:spPr>
            <a:xfrm>
              <a:off x="7769073" y="291465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6" name="Shape 64"/>
            <p:cNvSpPr/>
            <p:nvPr/>
          </p:nvSpPr>
          <p:spPr>
            <a:xfrm>
              <a:off x="8121498" y="279939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7" name="Shape 65"/>
            <p:cNvSpPr/>
            <p:nvPr/>
          </p:nvSpPr>
          <p:spPr>
            <a:xfrm>
              <a:off x="8473923" y="399034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8" name="Shape 66"/>
            <p:cNvSpPr/>
            <p:nvPr/>
          </p:nvSpPr>
          <p:spPr>
            <a:xfrm>
              <a:off x="8826348" y="3875087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9" name="Shape 67"/>
            <p:cNvSpPr/>
            <p:nvPr/>
          </p:nvSpPr>
          <p:spPr>
            <a:xfrm>
              <a:off x="7064223" y="375983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70" name="Shape 68"/>
            <p:cNvSpPr/>
            <p:nvPr/>
          </p:nvSpPr>
          <p:spPr>
            <a:xfrm>
              <a:off x="7416648" y="364458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71" name="Shape 69"/>
            <p:cNvSpPr/>
            <p:nvPr/>
          </p:nvSpPr>
          <p:spPr>
            <a:xfrm>
              <a:off x="7769073" y="352933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72" name="Shape 70"/>
            <p:cNvSpPr/>
            <p:nvPr/>
          </p:nvSpPr>
          <p:spPr>
            <a:xfrm>
              <a:off x="8121498" y="3414077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</p:grp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PowerChart" descr="bubble chart. 3 data series: X, Y, Size. 8 categories: Alfa, Bravo, Charlie, Delta and 4 more."/>
          <p:cNvGrpSpPr/>
          <p:nvPr>
            <p:custDataLst>
              <p:tags r:id="rId3"/>
            </p:custDataLst>
          </p:nvPr>
        </p:nvGrpSpPr>
        <p:grpSpPr>
          <a:xfrm>
            <a:off x="2793848" y="1524000"/>
            <a:ext cx="6807200" cy="3803650"/>
            <a:chOff x="2793848" y="1524000"/>
            <a:chExt cx="6807200" cy="3803650"/>
          </a:xfrm>
        </p:grpSpPr>
        <p:sp>
          <p:nvSpPr>
            <p:cNvPr id="2" name="Text 0"/>
            <p:cNvSpPr/>
            <p:nvPr/>
          </p:nvSpPr>
          <p:spPr>
            <a:xfrm>
              <a:off x="2793848" y="1524000"/>
              <a:ext cx="6604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Overlap relief — markers nudged along Y only, by a disclosed cap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225648" y="49657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2793848" y="48768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225648" y="445135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793848" y="43624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25648" y="39370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793848" y="3848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25648" y="342265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2793848" y="33337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25648" y="29083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2793848" y="28194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225648" y="239395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2793848" y="23050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225648" y="18796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2793848" y="1790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65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982570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43849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95614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47379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99144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9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225648" y="4965700"/>
              <a:ext cx="6070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3225648" y="1879600"/>
              <a:ext cx="0" cy="30861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8624382" y="1874591"/>
              <a:ext cx="621066" cy="621066"/>
            </a:xfrm>
            <a:prstGeom prst="ellipse">
              <a:avLst/>
            </a:pr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8624382" y="1703141"/>
              <a:ext cx="62106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8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8083622" y="2056497"/>
              <a:ext cx="439160" cy="439160"/>
            </a:xfrm>
            <a:prstGeom prst="ellipse">
              <a:avLst/>
            </a:pr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8083622" y="1794094"/>
              <a:ext cx="43916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8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8714969" y="2021109"/>
              <a:ext cx="555498" cy="555498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2965837" y="4318908"/>
              <a:ext cx="519621" cy="519621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8897128" y="1629240"/>
              <a:ext cx="500719" cy="500719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3288640" y="4622292"/>
              <a:ext cx="481075" cy="481075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3147115" y="3809573"/>
              <a:ext cx="460595" cy="460595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8924903" y="2380110"/>
              <a:ext cx="439160" cy="4391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3093218" y="4073572"/>
              <a:ext cx="416623" cy="416623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8872202" y="1838884"/>
              <a:ext cx="392796" cy="392796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3795115" y="4780280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Charlie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3633110" y="395732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Bravo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891753" y="2844670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Foxtrot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2819248" y="5187950"/>
              <a:ext cx="6553200" cy="139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Y positions approximate: markers spread by up to ±3.0 to reduce overlap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PowerChart" descr="scatter plot. 3 data series: X, Y, Group. 12 categories: Northwind, Acme, Globex, Initech and 8 more."/>
          <p:cNvGrpSpPr/>
          <p:nvPr>
            <p:custDataLst>
              <p:tags r:id="rId3"/>
            </p:custDataLst>
          </p:nvPr>
        </p:nvGrpSpPr>
        <p:grpSpPr>
          <a:xfrm>
            <a:off x="2793848" y="1524000"/>
            <a:ext cx="6807200" cy="3803650"/>
            <a:chOff x="2793848" y="1524000"/>
            <a:chExt cx="6807200" cy="3803650"/>
          </a:xfrm>
        </p:grpSpPr>
        <p:sp>
          <p:nvSpPr>
            <p:cNvPr id="2" name="Text 0"/>
            <p:cNvSpPr/>
            <p:nvPr/>
          </p:nvSpPr>
          <p:spPr>
            <a:xfrm>
              <a:off x="2793848" y="1524000"/>
              <a:ext cx="6604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Shape per group — the split survives greyscale and color blindness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225648" y="49657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2793848" y="48768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225648" y="40132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793848" y="3924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25648" y="30607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793848" y="29718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25648" y="21082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2793848" y="2019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51709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13496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34908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56320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77732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899144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25648" y="4965700"/>
              <a:ext cx="6070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3225648" y="2108200"/>
              <a:ext cx="0" cy="28575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225648" y="1955800"/>
              <a:ext cx="88900" cy="88900"/>
            </a:xfrm>
            <a:prstGeom prst="ellipse">
              <a:avLst/>
            </a:prstGeom>
            <a:solidFill>
              <a:srgbClr val="2A78D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335264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1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985108" y="1944540"/>
              <a:ext cx="111420" cy="111420"/>
            </a:xfrm>
            <a:prstGeom prst="diamond">
              <a:avLst/>
            </a:prstGeom>
            <a:solidFill>
              <a:srgbClr val="1BAF7A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134627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2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744568" y="1944540"/>
              <a:ext cx="111420" cy="111420"/>
            </a:xfrm>
            <a:prstGeom prst="triangle">
              <a:avLst/>
            </a:prstGeom>
            <a:solidFill>
              <a:srgbClr val="EDA100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4894087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3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916020" y="445135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4280256" y="392747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4523080" y="468947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4098138" y="416560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5848960" y="3251074"/>
              <a:ext cx="95503" cy="95503"/>
            </a:xfrm>
            <a:prstGeom prst="diamond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6273902" y="3584449"/>
              <a:ext cx="95503" cy="95503"/>
            </a:xfrm>
            <a:prstGeom prst="diamond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031078" y="2917699"/>
              <a:ext cx="95503" cy="95503"/>
            </a:xfrm>
            <a:prstGeom prst="diamond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516726" y="3441574"/>
              <a:ext cx="95503" cy="95503"/>
            </a:xfrm>
            <a:prstGeom prst="diamond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7670140" y="2441449"/>
              <a:ext cx="95503" cy="95503"/>
            </a:xfrm>
            <a:prstGeom prst="triangl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8095082" y="2727199"/>
              <a:ext cx="95503" cy="95503"/>
            </a:xfrm>
            <a:prstGeom prst="triangl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7912964" y="2060449"/>
              <a:ext cx="95503" cy="95503"/>
            </a:xfrm>
            <a:prstGeom prst="triangl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8337906" y="2346199"/>
              <a:ext cx="95503" cy="95503"/>
            </a:xfrm>
            <a:prstGeom prst="triangl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4017620" y="4406900"/>
              <a:ext cx="6426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Northwind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381856" y="3883025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Acme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4624680" y="4645025"/>
              <a:ext cx="4368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Globex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4199738" y="4121150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Initech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5960212" y="3216275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Umbra</a:t>
              </a:r>
              <a:endParaRPr lang="en-US" sz="10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6385154" y="3549650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Soylent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142330" y="2882900"/>
              <a:ext cx="5740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Vandelay</a:t>
              </a:r>
              <a:endParaRPr lang="en-US" sz="10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6380328" y="3260725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Hooli</a:t>
              </a:r>
              <a:endParaRPr lang="en-US" sz="10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7781392" y="240665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Stark</a:t>
              </a:r>
              <a:endParaRPr lang="en-US" sz="10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8206334" y="269240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Wayne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7742276" y="2171700"/>
              <a:ext cx="4368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Tyrell</a:t>
              </a:r>
              <a:endParaRPr lang="en-US" sz="10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8449158" y="2311400"/>
              <a:ext cx="6426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Cyberdyne</a:t>
              </a:r>
              <a:endParaRPr lang="en-US" sz="10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2819248" y="5187950"/>
              <a:ext cx="6553200" cy="139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Groups: challengers, contenders, leaders.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PowerChart" descr="combination chart. 3 data series: Licenses, Services, Consensus. 4 categories: Q1, Q2, Q3, Q4."/>
          <p:cNvGrpSpPr/>
          <p:nvPr>
            <p:custDataLst>
              <p:tags r:id="rId3"/>
            </p:custDataLst>
          </p:nvPr>
        </p:nvGrpSpPr>
        <p:grpSpPr>
          <a:xfrm>
            <a:off x="2920848" y="1524000"/>
            <a:ext cx="6350000" cy="3797300"/>
            <a:chOff x="2920848" y="1524000"/>
            <a:chExt cx="6350000" cy="3797300"/>
          </a:xfrm>
        </p:grpSpPr>
        <p:sp>
          <p:nvSpPr>
            <p:cNvPr id="2" name="Text 0"/>
            <p:cNvSpPr/>
            <p:nvPr/>
          </p:nvSpPr>
          <p:spPr>
            <a:xfrm>
              <a:off x="2920848" y="1524000"/>
              <a:ext cx="6350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Benchmark markers — consensus per quarter, on the columns' own scale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2946248" y="5143500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39438" y="5143500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732628" y="5143500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125818" y="5143500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178446" y="3677073"/>
              <a:ext cx="928793" cy="142832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127646" y="4295987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28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178446" y="3064933"/>
              <a:ext cx="928793" cy="61214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127646" y="3275753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46248" y="2880783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571636" y="3524038"/>
              <a:ext cx="928793" cy="1581362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4520836" y="4219469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71636" y="2809875"/>
              <a:ext cx="928793" cy="71416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520836" y="3071707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339438" y="2625725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964826" y="3575050"/>
              <a:ext cx="928793" cy="153035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914026" y="4244975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964826" y="2707852"/>
              <a:ext cx="928793" cy="867198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914026" y="3046201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732628" y="2523702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358016" y="3268980"/>
              <a:ext cx="928793" cy="18364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307216" y="4091940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36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358016" y="2503805"/>
              <a:ext cx="928793" cy="76517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7307216" y="2791143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125818" y="2319655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946248" y="5105400"/>
              <a:ext cx="557276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3602203" y="2922270"/>
              <a:ext cx="81280" cy="8128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3261843" y="268351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995393" y="2820247"/>
              <a:ext cx="81280" cy="8128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4655033" y="2441787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44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388583" y="2514177"/>
              <a:ext cx="81280" cy="8128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048223" y="2345267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7781773" y="2565188"/>
              <a:ext cx="81280" cy="8128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7441413" y="2535978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49</a:t>
              </a:r>
              <a:endParaRPr lang="en-US" sz="10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8569808" y="2520103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Consensus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569808" y="2800668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569808" y="4101465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PowerChart" descr="waterfall chart. 1 data series: Delta. 8 categories: FY23, Volume, Cost, &gt; Labour and 4 more."/>
          <p:cNvGrpSpPr/>
          <p:nvPr>
            <p:custDataLst>
              <p:tags r:id="rId3"/>
            </p:custDataLst>
          </p:nvPr>
        </p:nvGrpSpPr>
        <p:grpSpPr>
          <a:xfrm>
            <a:off x="2539848" y="1524000"/>
            <a:ext cx="7112000" cy="3797300"/>
            <a:chOff x="2539848" y="1524000"/>
            <a:chExt cx="7112000" cy="3797300"/>
          </a:xfrm>
        </p:grpSpPr>
        <p:sp>
          <p:nvSpPr>
            <p:cNvPr id="2" name="Text 0"/>
            <p:cNvSpPr/>
            <p:nvPr/>
          </p:nvSpPr>
          <p:spPr>
            <a:xfrm>
              <a:off x="2539848" y="1524000"/>
              <a:ext cx="711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Bridge with “of which” detail columns — the walk steps over them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2565248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444723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Volume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324198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203673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&gt; Labour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083148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&gt; Freight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962623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&gt; Energy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842098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FX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721573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FY24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711827" y="2353056"/>
              <a:ext cx="586317" cy="275234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2635627" y="3633978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86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298143" y="2353056"/>
              <a:ext cx="293158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4" name="Shape 12"/>
            <p:cNvSpPr/>
            <p:nvPr/>
          </p:nvSpPr>
          <p:spPr>
            <a:xfrm>
              <a:off x="3591302" y="1905000"/>
              <a:ext cx="586317" cy="44805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3515102" y="2033778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+14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177618" y="1905000"/>
              <a:ext cx="293158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7" name="Shape 15"/>
            <p:cNvSpPr/>
            <p:nvPr/>
          </p:nvSpPr>
          <p:spPr>
            <a:xfrm>
              <a:off x="4470777" y="1905000"/>
              <a:ext cx="586317" cy="384048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394577" y="2001774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-12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057093" y="2289048"/>
              <a:ext cx="293158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0" name="Shape 18"/>
            <p:cNvSpPr/>
            <p:nvPr/>
          </p:nvSpPr>
          <p:spPr>
            <a:xfrm>
              <a:off x="5350252" y="1905000"/>
              <a:ext cx="586317" cy="224028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5274052" y="1921764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-7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229727" y="2129028"/>
              <a:ext cx="586317" cy="96012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6153527" y="1944878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-3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109202" y="2225040"/>
              <a:ext cx="586317" cy="64008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7033002" y="2040890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-2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7988677" y="2289048"/>
              <a:ext cx="586317" cy="128016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7912477" y="2104898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-4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8574993" y="2417064"/>
              <a:ext cx="293158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9" name="Shape 27"/>
            <p:cNvSpPr/>
            <p:nvPr/>
          </p:nvSpPr>
          <p:spPr>
            <a:xfrm>
              <a:off x="8868152" y="2417064"/>
              <a:ext cx="586317" cy="2688336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8791952" y="3665982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84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2565248" y="5105400"/>
              <a:ext cx="7035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PowerChart" descr="Gantt chart. 3 data series: Start, End, After. 8 categories: Ana, &gt; Spec, &gt; Review, Ben and 4 more."/>
          <p:cNvGrpSpPr/>
          <p:nvPr>
            <p:custDataLst>
              <p:tags r:id="rId3"/>
            </p:custDataLst>
          </p:nvPr>
        </p:nvGrpSpPr>
        <p:grpSpPr>
          <a:xfrm>
            <a:off x="2539848" y="1651000"/>
            <a:ext cx="7262495" cy="3479800"/>
            <a:chOff x="2539848" y="1651000"/>
            <a:chExt cx="7262495" cy="3479800"/>
          </a:xfrm>
        </p:grpSpPr>
        <p:sp>
          <p:nvSpPr>
            <p:cNvPr id="2" name="Text 0"/>
            <p:cNvSpPr/>
            <p:nvPr/>
          </p:nvSpPr>
          <p:spPr>
            <a:xfrm>
              <a:off x="2539848" y="1651000"/>
              <a:ext cx="711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Plan grouped into owner lanes — dependencies follow their rows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084530" y="2133600"/>
              <a:ext cx="296817" cy="29972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5123390" y="2133600"/>
              <a:ext cx="296817" cy="29972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6162250" y="2133600"/>
              <a:ext cx="296817" cy="29972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7201110" y="2133600"/>
              <a:ext cx="296817" cy="29972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8239970" y="2133600"/>
              <a:ext cx="296817" cy="29972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9278830" y="2133600"/>
              <a:ext cx="296817" cy="29972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3342488" y="2133600"/>
              <a:ext cx="0" cy="2997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37688" y="1930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29 Dec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381348" y="2133600"/>
              <a:ext cx="0" cy="2997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076548" y="1930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 Jan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420208" y="2133600"/>
              <a:ext cx="0" cy="2997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115408" y="1930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 Jan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459068" y="2133600"/>
              <a:ext cx="0" cy="2997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154268" y="1930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 Jan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497928" y="2133600"/>
              <a:ext cx="0" cy="2997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7193128" y="1930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 Jan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8536788" y="2133600"/>
              <a:ext cx="0" cy="2997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8231988" y="1930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 Feb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9575648" y="2133600"/>
              <a:ext cx="0" cy="2997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9192743" y="1930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 Feb</a:t>
              </a:r>
              <a:endParaRPr lang="en-US" sz="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539848" y="2146300"/>
              <a:ext cx="7112000" cy="34925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2539848" y="2225675"/>
              <a:ext cx="7112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Ana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381348" y="2285365"/>
              <a:ext cx="3116580" cy="71120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4381348" y="2285365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7497928" y="2285365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2666848" y="2600325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Spec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342488" y="2508250"/>
              <a:ext cx="62331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4381348" y="2606675"/>
              <a:ext cx="1038860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4381348" y="2606675"/>
              <a:ext cx="10388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 Jan–12 Jan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666848" y="2974975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Review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342488" y="2882900"/>
              <a:ext cx="62331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6459068" y="2981325"/>
              <a:ext cx="1038860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6459068" y="2981325"/>
              <a:ext cx="10388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 Jan–26 Jan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2539848" y="3270250"/>
              <a:ext cx="7112000" cy="34925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2539848" y="3349625"/>
              <a:ext cx="7112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Ben</a:t>
              </a:r>
              <a:endParaRPr lang="en-US" sz="10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5420208" y="3409315"/>
              <a:ext cx="3116580" cy="71120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5420208" y="3409315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8536788" y="3409315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2666848" y="3724275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Build</a:t>
              </a:r>
              <a:endParaRPr lang="en-US" sz="10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3342488" y="3632200"/>
              <a:ext cx="62331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5420208" y="3730625"/>
              <a:ext cx="1038860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5420208" y="3730625"/>
              <a:ext cx="10388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 Jan–19 Jan</a:t>
              </a:r>
              <a:endParaRPr lang="en-US" sz="9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2666848" y="4098925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Ship</a:t>
              </a:r>
              <a:endParaRPr lang="en-US" sz="10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3342488" y="4006850"/>
              <a:ext cx="62331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7497928" y="4105275"/>
              <a:ext cx="1038860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8" name="Text 46"/>
            <p:cNvSpPr/>
            <p:nvPr/>
          </p:nvSpPr>
          <p:spPr>
            <a:xfrm>
              <a:off x="7497928" y="4105275"/>
              <a:ext cx="10388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 Jan–2 Feb</a:t>
              </a:r>
              <a:endParaRPr lang="en-US" sz="9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2539848" y="4394200"/>
              <a:ext cx="7112000" cy="34925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50" name="Text 48"/>
            <p:cNvSpPr/>
            <p:nvPr/>
          </p:nvSpPr>
          <p:spPr>
            <a:xfrm>
              <a:off x="2539848" y="4473575"/>
              <a:ext cx="7112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Other</a:t>
              </a:r>
              <a:endParaRPr lang="en-US" sz="10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8536788" y="4533265"/>
              <a:ext cx="445226" cy="71120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8536788" y="4533265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8982013" y="4533265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2666848" y="4848225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Handover</a:t>
              </a:r>
              <a:endParaRPr lang="en-US" sz="10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3342488" y="4756150"/>
              <a:ext cx="62331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>
              <a:off x="8536788" y="4854575"/>
              <a:ext cx="445226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6459068" y="3070225"/>
              <a:ext cx="0" cy="7493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58" name="Shape 56"/>
            <p:cNvSpPr/>
            <p:nvPr/>
          </p:nvSpPr>
          <p:spPr>
            <a:xfrm>
              <a:off x="6433668" y="3070225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 rot="5400000">
              <a:off x="6357468" y="3025775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5420208" y="2695575"/>
              <a:ext cx="0" cy="112395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1" name="Shape 59"/>
            <p:cNvSpPr/>
            <p:nvPr/>
          </p:nvSpPr>
          <p:spPr>
            <a:xfrm>
              <a:off x="5394808" y="3819525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2" name="Shape 60"/>
            <p:cNvSpPr/>
            <p:nvPr/>
          </p:nvSpPr>
          <p:spPr>
            <a:xfrm rot="5400000">
              <a:off x="5318608" y="3775075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7497928" y="3070225"/>
              <a:ext cx="0" cy="112395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4" name="Shape 62"/>
            <p:cNvSpPr/>
            <p:nvPr/>
          </p:nvSpPr>
          <p:spPr>
            <a:xfrm>
              <a:off x="7472528" y="4194175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5" name="Shape 63"/>
            <p:cNvSpPr/>
            <p:nvPr/>
          </p:nvSpPr>
          <p:spPr>
            <a:xfrm rot="5400000">
              <a:off x="7396328" y="4149725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8536788" y="4194175"/>
              <a:ext cx="0" cy="7493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7" name="Shape 65"/>
            <p:cNvSpPr/>
            <p:nvPr/>
          </p:nvSpPr>
          <p:spPr>
            <a:xfrm>
              <a:off x="8511388" y="4943475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8" name="Shape 66"/>
            <p:cNvSpPr/>
            <p:nvPr/>
          </p:nvSpPr>
          <p:spPr>
            <a:xfrm rot="5400000">
              <a:off x="8435188" y="4899025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</p:grp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werChart" descr="violin plot. 10 data series: s1, s2, s3, s4 and 6 more. 3 categories: API, Web, Batch.">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3047848" y="1524000"/>
            <a:ext cx="6096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PowerChart" descr="stacked column chart (horizontal). 1 data series: Actual. 3 categories: North, South, East.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73800" cy="3810000"/>
            <a:chOff x="3047848" y="1524000"/>
            <a:chExt cx="6273800" cy="3810000"/>
          </a:xfrm>
        </p:grpSpPr>
        <p:sp>
          <p:nvSpPr>
            <p:cNvPr id="2" name="Shape 0"/>
            <p:cNvSpPr/>
            <p:nvPr/>
          </p:nvSpPr>
          <p:spPr>
            <a:xfrm>
              <a:off x="3492348" y="1879600"/>
              <a:ext cx="3038475" cy="3251200"/>
            </a:xfrm>
            <a:prstGeom prst="rect">
              <a:avLst/>
            </a:prstGeom>
            <a:solidFill>
              <a:srgbClr val="F2F1EC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3530448" y="1892300"/>
              <a:ext cx="2962275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poor</a:t>
              </a:r>
              <a:endParaRPr lang="en-US" sz="9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6530823" y="1879600"/>
              <a:ext cx="1104900" cy="3251200"/>
            </a:xfrm>
            <a:prstGeom prst="rect">
              <a:avLst/>
            </a:prstGeom>
            <a:solidFill>
              <a:srgbClr val="F2F1EC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6568923" y="1892300"/>
              <a:ext cx="10287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ok</a:t>
              </a:r>
              <a:endParaRPr lang="en-US" sz="9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7635723" y="1879600"/>
              <a:ext cx="1381125" cy="3251200"/>
            </a:xfrm>
            <a:prstGeom prst="rect">
              <a:avLst/>
            </a:prstGeom>
            <a:solidFill>
              <a:srgbClr val="F2F1EC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7673823" y="1892300"/>
              <a:ext cx="1304925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good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Bullet graph — actual vs target, the way one is usually drawn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1875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949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7120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047848" y="2326217"/>
              <a:ext cx="3937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47848" y="3409950"/>
              <a:ext cx="3937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047848" y="4493683"/>
              <a:ext cx="3937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492348" y="2060222"/>
              <a:ext cx="3867150" cy="72248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441548" y="2326217"/>
              <a:ext cx="39687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92348" y="3143956"/>
              <a:ext cx="3038475" cy="72248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3441548" y="3409950"/>
              <a:ext cx="314007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492348" y="4227689"/>
              <a:ext cx="4972050" cy="72248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3441548" y="4493683"/>
              <a:ext cx="50736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90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492348" y="18796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7911948" y="2091267"/>
              <a:ext cx="0" cy="66040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6807048" y="3175000"/>
              <a:ext cx="0" cy="66040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8188173" y="4258733"/>
              <a:ext cx="0" cy="66040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Stacked — Revenue by segment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totals&quot;:true,&quot;cagr&quot;:{&quot;from&quot;:0,&quot;to&quot;:3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Clustered — Sales by quarter&quot;,&quot;data&quot;:{&quot;categories&quot;:[&quot;Q1&quot;,&quot;Q2&quot;,&quot;Q3&quot;,&quot;Q4&quot;],&quot;series&quot;:[{&quot;name&quot;:&quot;2024&quot;,&quot;values&quot;:[42,48,45,61]},{&quot;name&quot;:&quot;2025&quot;,&quot;values&quot;:[51,55,58,70]}]},&quot;decorations&quot;:{&quot;seriesLabels&quot;:true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100&quot;,&quot;width&quot;:480,&quot;height&quot;:300,&quot;title&quot;:&quot;100% — Channel mix&quot;,&quot;data&quot;:{&quot;categories&quot;:[&quot;2022&quot;,&quot;2023&quot;,&quot;2024&quot;,&quot;2025&quot;],&quot;series&quot;:[{&quot;name&quot;:&quot;Retail&quot;,&quot;values&quot;:[55,49,44,38]},{&quot;name&quot;:&quot;Online&quot;,&quot;values&quot;:[30,36,41,47]},{&quot;name&quot;:&quot;Wholesale&quot;,&quot;values&quot;:[15,15,15,15]}]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terfall&quot;,&quot;width&quot;:480,&quot;height&quot;:300,&quot;title&quot;:&quot;Waterfall — EBITDA bridge&quot;,&quot;data&quot;:{&quot;categories&quot;:[&quot;FY23&quot;,&quot;Volume&quot;,&quot;Price&quot;,&quot;Cost&quot;,&quot;FX&quot;,&quot;FY24&quot;],&quot;series&quot;:[{&quot;name&quot;:&quot;Delta&quot;,&quot;values&quot;:[86,14,9,-12,-4,0]}]},&quot;waterfall&quot;:{&quot;totalIndices&quot;:[5]},&quot;decorations&quot;:{&quot;categoryAxis&quot;:true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mekko&quot;,&quot;width&quot;:480,&quot;height&quot;:300,&quot;title&quot;:&quot;Mekko — Revenue by region and segment&quot;,&quot;data&quot;:{&quot;categories&quot;:[&quot;EMEA&quot;,&quot;Americas&quot;,&quot;APAC&quot;],&quot;series&quot;:[{&quot;name&quot;:&quot;Enterprise&quot;,&quot;values&quot;:[42,55,18]},{&quot;name&quot;:&quot;SMB&quot;,&quot;values&quot;:[28,30,22]},{&quot;name&quot;:&quot;Consumer&quot;,&quot;values&quot;:[14,25,30]}]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Line — Gross margin&quot;,&quot;data&quot;:{&quot;categories&quot;:[&quot;2021&quot;,&quot;2022&quot;,&quot;2023&quot;,&quot;2024&quot;,&quot;2025&quot;],&quot;series&quot;:[{&quot;name&quot;:&quot;Brand A&quot;,&quot;values&quot;:[48,52,55,61,66]},{&quot;name&quot;:&quot;Brand B&quot;,&quot;values&quot;:[40,42,41,45,49]}]},&quot;decorations&quot;:{&quot;segmentLabels&quot;:false,&quot;valueAxis&quot;:true,&quot;gridlines&quot;:true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area&quot;,&quot;width&quot;:480,&quot;height&quot;:300,&quot;title&quot;:&quot;Area — Active users&quot;,&quot;data&quot;:{&quot;categories&quot;:[&quot;2021&quot;,&quot;2022&quot;,&quot;2023&quot;,&quot;2024&quot;,&quot;2025&quot;],&quot;series&quot;:[{&quot;name&quot;:&quot;Mobile&quot;,&quot;values&quot;:[20,32,45,60,74]},{&quot;name&quot;:&quot;Desktop&quot;,&quot;values&quot;:[35,37,36,34,30]}]},&quot;decorations&quot;:{&quot;segmentLabels&quot;:false,&quot;valueAxis&quot;:true,&quot;gridlines&quot;:true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utterfly&quot;,&quot;width&quot;:480,&quot;height&quot;:300,&quot;title&quot;:&quot;Butterfly — Headcount by age band&quot;,&quot;data&quot;:{&quot;categories&quot;:[&quot;&lt;30&quot;,&quot;30–39&quot;,&quot;40–49&quot;,&quot;50–59&quot;,&quot;60+&quot;],&quot;series&quot;:[{&quot;name&quot;:&quot;Women&quot;,&quot;values&quot;:[420,610,540,320,120]},{&quot;name&quot;:&quot;Men&quot;,&quot;values&quot;:[380,650,600,410,160]}]}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480,&quot;height&quot;:300,&quot;title&quot;:&quot;Scatter — Price vs. margin&quot;,&quot;data&quot;:{&quot;categories&quot;:[&quot;Alpha&quot;,&quot;Bravo&quot;,&quot;Core&quot;,&quot;Delta&quot;,&quot;Echo&quot;,&quot;Foxtrot&quot;,&quot;Golf&quot;,&quot;Hotel&quot;],&quot;series&quot;:[{&quot;name&quot;:&quot;X&quot;,&quot;values&quot;:[12,25,40,55,62,74,30,48]},{&quot;name&quot;:&quot;Y&quot;,&quot;values&quot;:[30,55,42,70,35,60,22,50]},{&quot;name&quot;:&quot;Group&quot;,&quot;values&quot;:[1,1,2,2,3,3,1,2]}]}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ubble&quot;,&quot;width&quot;:480,&quot;height&quot;:300,&quot;title&quot;:&quot;Bubble — Market map&quot;,&quot;data&quot;:{&quot;categories&quot;:[&quot;Alpha&quot;,&quot;Bravo&quot;,&quot;Core&quot;,&quot;Delta&quot;,&quot;Echo&quot;,&quot;Foxtrot&quot;,&quot;Golf&quot;,&quot;Hotel&quot;],&quot;series&quot;:[{&quot;name&quot;:&quot;X&quot;,&quot;values&quot;:[12,25,40,55,62,74,30,48]},{&quot;name&quot;:&quot;Y&quot;,&quot;values&quot;:[30,55,42,70,35,60,22,50]},{&quot;name&quot;:&quot;Size&quot;,&quot;values&quot;:[10,40,90,25,55,70,15,35]},{&quot;name&quot;:&quot;Group&quot;,&quot;values&quot;:[1,1,2,2,3,3,1,2]}]}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gantt&quot;,&quot;width&quot;:480,&quot;height&quot;:300,&quot;title&quot;:&quot;Gantt — Programme plan (weeks)&quot;,&quot;data&quot;:{&quot;categories&quot;:[&quot;Scoping&quot;,&quot;Design&quot;,&quot;Build&quot;,&quot;Test&quot;,&quot;Rollout&quot;],&quot;series&quot;:[{&quot;name&quot;:&quot;Start&quot;,&quot;values&quot;:[1,3,5,10,13]},{&quot;name&quot;:&quot;End&quot;,&quot;values&quot;:[3,6,11,13,15]},{&quot;name&quot;:&quot;Milestone&quot;,&quot;values&quot;:[null,6,null,13,15]}]}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480,&quot;height&quot;:300,&quot;title&quot;:&quot;Combo — Revenue and margin&quot;,&quot;data&quot;:{&quot;categories&quot;:[&quot;2022&quot;,&quot;2023&quot;,&quot;2024&quot;,&quot;2025&quot;],&quot;series&quot;:[{&quot;name&quot;:&quot;Product&quot;,&quot;values&quot;:[40,46,52,60]},{&quot;name&quot;:&quot;Services&quot;,&quot;values&quot;:[18,22,27,33]},{&quot;name&quot;:&quot;Margin %&quot;,&quot;values&quot;:[31,34,38,45],&quot;type&quot;:&quot;line&quot;}]},&quot;decorations&quot;:{&quot;totals&quot;:true}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pie&quot;,&quot;width&quot;:480,&quot;height&quot;:300,&quot;title&quot;:&quot;Pie — Revenue split&quot;,&quot;data&quot;:{&quot;categories&quot;:[&quot;EMEA&quot;,&quot;Americas&quot;,&quot;APAC&quot;,&quot;Other&quot;],&quot;series&quot;:[{&quot;name&quot;:&quot;Revenue&quot;,&quot;values&quot;:[84,110,70,22]}]}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doughnut&quot;,&quot;width&quot;:480,&quot;height&quot;:300,&quot;title&quot;:&quot;Doughnut — Revenue split&quot;,&quot;data&quot;:{&quot;categories&quot;:[&quot;EMEA&quot;,&quot;Americas&quot;,&quot;APAC&quot;,&quot;Other&quot;],&quot;series&quot;:[{&quot;name&quot;:&quot;Revenue&quot;,&quot;values&quot;:[84,110,70,22]}]}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oxplot&quot;,&quot;width&quot;:480,&quot;height&quot;:300,&quot;title&quot;:&quot;Boxplot — Delivery days by region&quot;,&quot;data&quot;:{&quot;categories&quot;:[&quot;North&quot;,&quot;South&quot;,&quot;East&quot;,&quot;West&quot;],&quot;series&quot;:[{&quot;name&quot;:&quot;Min&quot;,&quot;values&quot;:[2,3,1,2]},{&quot;name&quot;:&quot;Q1&quot;,&quot;values&quot;:[3,5,2,4]},{&quot;name&quot;:&quot;Median&quot;,&quot;values&quot;:[4,7,3,5]},{&quot;name&quot;:&quot;Q3&quot;,&quot;values&quot;:[6,9,5,7]},{&quot;name&quot;:&quot;Max&quot;,&quot;values&quot;:[8,12,7,10]}]},&quot;decorations&quot;:{&quot;categoryAxis&quot;:true,&quot;valueAxis&quot;:true}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radar&quot;,&quot;width&quot;:480,&quot;height&quot;:300,&quot;title&quot;:&quot;Radar — Capability assessment&quot;,&quot;data&quot;:{&quot;categories&quot;:[&quot;Strategy&quot;,&quot;Data&quot;,&quot;Talent&quot;,&quot;Process&quot;,&quot;Tech&quot;,&quot;Culture&quot;],&quot;series&quot;:[{&quot;name&quot;:&quot;Today&quot;,&quot;values&quot;:[3,2,3,2,4,3]},{&quot;name&quot;:&quot;Target&quot;,&quot;values&quot;:[4,4,4,3,5,4]}]},&quot;scale&quot;:{&quot;min&quot;:0,&quot;max&quot;:5}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heatmap&quot;,&quot;width&quot;:480,&quot;height&quot;:300,&quot;title&quot;:&quot;Heatmap — Sales by region and quarter&quot;,&quot;data&quot;:{&quot;categories&quot;:[&quot;Q1&quot;,&quot;Q2&quot;,&quot;Q3&quot;,&quot;Q4&quot;],&quot;series&quot;:[{&quot;name&quot;:&quot;North&quot;,&quot;values&quot;:[42,48,51,58]},{&quot;name&quot;:&quot;South&quot;,&quot;values&quot;:[30,34,31,36]},{&quot;name&quot;:&quot;East&quot;,&quot;values&quot;:[22,25,29,33]},{&quot;name&quot;:&quot;West&quot;,&quot;values&quot;:[18,16,21,24]}]}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tilemap&quot;,&quot;width&quot;:480,&quot;height&quot;:300,&quot;title&quot;:&quot;Tile map — Revenue by market (€m)&quot;,&quot;map&quot;:&quot;europe&quot;,&quot;data&quot;:{&quot;categories&quot;:[&quot;DK&quot;,&quot;SE&quot;,&quot;NO&quot;,&quot;FI&quot;,&quot;DE&quot;,&quot;NL&quot;,&quot;FR&quot;,&quot;GB&quot;,&quot;ES&quot;,&quot;IT&quot;,&quot;PL&quot;],&quot;series&quot;:[{&quot;name&quot;:&quot;Revenue&quot;,&quot;values&quot;:[84,61,45,32,140,66,98,112,54,72,38]}]}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ascade&quot;,&quot;width&quot;:480,&quot;height&quot;:300,&quot;title&quot;:&quot;Cascade — Support volume breakdown — April&quot;,&quot;data&quot;:{&quot;categories&quot;:[&quot;Total contacts | | Contacts&quot;,&quot;Answered | Dropped contacts | Contacts&quot;,&quot;With a case | Without a case | Incidents &amp; Service Requests&quot;,&quot;Solved in support | Not solved in support | Incidents &amp; Service Requests&quot;],&quot;series&quot;:[{&quot;name&quot;:&quot;Volume&quot;,&quot;values&quot;:[4986,4616,3405,2685]}]},&quot;footnote&quot;:&quot;Source: service desk logs, Apr 2026&quot;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funnel&quot;,&quot;width&quot;:480,&quot;height&quot;:300,&quot;title&quot;:&quot;Funnel — Sales pipeline&quot;,&quot;data&quot;:{&quot;categories&quot;:[&quot;Leads&quot;,&quot;Qualified&quot;,&quot;Proposal&quot;,&quot;Negotiation&quot;,&quot;Won&quot;],&quot;series&quot;:[{&quot;name&quot;:&quot;Deals&quot;,&quot;values&quot;:[1200,720,380,190,120]}]}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ffle&quot;,&quot;width&quot;:480,&quot;height&quot;:300,&quot;title&quot;:&quot;Waffle — Share of revenue under subscription&quot;,&quot;data&quot;:{&quot;categories&quot;:[&quot;Subscription&quot;],&quot;series&quot;:[{&quot;name&quot;:&quot;Share&quot;,&quot;values&quot;:[68]}]}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treemap&quot;,&quot;width&quot;:480,&quot;height&quot;:300,&quot;title&quot;:&quot;Treemap — Revenue by product line&quot;,&quot;data&quot;:{&quot;categories&quot;:[&quot;Cloud&quot;,&quot;Licenses&quot;,&quot;Services&quot;,&quot;Hardware&quot;,&quot;Support&quot;,&quot;Training&quot;],&quot;series&quot;:[{&quot;name&quot;:&quot;Revenue&quot;,&quot;values&quot;:[120,80,60,40,25,15]}]},&quot;decorations&quot;:{&quot;segmentLabels&quot;:true}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unburst&quot;,&quot;width&quot;:480,&quot;height&quot;:300,&quot;title&quot;:&quot;Sunburst — Revenue by region and product&quot;,&quot;data&quot;:{&quot;categories&quot;:[&quot;EMEA | Cloud&quot;,&quot;EMEA | Licenses&quot;,&quot;EMEA | Services&quot;,&quot;Americas | Cloud&quot;,&quot;Americas | Licenses&quot;,&quot;APAC | Cloud&quot;,&quot;APAC | Hardware&quot;],&quot;series&quot;:[{&quot;name&quot;:&quot;Revenue&quot;,&quot;values&quot;:[60,40,25,80,50,45,30]}]},&quot;decorations&quot;:{&quot;segmentLabels&quot;:true}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violin&quot;,&quot;width&quot;:480,&quot;height&quot;:300,&quot;title&quot;:&quot;Violin — Response time distribution (ms)&quot;,&quot;data&quot;:{&quot;categories&quot;:[&quot;API&quot;,&quot;Web&quot;,&quot;Batch&quot;],&quot;series&quot;:[{&quot;name&quot;:&quot;s1&quot;,&quot;values&quot;:[120,210,640]},{&quot;name&quot;:&quot;s2&quot;,&quot;values&quot;:[135,190,700]},{&quot;name&quot;:&quot;s3&quot;,&quot;values&quot;:[128,240,580]},{&quot;name&quot;:&quot;s4&quot;,&quot;values&quot;:[142,205,660]},{&quot;name&quot;:&quot;s5&quot;,&quot;values&quot;:[150,260,720]},{&quot;name&quot;:&quot;s6&quot;,&quot;values&quot;:[131,220,610]},{&quot;name&quot;:&quot;s7&quot;,&quot;values&quot;:[125,235,690]},{&quot;name&quot;:&quot;s8&quot;,&quot;values&quot;:[160,200,640]},{&quot;name&quot;:&quot;s9&quot;,&quot;values&quot;:[138,250,705]},{&quot;name&quot;:&quot;s10&quot;,&quot;values&quot;:[145,215,655]}]}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andlestick&quot;,&quot;width&quot;:480,&quot;height&quot;:300,&quot;title&quot;:&quot;Candlestick — Share price — last two weeks&quot;,&quot;data&quot;:{&quot;categories&quot;:[&quot;Mon&quot;,&quot;Tue&quot;,&quot;Wed&quot;,&quot;Thu&quot;,&quot;Fri&quot;,&quot;Mon&quot;,&quot;Tue&quot;,&quot;Wed&quot;,&quot;Thu&quot;,&quot;Fri&quot;],&quot;series&quot;:[{&quot;name&quot;:&quot;Open&quot;,&quot;values&quot;:[42,44,43,46,45,47,49,48,46,47]},{&quot;name&quot;:&quot;High&quot;,&quot;values&quot;:[45,46,47,47,48,50,51,49,48,50]},{&quot;name&quot;:&quot;Low&quot;,&quot;values&quot;:[41,42,42,44,44,46,47,45,44,46]},{&quot;name&quot;:&quot;Close&quot;,&quot;values&quot;:[44,43,46,45,47,49,48,46,47,49]}]}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Decorations — totals, CAGR, difference, value line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totals&quot;:true,&quot;cagr&quot;:{&quot;from&quot;:0,&quot;to&quot;:3},&quot;difference&quot;:{&quot;from&quot;:0,&quot;to&quot;:3},&quot;valueLines&quot;:[{&quot;mode&quot;:&quot;mean&quot;}]}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Grand total — sum of all category totals (top-right)&quot;,&quot;data&quot;:{&quot;categories&quot;:[&quot;Q1&quot;,&quot;Q2&quot;,&quot;Q3&quot;,&quot;Q4&quot;],&quot;series&quot;:[{&quot;name&quot;:&quot;2024&quot;,&quot;values&quot;:[42,48,45,61]},{&quot;name&quot;:&quot;2025&quot;,&quot;values&quot;:[51,55,58,70]}]},&quot;decorations&quot;:{&quot;totals&quot;:true,&quot;grandTotal&quot;:true,&quot;categoryAxis&quot;:true}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560,&quot;height&quot;:320,&quot;title&quot;:&quot;IBCS scenarios — PY / AC / FC / PL by fill&quot;,&quot;decorations&quot;:{&quot;categoryAxis&quot;:true,&quot;seriesLabels&quot;:false,&quot;valueAxis&quot;:true},&quot;data&quot;:{&quot;categories&quot;:[&quot;Q1&quot;,&quot;Q2&quot;,&quot;Q3&quot;,&quot;Q4&quot;],&quot;series&quot;:[{&quot;name&quot;:&quot;Sales&quot;,&quot;scenario&quot;:&quot;PY&quot;,&quot;color&quot;:&quot;#3b6ea5&quot;,&quot;values&quot;:[80,85,90,95]},{&quot;name&quot;:&quot;Sales&quot;,&quot;scenario&quot;:&quot;AC&quot;,&quot;color&quot;:&quot;#3b6ea5&quot;,&quot;values&quot;:[82,88,96,null]},{&quot;name&quot;:&quot;Sales&quot;,&quot;scenario&quot;:&quot;FC&quot;,&quot;color&quot;:&quot;#3b6ea5&quot;,&quot;values&quot;:[null,null,null,102]},{&quot;name&quot;:&quot;Sales&quot;,&quot;scenario&quot;:&quot;PL&quot;,&quot;color&quot;:&quot;#3b6ea5&quot;,&quot;values&quot;:[85,90,95,100]}]}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560,&quot;height&quot;:340,&quot;title&quot;:&quot;IBCS variance tier — actual vs plan (Δ below)&quot;,&quot;decorations&quot;:{&quot;categoryAxis&quot;:true,&quot;valueAxis&quot;:true,&quot;variance&quot;:{&quot;actual&quot;:0,&quot;reference&quot;:1}},&quot;data&quot;:{&quot;categories&quot;:[&quot;Q1&quot;,&quot;Q2&quot;,&quot;Q3&quot;,&quot;Q4&quot;],&quot;series&quot;:[{&quot;name&quot;:&quot;Actual&quot;,&quot;scenario&quot;:&quot;AC&quot;,&quot;color&quot;:&quot;#3b6ea5&quot;,&quot;values&quot;:[82,88,96,91]},{&quot;name&quot;:&quot;Plan&quot;,&quot;scenario&quot;:&quot;PL&quot;,&quot;color&quot;:&quot;#3b6ea5&quot;,&quot;values&quot;:[85,86,95,100]}]}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Level difference (series) + label content Value+%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difference&quot;:{&quot;from&quot;:0,&quot;to&quot;:3,&quot;series&quot;:0},&quot;labelContent&quot;:[&quot;value&quot;,&quot;percent&quot;]}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Bar orientation + segment order descending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totals&quot;:true,&quot;seriesLabels&quot;:true},&quot;horizontal&quot;:true,&quot;segmentOrder&quot;:&quot;descending&quot;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Category sort descending + pinned axis + de-DE locale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totals&quot;:true,&quot;valueAxis&quot;:true,&quot;gridlines&quot;:true},&quot;categorySort&quot;:&quot;descending&quot;,&quot;scale&quot;:{&quot;max&quot;:150},&quot;numberFormat&quot;:{&quot;decimals&quot;:1,&quot;locale&quot;:&quot;de-DE&quot;}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Clustered-stacked (stack groups) &quot;,&quot;data&quot;:{&quot;categories&quot;:[&quot;2024&quot;,&quot;2025&quot;],&quot;series&quot;:[{&quot;name&quot;:&quot;EU Product&quot;,&quot;values&quot;:[30,36],&quot;stack&quot;:0},{&quot;name&quot;:&quot;EU Services&quot;,&quot;values&quot;:[12,16],&quot;stack&quot;:0},{&quot;name&quot;:&quot;US Product&quot;,&quot;values&quot;:[26,33],&quot;stack&quot;:1},{&quot;name&quot;:&quot;US Services&quot;,&quot;values&quot;:[10,14],&quot;stack&quot;:1}]},&quot;decorations&quot;:{&quot;totals&quot;:true}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Axis break (620 outlier) + axis title&quot;,&quot;data&quot;:{&quot;categories&quot;:[&quot;Q1&quot;,&quot;Q2&quot;,&quot;Q3&quot;,&quot;Q4&quot;],&quot;series&quot;:[{&quot;name&quot;:&quot;Sales&quot;,&quot;values&quot;:[42,55,620,61]}]},&quot;axisBreak&quot;:{&quot;from&quot;:80,&quot;to&quot;:580},&quot;valueAxisTitle&quot;:&quot;€m&quot;,&quot;decorations&quot;:{&quot;valueAxis&quot;:true,&quot;gridlines&quot;:true,&quot;seriesLabels&quot;:false}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Log scale&quot;,&quot;data&quot;:{&quot;categories&quot;:[&quot;Seed&quot;,&quot;A&quot;,&quot;B&quot;,&quot;C&quot;],&quot;series&quot;:[{&quot;name&quot;:&quot;Valuation&quot;,&quot;values&quot;:[4,40,220,1900]}]},&quot;logScale&quot;:true,&quot;valueAxisTitle&quot;:&quot;$m (log)&quot;,&quot;decorations&quot;:{&quot;valueAxis&quot;:true,&quot;gridlines&quot;:true,&quot;seriesLabels&quot;:false}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100&quot;,&quot;width&quot;:480,&quot;height&quot;:300,&quot;title&quot;:&quot;100%= row (columns short of 100%)&quot;,&quot;data&quot;:{&quot;categories&quot;:[&quot;2023&quot;,&quot;2024&quot;,&quot;2025&quot;],&quot;series&quot;:[{&quot;name&quot;:&quot;Won&quot;,&quot;values&quot;:[40,55,70]},{&quot;name&quot;:&quot;Lost&quot;,&quot;values&quot;:[30,25,20]}],&quot;hundredPercent&quot;:[100,100,100]}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terfall&quot;,&quot;width&quot;:480,&quot;height&quot;:300,&quot;title&quot;:&quot;Stacked waterfall + value-line-anchored difference&quot;,&quot;data&quot;:{&quot;categories&quot;:[&quot;FY23&quot;,&quot;Organic&quot;,&quot;M&amp;A&quot;,&quot;Cost&quot;,&quot;FY24&quot;],&quot;series&quot;:[{&quot;name&quot;:&quot;Europe&quot;,&quot;values&quot;:[50,8,5,-6,0]},{&quot;name&quot;:&quot;Americas&quot;,&quot;values&quot;:[36,6,9,-6,0]}]},&quot;waterfall&quot;:{&quot;totalIndices&quot;:[4]},&quot;decorations&quot;:{&quot;categoryAxis&quot;:true,&quot;valueLines&quot;:[{&quot;mode&quot;:&quot;value&quot;,&quot;value&quot;:100}],&quot;difference&quot;:{&quot;from&quot;:0,&quot;to&quot;:4,&quot;fromValueLine&quot;:0,&quot;percent&quot;:false}}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terfall&quot;,&quot;width&quot;:480,&quot;height&quot;:300,&quot;title&quot;:&quot;Rotated waterfall&quot;,&quot;data&quot;:{&quot;categories&quot;:[&quot;FY23&quot;,&quot;Volume&quot;,&quot;Price&quot;,&quot;Cost&quot;,&quot;FX&quot;,&quot;FY24&quot;],&quot;series&quot;:[{&quot;name&quot;:&quot;Delta&quot;,&quot;values&quot;:[86,14,9,-12,-4,0]}]},&quot;waterfall&quot;:{&quot;totalIndices&quot;:[5]},&quot;decorations&quot;:{&quot;categoryAxis&quot;:true},&quot;horizontal&quot;:true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mekko&quot;,&quot;width&quot;:480,&quot;height&quot;:300,&quot;title&quot;:&quot;Mekko with units (X extent) — rotated&quot;,&quot;data&quot;:{&quot;categories&quot;:[&quot;EMEA&quot;,&quot;Americas&quot;,&quot;APAC&quot;],&quot;series&quot;:[{&quot;name&quot;:&quot;Enterprise&quot;,&quot;values&quot;:[42,55,18]},{&quot;name&quot;:&quot;SMB&quot;,&quot;values&quot;:[28,30,22]},{&quot;name&quot;:&quot;Consumer&quot;,&quot;values&quot;:[14,25,30]}],&quot;xExtent&quot;:[50,30,20]},&quot;horizontal&quot;:true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480,&quot;height&quot;:300,&quot;title&quot;:&quot;Combo + secondary axis&quot;,&quot;data&quot;:{&quot;categories&quot;:[&quot;2022&quot;,&quot;2023&quot;,&quot;2024&quot;,&quot;2025&quot;],&quot;series&quot;:[{&quot;name&quot;:&quot;Product&quot;,&quot;values&quot;:[40,46,52,60]},{&quot;name&quot;:&quot;Services&quot;,&quot;values&quot;:[18,22,27,33]},{&quot;name&quot;:&quot;Margin %&quot;,&quot;values&quot;:[31,34,38,45],&quot;type&quot;:&quot;line&quot;}]},&quot;decorations&quot;:{&quot;totals&quot;:true},&quot;secondaryAxis&quot;:true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480,&quot;height&quot;:300,&quot;title&quot;:&quot;Scatter — partition lines, trend, groups&quot;,&quot;data&quot;:{&quot;categories&quot;:[&quot;Alpha&quot;,&quot;Bravo&quot;,&quot;Core&quot;,&quot;Delta&quot;,&quot;Echo&quot;,&quot;Foxtrot&quot;],&quot;series&quot;:[{&quot;name&quot;:&quot;X&quot;,&quot;values&quot;:[12,25,40,55,62,74]},{&quot;name&quot;:&quot;Y&quot;,&quot;values&quot;:[18,30,38,52,55,68]},{&quot;name&quot;:&quot;Group&quot;,&quot;values&quot;:[1,1,2,2,3,3]},{&quot;name&quot;:&quot;X line&quot;,&quot;values&quot;:[45,null,null,null,null,null]},{&quot;name&quot;:&quot;Y line&quot;,&quot;values&quot;:[40,null,null,null,null,null]},{&quot;name&quot;:&quot;Trend&quot;,&quot;values&quot;:[1,null,null,null,null,null]}]}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480,&quot;height&quot;:300,&quot;title&quot;:&quot;Scatter — quadratic (degree 2) trend fit&quot;,&quot;decorations&quot;:{&quot;valueAxis&quot;:true,&quot;gridlines&quot;:true},&quot;scatter&quot;:{&quot;trendDegree&quot;:2},&quot;data&quot;:{&quot;categories&quot;:[&quot;1&quot;,&quot;2&quot;,&quot;3&quot;,&quot;4&quot;,&quot;5&quot;,&quot;6&quot;,&quot;7&quot;,&quot;8&quot;],&quot;series&quot;:[{&quot;name&quot;:&quot;X&quot;,&quot;values&quot;:[1,2,3,4,5,6,7,8]},{&quot;name&quot;:&quot;Y&quot;,&quot;values&quot;:[30,16,8,5,6,12,22,38]},{&quot;name&quot;:&quot;Trend&quot;,&quot;values&quot;:[1,null,null,null,null,null,null,null]}]}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gantt&quot;,&quot;width&quot;:480,&quot;height&quot;:300,&quot;title&quot;:&quot;Gantt — sections, owners, remarks, deps, today, holiday, bracket&quot;,&quot;data&quot;:{&quot;categories&quot;:[&quot;Phase 1 — Discovery&quot;,&quot;&gt; Interviews | Anna | 12 done&quot;,&quot;&gt; Synthesis | Ben&quot;,&quot;Phase 2 — Delivery&quot;,&quot;&gt; Build | Cato | at risk&quot;],&quot;series&quot;:[{&quot;name&quot;:&quot;Start&quot;,&quot;values&quot;:[null,20458,20472,null,20479]},{&quot;name&quot;:&quot;End&quot;,&quot;values&quot;:[null,20476,20483,null,20504]},{&quot;name&quot;:&quot;Milestone&quot;,&quot;values&quot;:[null,null,20483,null,20504]},{&quot;name&quot;:&quot;After&quot;,&quot;values&quot;:[null,null,2,null,3]},{&quot;name&quot;:&quot;Today&quot;,&quot;values&quot;:[20486,null,null,null,null]},{&quot;name&quot;:&quot;Holiday&quot;,&quot;values&quot;:[20468,null,null,null,null]},{&quot;name&quot;:&quot;Bracket Sprint 1&quot;,&quot;values&quot;:[20458,20472,null,null,null]},{&quot;name&quot;:&quot;% Complete&quot;,&quot;values&quot;:[null,100,60,null,20]},{&quot;name&quot;:&quot;Baseline start&quot;,&quot;values&quot;:[null,20458,20468,null,20475]},{&quot;name&quot;:&quot;Baseline end&quot;,&quot;values&quot;:[null,20473,20480,null,20496]}],&quot;dates&quot;:true}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Manual label nudge (labelOffsets)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totals&quot;:true},&quot;labelOffsets&quot;:{&quot;total-3&quot;:{&quot;dx&quot;:0,&quot;dy&quot;:-6}}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Connector lines + footnote (source line)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connectors&quot;:true,&quot;totals&quot;:true},&quot;footnote&quot;:&quot;Source: Statistics Denmark, 2024&quot;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Point highlight + speech-bubble callout&quot;,&quot;data&quot;:{&quot;categories&quot;:[&quot;2021&quot;,&quot;2022&quot;,&quot;2023&quot;,&quot;2024&quot;],&quot;series&quot;:[{&quot;name&quot;:&quot;Base&quot;,&quot;values&quot;:[40,44,47,52]},{&quot;name&quot;:&quot;New&quot;,&quot;values&quot;:[8,10,21,14],&quot;colors&quot;:[null,null,&quot;#e34948&quot;,null]}]},&quot;decorations&quot;:{&quot;connectors&quot;:true,&quot;callouts&quot;:[{&quot;text&quot;:&quot;One-off boost&quot;,&quot;category&quot;:2,&quot;dx&quot;:30}]}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Background band (target range) + line highlight&quot;,&quot;data&quot;:{&quot;categories&quot;:[&quot;Q1&quot;,&quot;Q2&quot;,&quot;Q3&quot;,&quot;Q4&quot;],&quot;series&quot;:[{&quot;name&quot;:&quot;Margin&quot;,&quot;values&quot;:[38,45,52,49]}]},&quot;decorations&quot;:{&quot;bands&quot;:[{&quot;axis&quot;:&quot;y&quot;,&quot;from&quot;:40,&quot;to&quot;:50,&quot;label&quot;:&quot;Target range&quot;}],&quot;seriesLabels&quot;:false,&quot;valueAxis&quot;:true}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480,&quot;height&quot;:300,&quot;title&quot;:&quot;Scatter background bands (quadrant regions)&quot;,&quot;data&quot;:{&quot;categories&quot;:[&quot;A&quot;,&quot;B&quot;,&quot;C&quot;,&quot;D&quot;,&quot;E&quot;],&quot;series&quot;:[{&quot;name&quot;:&quot;X&quot;,&quot;values&quot;:[15,30,45,60,75]},{&quot;name&quot;:&quot;Y&quot;,&quot;values&quot;:[20,45,35,60,70]}]},&quot;decorations&quot;:{&quot;bands&quot;:[{&quot;axis&quot;:&quot;x&quot;,&quot;from&quot;:50,&quot;to&quot;:80,&quot;color&quot;:&quot;#e8f0e4&quot;,&quot;label&quot;:&quot;Focus&quot;}]}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pie&quot;,&quot;width&quot;:480,&quot;height&quot;:300,&quot;title&quot;:&quot;Exploding slice + slice color + 100% = note&quot;,&quot;footnote&quot;:&quot;Source: annual report FY24&quot;,&quot;pie&quot;:{&quot;explode&quot;:[1]},&quot;data&quot;:{&quot;categories&quot;:[&quot;Retail&quot;,&quot;Online&quot;,&quot;Wholesale&quot;,&quot;Other&quot;],&quot;series&quot;:[{&quot;name&quot;:&quot;Revenue&quot;,&quot;values&quot;:[46,28,18,8],&quot;colors&quot;:[null,&quot;#e34948&quot;,null,null]}]},&quot;decorations&quot;:{&quot;hundredPercentNote&quot;:true}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Pattern fills (SVG/preview; solid in PPT)&quot;,&quot;data&quot;:{&quot;categories&quot;:[&quot;2022&quot;,&quot;2023&quot;,&quot;2024&quot;],&quot;series&quot;:[{&quot;name&quot;:&quot;Base&quot;,&quot;values&quot;:[40,44,50]},{&quot;name&quot;:&quot;Plan&quot;,&quot;values&quot;:[10,14,16],&quot;pattern&quot;:&quot;diagonal&quot;},{&quot;name&quot;:&quot;Risk&quot;,&quot;values&quot;:[6,8,9],&quot;pattern&quot;:&quot;dots&quot;}]},&quot;decorations&quot;:{&quot;connectors&quot;:true}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oxplot&quot;,&quot;width&quot;:480,&quot;height&quot;:300,&quot;title&quot;:&quot;Boxplot from raw samples (Tukey whiskers, outliers)&quot;,&quot;boxplot&quot;:{&quot;showMean&quot;:true},&quot;data&quot;:{&quot;categories&quot;:[&quot;North&quot;,&quot;South&quot;,&quot;East&quot;],&quot;series&quot;:[{&quot;name&quot;:&quot;&quot;,&quot;values&quot;:[4,7,3]},{&quot;name&quot;:&quot;&quot;,&quot;values&quot;:[5,8,4]},{&quot;name&quot;:&quot;&quot;,&quot;values&quot;:[5,9,4]},{&quot;name&quot;:&quot;&quot;,&quot;values&quot;:[6,9,5]},{&quot;name&quot;:&quot;&quot;,&quot;values&quot;:[6,10,5]},{&quot;name&quot;:&quot;&quot;,&quot;values&quot;:[7,11,6]},{&quot;name&quot;:&quot;&quot;,&quot;values&quot;:[7,11,6]},{&quot;name&quot;:&quot;&quot;,&quot;values&quot;:[8,12,7]},{&quot;name&quot;:&quot;&quot;,&quot;values&quot;:[15,12,14]}]},&quot;decorations&quot;:{&quot;categoryAxis&quot;:true,&quot;valueAxis&quot;:true}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oxplot&quot;,&quot;width&quot;:480,&quot;height&quot;:300,&quot;title&quot;:&quot;Horizontal boxplot (same shared axis, rotated)&quot;,&quot;data&quot;:{&quot;categories&quot;:[&quot;North&quot;,&quot;South&quot;,&quot;East&quot;,&quot;West&quot;],&quot;series&quot;:[{&quot;name&quot;:&quot;Min&quot;,&quot;values&quot;:[2,3,1,2]},{&quot;name&quot;:&quot;Q1&quot;,&quot;values&quot;:[3,5,2,4]},{&quot;name&quot;:&quot;Median&quot;,&quot;values&quot;:[4,7,3,5]},{&quot;name&quot;:&quot;Q3&quot;,&quot;values&quot;:[6,9,5,7]},{&quot;name&quot;:&quot;Max&quot;,&quot;values&quot;:[8,12,7,10]}]},&quot;decorations&quot;:{&quot;categoryAxis&quot;:true,&quot;valueAxis&quot;:true},&quot;horizontal&quot;:true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oxplot&quot;,&quot;width&quot;:480,&quot;height&quot;:300,&quot;title&quot;:&quot;Grouped boxplots (2024 vs 2025)&quot;,&quot;data&quot;:{&quot;categories&quot;:[&quot;North&quot;,&quot;South&quot;,&quot;East&quot;],&quot;series&quot;:[{&quot;name&quot;:&quot;Min | 2024&quot;,&quot;values&quot;:[2,3,1]},{&quot;name&quot;:&quot;Q1 | 2024&quot;,&quot;values&quot;:[3,5,2]},{&quot;name&quot;:&quot;Median | 2024&quot;,&quot;values&quot;:[4,7,3]},{&quot;name&quot;:&quot;Q3 | 2024&quot;,&quot;values&quot;:[6,9,5]},{&quot;name&quot;:&quot;Max | 2024&quot;,&quot;values&quot;:[8,12,7]},{&quot;name&quot;:&quot;Min | 2025&quot;,&quot;values&quot;:[3,4,2]},{&quot;name&quot;:&quot;Q1 | 2025&quot;,&quot;values&quot;:[4,6,3]},{&quot;name&quot;:&quot;Median | 2025&quot;,&quot;values&quot;:[5,8,4]},{&quot;name&quot;:&quot;Q3 | 2025&quot;,&quot;values&quot;:[7,10,6]},{&quot;name&quot;:&quot;Max | 2025&quot;,&quot;values&quot;:[9,13,8]}]},&quot;decorations&quot;:{&quot;valueAxis&quot;:true}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Error bars (Error / Error+ / Error- rows)&quot;,&quot;data&quot;:{&quot;categories&quot;:[&quot;Trial 1&quot;,&quot;Trial 2&quot;,&quot;Trial 3&quot;,&quot;Trial 4&quot;],&quot;series&quot;:[{&quot;name&quot;:&quot;Result&quot;,&quot;values&quot;:[42,55,48,61]},{&quot;name&quot;:&quot;Error&quot;,&quot;values&quot;:[5,7,null,null]},{&quot;name&quot;:&quot;Error+&quot;,&quot;values&quot;:[null,null,9,4]},{&quot;name&quot;:&quot;Error-&quot;,&quot;values&quot;:[null,null,3,8]}]},&quot;decorations&quot;:{&quot;valueAxis&quot;:true,&quot;seriesLabels&quot;:false}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Bullet chart (Target row + range bands)&quot;,&quot;data&quot;:{&quot;categories&quot;:[&quot;North&quot;,&quot;South&quot;,&quot;East&quot;,&quot;West&quot;],&quot;series&quot;:[{&quot;name&quot;:&quot;Actual&quot;,&quot;values&quot;:[42,55,48,61]},{&quot;name&quot;:&quot;Target&quot;,&quot;values&quot;:[50,50,55,58]}]},&quot;decorations&quot;:{&quot;bands&quot;:[{&quot;axis&quot;:&quot;y&quot;,&quot;from&quot;:0,&quot;to&quot;:35,&quot;color&quot;:&quot;#e4e2da&quot;},{&quot;axis&quot;:&quot;y&quot;,&quot;from&quot;:35,&quot;to&quot;:55,&quot;color&quot;:&quot;#efeee8&quot;}],&quot;seriesLabels&quot;:false}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480,&quot;height&quot;:300,&quot;title&quot;:&quot;Combo: clustered columns + line&quot;,&quot;combo&quot;:{&quot;columns&quot;:&quot;clustered&quot;},&quot;data&quot;:{&quot;categories&quot;:[&quot;2023&quot;,&quot;2024&quot;,&quot;2025&quot;],&quot;series&quot;:[{&quot;name&quot;:&quot;Actual&quot;,&quot;values&quot;:[40,46,52]},{&quot;name&quot;:&quot;Plan&quot;,&quot;values&quot;:[38,48,55]},{&quot;name&quot;:&quot;Margin %&quot;,&quot;values&quot;:[31,34,38],&quot;type&quot;:&quot;line&quot;}]},&quot;secondaryAxis&quot;:true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Dumbbell range (before vs after)&quot;,&quot;data&quot;:{&quot;categories&quot;:[&quot;North&quot;,&quot;South&quot;,&quot;East&quot;,&quot;West&quot;],&quot;series&quot;:[{&quot;name&quot;:&quot;2024&quot;,&quot;values&quot;:[40,55,48,61]},{&quot;name&quot;:&quot;2025&quot;,&quot;values&quot;:[52,60,45,70]}]},&quot;decorations&quot;:{&quot;barStyle&quot;:&quot;range&quot;,&quot;seriesLabels&quot;:true}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Forecast with confidence band&quot;,&quot;data&quot;:{&quot;categories&quot;:[&quot;2023&quot;,&quot;2024&quot;,&quot;2025&quot;,&quot;2026&quot;,&quot;2027&quot;],&quot;series&quot;:[{&quot;name&quot;:&quot;Revenue&quot;,&quot;values&quot;:[40,46,52,60,69]},{&quot;name&quot;:&quot;Band low&quot;,&quot;values&quot;:[null,null,52,55,59]},{&quot;name&quot;:&quot;Band high&quot;,&quot;values&quot;:[null,null,52,66,82]}]},&quot;decorations&quot;:{&quot;forecastFrom&quot;:3,&quot;seriesLabels&quot;:false}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terfall&quot;,&quot;width&quot;:480,&quot;height&quot;:300,&quot;title&quot;:&quot;Budget-vs-actual bridge (gap to target)&quot;,&quot;data&quot;:{&quot;categories&quot;:[&quot;FY23&quot;,&quot;Volume&quot;,&quot;Price&quot;,&quot;Cost&quot;,&quot;FY24&quot;],&quot;series&quot;:[{&quot;name&quot;:&quot;Delta&quot;,&quot;values&quot;:[86,14,9,-12,0]},{&quot;name&quot;:&quot;Target&quot;,&quot;values&quot;:[null,null,null,null,110]}]},&quot;waterfall&quot;:{&quot;totalIndices&quot;:[4]},&quot;decorations&quot;:{&quot;categoryAxis&quot;:true}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heatmap&quot;,&quot;width&quot;:480,&quot;height&quot;:300,&quot;title&quot;:&quot;Heatmap with marginal totals&quot;,&quot;heatmap&quot;:{&quot;totals&quot;:&quot;both&quot;},&quot;data&quot;:{&quot;categories&quot;:[&quot;Q1&quot;,&quot;Q2&quot;,&quot;Q3&quot;,&quot;Q4&quot;],&quot;series&quot;:[{&quot;name&quot;:&quot;North&quot;,&quot;values&quot;:[42,48,51,58]},{&quot;name&quot;:&quot;South&quot;,&quot;values&quot;:[30,34,31,36]},{&quot;name&quot;:&quot;East&quot;,&quot;values&quot;:[22,25,29,33]}]}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Slope chart — market share, before vs after&quot;,&quot;data&quot;:{&quot;categories&quot;:[&quot;2020&quot;,&quot;2025&quot;],&quot;series&quot;:[{&quot;name&quot;:&quot;Brand A&quot;,&quot;values&quot;:[24,31]},{&quot;name&quot;:&quot;Brand B&quot;,&quot;values&quot;:[28,26]},{&quot;name&quot;:&quot;Brand C&quot;,&quot;values&quot;:[19,22]},{&quot;name&quot;:&quot;Private label&quot;,&quot;values&quot;:[12,18]}]},&quot;decorations&quot;:{&quot;slope&quot;:true},&quot;footnote&quot;:&quot;Source: internal market model, 2026&quot;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ffle&quot;,&quot;width&quot;:480,&quot;height&quot;:300,&quot;title&quot;:&quot;Waffle — order mix by channel&quot;,&quot;data&quot;:{&quot;categories&quot;:[&quot;Online&quot;,&quot;Retail&quot;,&quot;Wholesale&quot;],&quot;series&quot;:[{&quot;name&quot;:&quot;Orders&quot;,&quot;values&quot;:[52,33,15]}]}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pie&quot;,&quot;width&quot;:480,&quot;height&quot;:300,&quot;title&quot;:&quot;Bar-of-pie — revenue with the long tail detailed&quot;,&quot;data&quot;:{&quot;categories&quot;:[&quot;EMEA&quot;,&quot;Americas&quot;,&quot;APAC&quot;,&quot;Nordics&quot;,&quot;Benelux&quot;,&quot;DACH&quot;],&quot;series&quot;:[{&quot;name&quot;:&quot;Revenue&quot;,&quot;values&quot;:[80,100,60,20,15,25]}]},&quot;pie&quot;:{&quot;breakout&quot;:[3,4,5]}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Small multiples — one panel per brand, shared scale&quot;,&quot;multiples&quot;:{},&quot;data&quot;:{&quot;categories&quot;:[&quot;2022&quot;,&quot;2023&quot;,&quot;2024&quot;,&quot;2025&quot;],&quot;series&quot;:[{&quot;name&quot;:&quot;Brand A&quot;,&quot;values&quot;:[40,48,55,66]},{&quot;name&quot;:&quot;Brand B&quot;,&quot;values&quot;:[30,32,31,35]},{&quot;name&quot;:&quot;Brand C&quot;,&quot;values&quot;:[12,18,26,41]}]},&quot;decorations&quot;:{&quot;segmentLabels&quot;:false,&quot;valueAxis&quot;:true,&quot;gridlines&quot;:true}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ubble&quot;,&quot;width&quot;:480,&quot;height&quot;:300,&quot;title&quot;:&quot;Bubble size legend + quadrant matrix&quot;,&quot;data&quot;:{&quot;categories&quot;:[&quot;Alpha&quot;,&quot;Bravo&quot;,&quot;Core&quot;,&quot;Delta&quot;,&quot;Echo&quot;],&quot;series&quot;:[{&quot;name&quot;:&quot;X&quot;,&quot;values&quot;:[20,35,55,70,85]},{&quot;name&quot;:&quot;Y&quot;,&quot;values&quot;:[25,60,40,75,55]},{&quot;name&quot;:&quot;Size&quot;,&quot;values&quot;:[30,80,45,100,60]}]},&quot;decorations&quot;:{&quot;quadrants&quot;:{&quot;x&quot;:50,&quot;y&quot;:50,&quot;labels&quot;:[&quot;Question marks&quot;,&quot;Stars&quot;,&quot;Dogs&quot;,&quot;Cash cows&quot;]}}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Datamark axis (Tufte range frame)&quot;,&quot;data&quot;:{&quot;categories&quot;:[&quot;2021&quot;,&quot;2022&quot;,&quot;2023&quot;,&quot;2024&quot;,&quot;2025&quot;],&quot;series&quot;:[{&quot;name&quot;:&quot;Brand A&quot;,&quot;values&quot;:[48,52,55,61,66]},{&quot;name&quot;:&quot;Brand B&quot;,&quot;values&quot;:[40,42,41,45,49]}]},&quot;decorations&quot;:{&quot;segmentLabels&quot;:false,&quot;valueAxis&quot;:&quot;datamarks&quot;,&quot;tickMode&quot;:&quot;data&quot;,&quot;gridlines&quot;:false}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heatmap&quot;,&quot;width&quot;:480,&quot;height&quot;:300,&quot;title&quot;:&quot;Diverging heatmap (YoY change, %)&quot;,&quot;data&quot;:{&quot;categories&quot;:[&quot;Q1&quot;,&quot;Q2&quot;,&quot;Q3&quot;,&quot;Q4&quot;],&quot;series&quot;:[{&quot;name&quot;:&quot;North&quot;,&quot;values&quot;:[4,6,-2,8]},{&quot;name&quot;:&quot;South&quot;,&quot;values&quot;:[-5,-3,2,1]},{&quot;name&quot;:&quot;East&quot;,&quot;values&quot;:[1,3,5,9]}]}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tilemap&quot;,&quot;width&quot;:480,&quot;height&quot;:300,&quot;title&quot;:&quot;US tile map (auto-detected layout)&quot;,&quot;data&quot;:{&quot;categories&quot;:[&quot;CA&quot;,&quot;TX&quot;,&quot;NY&quot;,&quot;FL&quot;,&quot;IL&quot;,&quot;WA&quot;,&quot;MA&quot;,&quot;CO&quot;,&quot;GA&quot;,&quot;NC&quot;],&quot;series&quot;:[{&quot;name&quot;:&quot;Stores&quot;,&quot;values&quot;:[120,95,88,74,51,44,38,29,27,22]}]}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Highlighted max point (per-cell color on line)&quot;,&quot;data&quot;:{&quot;categories&quot;:[&quot;Jan&quot;,&quot;Feb&quot;,&quot;Mar&quot;,&quot;Apr&quot;,&quot;May&quot;],&quot;series&quot;:[{&quot;name&quot;:&quot;Orders&quot;,&quot;values&quot;:[120,135,178,150,162],&quot;colors&quot;:[null,null,&quot;#e34948&quot;,null,null]}]},&quot;decorations&quot;:{&quot;seriesLabels&quot;:false}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Stepped line (staircase)&quot;,&quot;data&quot;:{&quot;categories&quot;:[&quot;Jan&quot;,&quot;Feb&quot;,&quot;Mar&quot;,&quot;Apr&quot;,&quot;May&quot;,&quot;Jun&quot;],&quot;series&quot;:[{&quot;name&quot;:&quot;Base rate&quot;,&quot;values&quot;:[2,2,2.5,2.5,3,2.75]}]},&quot;decorations&quot;:{&quot;segmentLabels&quot;:false,&quot;valueAxis&quot;:true,&quot;gridlines&quot;:true,&quot;stepped&quot;:&quot;after&quot;}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area&quot;,&quot;width&quot;:480,&quot;height&quot;:300,&quot;title&quot;:&quot;Stepped area&quot;,&quot;data&quot;:{&quot;categories&quot;:[&quot;2021&quot;,&quot;2022&quot;,&quot;2023&quot;,&quot;2024&quot;,&quot;2025&quot;],&quot;series&quot;:[{&quot;name&quot;:&quot;Mobile&quot;,&quot;values&quot;:[20,32,45,60,74]},{&quot;name&quot;:&quot;Desktop&quot;,&quot;values&quot;:[35,37,36,34,30]}]},&quot;decorations&quot;:{&quot;segmentLabels&quot;:false,&quot;valueAxis&quot;:true,&quot;gridlines&quot;:true,&quot;stepped&quot;:&quot;before&quot;}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utterfly&quot;,&quot;width&quot;:480,&quot;height&quot;:300,&quot;title&quot;:&quot;Butterfly with value ticks on both flanks&quot;,&quot;data&quot;:{&quot;categories&quot;:[&quot;&lt;30&quot;,&quot;30–39&quot;,&quot;40–49&quot;,&quot;50–59&quot;,&quot;60+&quot;],&quot;series&quot;:[{&quot;name&quot;:&quot;Women&quot;,&quot;values&quot;:[420,610,540,320,120]},{&quot;name&quot;:&quot;Men&quot;,&quot;values&quot;:[380,650,600,410,160]}]},&quot;decorations&quot;:{&quot;segmentLabels&quot;:true,&quot;valueAxis&quot;:true,&quot;gridlines&quot;:true}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Clustered overlap (Excel-style, 45%)&quot;,&quot;data&quot;:{&quot;categories&quot;:[&quot;Q1&quot;,&quot;Q2&quot;,&quot;Q3&quot;,&quot;Q4&quot;],&quot;series&quot;:[{&quot;name&quot;:&quot;2024&quot;,&quot;values&quot;:[42,48,45,61]},{&quot;name&quot;:&quot;2025&quot;,&quot;values&quot;:[51,55,58,70]}]},&quot;decorations&quot;:{&quot;seriesLabels&quot;:true},&quot;overlap&quot;:4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Narrow gap width (histogram look, gapWidth 0)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totals&quot;:true},&quot;gapWidth&quot;:0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area&quot;,&quot;width&quot;:480,&quot;height&quot;:300,&quot;title&quot;:&quot;Area with negative values (net income over time)&quot;,&quot;data&quot;:{&quot;categories&quot;:[&quot;2020&quot;,&quot;2021&quot;,&quot;2022&quot;,&quot;2023&quot;,&quot;2024&quot;,&quot;2025&quot;],&quot;series&quot;:[{&quot;name&quot;:&quot;Net income&quot;,&quot;values&quot;:[12,-8,-15,4,18,26]}]},&quot;decorations&quot;:{&quot;segmentLabels&quot;:false,&quot;valueAxis&quot;:true,&quot;gridlines&quot;:true}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480,&quot;height&quot;:300,&quot;title&quot;:&quot;Trajectory trail (one entity over time)&quot;,&quot;data&quot;:{&quot;categories&quot;:[&quot;2019&quot;,&quot;2020&quot;,&quot;2021&quot;,&quot;2022&quot;,&quot;2023&quot;,&quot;2024&quot;],&quot;series&quot;:[{&quot;name&quot;:&quot;X&quot;,&quot;values&quot;:[20,28,33,45,52,60]},{&quot;name&quot;:&quot;Y&quot;,&quot;values&quot;:[30,26,40,38,55,68]}]},&quot;decorations&quot;:{&quot;trajectory&quot;:true}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oxplot&quot;,&quot;width&quot;:480,&quot;height&quot;:300,&quot;title&quot;:&quot;Boxplot with jittered raw-data dots&quot;,&quot;boxplot&quot;:{&quot;jitter&quot;:true},&quot;data&quot;:{&quot;categories&quot;:[&quot;North&quot;,&quot;South&quot;,&quot;East&quot;],&quot;series&quot;:[{&quot;name&quot;:&quot;s1&quot;,&quot;values&quot;:[4,6,3]},{&quot;name&quot;:&quot;s2&quot;,&quot;values&quot;:[5,7,4]},{&quot;name&quot;:&quot;s3&quot;,&quot;values&quot;:[6,7,5]},{&quot;name&quot;:&quot;s4&quot;,&quot;values&quot;:[5,9,4]},{&quot;name&quot;:&quot;s5&quot;,&quot;values&quot;:[7,8,6]},{&quot;name&quot;:&quot;s6&quot;,&quot;values&quot;:[6,11,5]},{&quot;name&quot;:&quot;s7&quot;,&quot;values&quot;:[8,7,7]},{&quot;name&quot;:&quot;s8&quot;,&quot;values&quot;:[5,10,4]},{&quot;name&quot;:&quot;s9&quot;,&quot;values&quot;:[9,8,6]},{&quot;name&quot;:&quot;s10&quot;,&quot;values&quot;:[6,12,5]}]},&quot;decorations&quot;:{&quot;categoryAxis&quot;:true,&quot;valueAxis&quot;:true}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480,&quot;height&quot;:300,&quot;title&quot;:&quot;Continuous color scale (a Color row)&quot;,&quot;data&quot;:{&quot;categories&quot;:[&quot;Alpha&quot;,&quot;Bravo&quot;,&quot;Core&quot;,&quot;Delta&quot;,&quot;Echo&quot;,&quot;Foxtrot&quot;,&quot;Golf&quot;,&quot;Hotel&quot;],&quot;series&quot;:[{&quot;name&quot;:&quot;X&quot;,&quot;values&quot;:[12,25,40,55,62,74,30,48]},{&quot;name&quot;:&quot;Y&quot;,&quot;values&quot;:[30,55,42,70,35,60,22,50]},{&quot;name&quot;:&quot;Color&quot;,&quot;values&quot;:[5,12,18,22,28,34,9,16]}]}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Smoothed line (Catmull-Rom)&quot;,&quot;data&quot;:{&quot;categories&quot;:[&quot;Jan&quot;,&quot;Feb&quot;,&quot;Mar&quot;,&quot;Apr&quot;,&quot;May&quot;,&quot;Jun&quot;,&quot;Jul&quot;],&quot;series&quot;:[{&quot;name&quot;:&quot;A&quot;,&quot;values&quot;:[20,45,30,55,40,62,48]},{&quot;name&quot;:&quot;B&quot;,&quot;values&quot;:[15,22,28,26,35,40,52]}]},&quot;decorations&quot;:{&quot;segmentLabels&quot;:false,&quot;valueAxis&quot;:true,&quot;gridlines&quot;:true,&quot;smooth&quot;:true}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terfall&quot;,&quot;width&quot;:480,&quot;height&quot;:300,&quot;title&quot;:&quot;Waterfall with grouping spacers&quot;,&quot;data&quot;:{&quot;categories&quot;:[&quot;FY23&quot;,&quot;Volume&quot;,&quot;Price&quot;,&quot;&quot;,&quot;Cost&quot;,&quot;FX&quot;,&quot;&quot;,&quot;FY24&quot;],&quot;series&quot;:[{&quot;name&quot;:&quot;Delta&quot;,&quot;values&quot;:[86,14,9,null,-12,-4,null,0]}]},&quot;waterfall&quot;:{&quot;totalIndices&quot;:[7],&quot;spacerIndices&quot;:[3,6]},&quot;decorations&quot;:{&quot;categoryAxis&quot;:true}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gantt&quot;,&quot;width&quot;:480,&quot;height&quot;:300,&quot;title&quot;:&quot;Gantt with auto-summary bars&quot;,&quot;data&quot;:{&quot;categories&quot;:[&quot;Phase 1: Discovery&quot;,&quot;&gt; Research&quot;,&quot;&gt; Interviews&quot;,&quot;Phase 2: Build&quot;,&quot;&gt; Backend&quot;,&quot;&gt; Frontend&quot;,&quot;&gt; QA&quot;],&quot;series&quot;:[{&quot;name&quot;:&quot;Start&quot;,&quot;values&quot;:[null,1,2,null,5,7,11]},{&quot;name&quot;:&quot;End&quot;,&quot;values&quot;:[null,4,5,null,10,12,13]}]},&quot;decorations&quot;:{&quot;summaryBars&quot;:true,&quot;segmentLabels&quot;:false}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oxplot&quot;,&quot;width&quot;:480,&quot;height&quot;:300,&quot;title&quot;:&quot;Notched boxplots (median CI)&quot;,&quot;boxplot&quot;:{&quot;notch&quot;:true},&quot;data&quot;:{&quot;categories&quot;:[&quot;A&quot;,&quot;B&quot;,&quot;C&quot;],&quot;series&quot;:[{&quot;name&quot;:&quot;o1&quot;,&quot;values&quot;:[10,14,20]},{&quot;name&quot;:&quot;o2&quot;,&quot;values&quot;:[12,15,22]},{&quot;name&quot;:&quot;o3&quot;,&quot;values&quot;:[13,16,23]},{&quot;name&quot;:&quot;o4&quot;,&quot;values&quot;:[14,17,25]},{&quot;name&quot;:&quot;o5&quot;,&quot;values&quot;:[15,18,26]},{&quot;name&quot;:&quot;o6&quot;,&quot;values&quot;:[16,19,28]},{&quot;name&quot;:&quot;o7&quot;,&quot;values&quot;:[17,20,30]},{&quot;name&quot;:&quot;o8&quot;,&quot;values&quot;:[18,22,33]},{&quot;name&quot;:&quot;o9&quot;,&quot;values&quot;:[20,24,36]},{&quot;name&quot;:&quot;o10&quot;,&quot;values&quot;:[22,27,40]}]},&quot;decorations&quot;:{&quot;categoryAxis&quot;:true,&quot;valueAxis&quot;:true}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radar&quot;,&quot;width&quot;:480,&quot;height&quot;:300,&quot;title&quot;:&quot;Radar peer range + us&quot;,&quot;scale&quot;:{&quot;min&quot;:0,&quot;max&quot;:5},&quot;data&quot;:{&quot;categories&quot;:[&quot;Strategy&quot;,&quot;Data&quot;,&quot;Talent&quot;,&quot;Process&quot;,&quot;Tech&quot;,&quot;Culture&quot;],&quot;series&quot;:[{&quot;name&quot;:&quot;Peer 1&quot;,&quot;values&quot;:[3,2,4,3,3,2]},{&quot;name&quot;:&quot;Peer 2&quot;,&quot;values&quot;:[2,3,3,4,2,3]},{&quot;name&quot;:&quot;Peer 3&quot;,&quot;values&quot;:[4,4,2,3,4,3]},{&quot;name&quot;:&quot;Us&quot;,&quot;values&quot;:[3,4,4,2,5,4]}]},&quot;decorations&quot;:{&quot;seriesLabels&quot;:true,&quot;radarBand&quot;:true}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Long tail collapsed into Other (otherBucket)&quot;,&quot;otherBucket&quot;:{&quot;max&quot;:5},&quot;data&quot;:{&quot;categories&quot;:[&quot;2023&quot;,&quot;2024&quot;,&quot;2025&quot;],&quot;series&quot;:[{&quot;name&quot;:&quot;Enterprise&quot;,&quot;values&quot;:[40,46,52]},{&quot;name&quot;:&quot;SMB&quot;,&quot;values&quot;:[22,26,31]},{&quot;name&quot;:&quot;Consumer&quot;,&quot;values&quot;:[18,17,19]},{&quot;name&quot;:&quot;Gov&quot;,&quot;values&quot;:[6,7,8]},{&quot;name&quot;:&quot;Edu&quot;,&quot;values&quot;:[4,5,5]},{&quot;name&quot;:&quot;NGO&quot;,&quot;values&quot;:[3,3,4]},{&quot;name&quot;:&quot;Startup&quot;,&quot;values&quot;:[2,3,3]}]},&quot;decorations&quot;:{&quot;totals&quot;:true}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heatmap&quot;,&quot;width&quot;:480,&quot;height&quot;:300,&quot;title&quot;:&quot;Calendar heatmap (daily commits)&quot;,&quot;heatmap&quot;:{&quot;calendar&quot;:true},&quot;data&quot;:{&quot;categories&quot;:[&quot;2025-01-06&quot;,&quot;2025-01-07&quot;,&quot;2025-01-08&quot;,&quot;2025-01-09&quot;,&quot;2025-01-10&quot;,&quot;2025-01-11&quot;,&quot;2025-01-12&quot;,&quot;2025-01-13&quot;,&quot;2025-01-14&quot;,&quot;2025-01-15&quot;,&quot;2025-01-16&quot;,&quot;2025-01-17&quot;,&quot;2025-01-18&quot;,&quot;2025-01-19&quot;,&quot;2025-01-20&quot;,&quot;2025-01-21&quot;,&quot;2025-01-22&quot;,&quot;2025-01-23&quot;,&quot;2025-01-24&quot;,&quot;2025-01-25&quot;,&quot;2025-01-26&quot;,&quot;2025-01-27&quot;,&quot;2025-01-28&quot;,&quot;2025-01-29&quot;,&quot;2025-01-30&quot;,&quot;2025-01-31&quot;,&quot;2025-02-01&quot;,&quot;2025-02-02&quot;,&quot;2025-02-03&quot;,&quot;2025-02-04&quot;],&quot;series&quot;:[{&quot;name&quot;:&quot;Commits&quot;,&quot;values&quot;:[3,5,2,8,4,0,0,6,1,9,7,3,0,0,5,8,2,4,6,0,0,10,3,5,7,2,0,0,4,6]}]}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utterfly&quot;,&quot;width&quot;:480,&quot;height&quot;:300,&quot;title&quot;:&quot;Butterfly with stacked flanks&quot;,&quot;butterfly&quot;:{&quot;split&quot;:2},&quot;data&quot;:{&quot;categories&quot;:[&quot;&lt;30&quot;,&quot;30–39&quot;,&quot;40–49&quot;,&quot;50–59&quot;,&quot;60+&quot;],&quot;series&quot;:[{&quot;name&quot;:&quot;Women FT&quot;,&quot;values&quot;:[220,340,300,180,60]},{&quot;name&quot;:&quot;Women PT&quot;,&quot;values&quot;:[200,270,240,140,60]},{&quot;name&quot;:&quot;Men FT&quot;,&quot;values&quot;:[240,420,400,280,110]},{&quot;name&quot;:&quot;Men PT&quot;,&quot;values&quot;:[140,230,200,130,50]}]},&quot;decorations&quot;:{&quot;segmentLabels&quot;:true}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radar&quot;,&quot;width&quot;:480,&quot;height&quot;:300,&quot;title&quot;:&quot;Radar with per-spoke scales (mixed KPIs)&quot;,&quot;radar&quot;:{&quot;perSpoke&quot;:true},&quot;data&quot;:{&quot;categories&quot;:[&quot;Revenue $m&quot;,&quot;NPS&quot;,&quot;Churn %&quot;,&quot;Headcount&quot;,&quot;Uptime %&quot;],&quot;series&quot;:[{&quot;name&quot;:&quot;2024&quot;,&quot;values&quot;:[120,42,8,340,99.2]},{&quot;name&quot;:&quot;2025&quot;,&quot;values&quot;:[155,55,5,410,99.7]}]},&quot;decorations&quot;:{&quot;seriesLabels&quot;:true}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Missing-data bridge (bridgeGaps)&quot;,&quot;data&quot;:{&quot;categories&quot;:[&quot;Jan&quot;,&quot;Feb&quot;,&quot;Mar&quot;,&quot;Apr&quot;,&quot;May&quot;,&quot;Jun&quot;],&quot;series&quot;:[{&quot;name&quot;:&quot;Signups&quot;,&quot;values&quot;:[20,null,35,null,30,48]}]},&quot;decorations&quot;:{&quot;segmentLabels&quot;:false,&quot;valueAxis&quot;:true,&quot;gridlines&quot;:true,&quot;bridgeGaps&quot;:true}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Floating range columns (transparent base)&quot;,&quot;data&quot;:{&quot;categories&quot;:[&quot;Q1&quot;,&quot;Q2&quot;,&quot;Q3&quot;,&quot;Q4&quot;],&quot;series&quot;:[{&quot;name&quot;:&quot;Floor&quot;,&quot;color&quot;:&quot;transparent&quot;,&quot;values&quot;:[10,14,12,18]},{&quot;name&quot;:&quot;Range&quot;,&quot;values&quot;:[20,18,24,16]}]},&quot;decorations&quot;:{&quot;segmentLabels&quot;:true}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480,&quot;height&quot;:300,&quot;title&quot;:&quot;Combo: waterfall bridge + %-of-total line&quot;,&quot;secondaryAxis&quot;:true,&quot;combo&quot;:{&quot;columns&quot;:&quot;waterfall&quot;},&quot;waterfall&quot;:{&quot;totalIndices&quot;:[5]},&quot;data&quot;:{&quot;categories&quot;:[&quot;Start&quot;,&quot;Q1&quot;,&quot;Q2&quot;,&quot;Q3&quot;,&quot;Q4&quot;,&quot;End&quot;],&quot;series&quot;:[{&quot;name&quot;:&quot;Delta&quot;,&quot;values&quot;:[100,20,-15,25,-10,0]},{&quot;name&quot;:&quot;Margin %&quot;,&quot;type&quot;:&quot;line&quot;,&quot;values&quot;:[40,42,38,44,41,43]}]},&quot;decorations&quot;:{&quot;segmentLabels&quot;:true,&quot;seriesLabels&quot;:true}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480,&quot;height&quot;:300,&quot;title&quot;:&quot;Combo: Mekko base + overlaid line&quot;,&quot;secondaryAxis&quot;:true,&quot;combo&quot;:{&quot;columns&quot;:&quot;mekko&quot;},&quot;data&quot;:{&quot;categories&quot;:[&quot;EMEA&quot;,&quot;Americas&quot;,&quot;APAC&quot;],&quot;series&quot;:[{&quot;name&quot;:&quot;Prod A&quot;,&quot;values&quot;:[30,45,20]},{&quot;name&quot;:&quot;Prod B&quot;,&quot;values&quot;:[20,25,30]},{&quot;name&quot;:&quot;Share %&quot;,&quot;type&quot;:&quot;line&quot;,&quot;values&quot;:[62,70,45]}]},&quot;decorations&quot;:{&quot;seriesLabels&quot;:true}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480,&quot;height&quot;:300,&quot;title&quot;:&quot;Combo: independent line axes (mixed KPIs)&quot;,&quot;combo&quot;:{&quot;lineAxes&quot;:&quot;independent&quot;},&quot;data&quot;:{&quot;categories&quot;:[&quot;Jan&quot;,&quot;Feb&quot;,&quot;Mar&quot;,&quot;Apr&quot;],&quot;series&quot;:[{&quot;name&quot;:&quot;Revenue&quot;,&quot;values&quot;:[40,48,45,60]},{&quot;name&quot;:&quot;NPS&quot;,&quot;type&quot;:&quot;line&quot;,&quot;values&quot;:[30,45,42,55]},{&quot;name&quot;:&quot;Orders k&quot;,&quot;type&quot;:&quot;line&quot;,&quot;values&quot;:[1200,1500,1400,1900]}]},&quot;decorations&quot;:{&quot;seriesLabels&quot;:true}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tilemap&quot;,&quot;width&quot;:480,&quot;height&quot;:300,&quot;title&quot;:&quot;Hexagonal tile map (US)&quot;,&quot;map&quot;:&quot;us&quot;,&quot;tilemap&quot;:{&quot;shape&quot;:&quot;hex&quot;},&quot;data&quot;:{&quot;categories&quot;:[&quot;CA&quot;,&quot;TX&quot;,&quot;NY&quot;,&quot;FL&quot;,&quot;IL&quot;,&quot;WA&quot;,&quot;MA&quot;,&quot;CO&quot;,&quot;GA&quot;,&quot;NC&quot;,&quot;OH&quot;,&quot;PA&quot;,&quot;MI&quot;,&quot;AZ&quot;,&quot;VA&quot;],&quot;series&quot;:[{&quot;name&quot;:&quot;Stores&quot;,&quot;values&quot;:[120,95,88,74,51,44,38,29,27,22,40,55,33,25,30]}]},&quot;decorations&quot;:{&quot;segmentLabels&quot;:true}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tilemap&quot;,&quot;width&quot;:480,&quot;height&quot;:300,&quot;title&quot;:&quot;Tile map with per-region mini-bars&quot;,&quot;map&quot;:&quot;us&quot;,&quot;tilemap&quot;:{&quot;glyph&quot;:&quot;bars&quot;},&quot;data&quot;:{&quot;categories&quot;:[&quot;CA&quot;,&quot;TX&quot;,&quot;NY&quot;,&quot;FL&quot;,&quot;IL&quot;,&quot;WA&quot;],&quot;series&quot;:[{&quot;name&quot;:&quot;Q1&quot;,&quot;values&quot;:[30,20,18,15,12,10]},{&quot;name&quot;:&quot;Q2&quot;,&quot;values&quot;:[35,25,20,17,14,12]},{&quot;name&quot;:&quot;Q3&quot;,&quot;values&quot;:[40,28,22,19,15,13]},{&quot;name&quot;:&quot;Q4&quot;,&quot;values&quot;:[48,32,26,22,18,16]}]}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100&quot;,&quot;width&quot;:480,&quot;height&quot;:300,&quot;title&quot;:&quot;100% chart with negative segments&quot;,&quot;data&quot;:{&quot;categories&quot;:[&quot;Q1&quot;,&quot;Q2&quot;,&quot;Q3&quot;],&quot;series&quot;:[{&quot;name&quot;:&quot;New&quot;,&quot;values&quot;:[60,70,80]},{&quot;name&quot;:&quot;Renewal&quot;,&quot;values&quot;:[40,45,50]},{&quot;name&quot;:&quot;Returns&quot;,&quot;values&quot;:[-15,-10,-20]}]},&quot;decorations&quot;:{&quot;segmentLabels&quot;:true,&quot;valueAxis&quot;:true,&quot;gridlines&quot;:true}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doughnut&quot;,&quot;width&quot;:480,&quot;height&quot;:300,&quot;title&quot;:&quot;Semi-circle gauge (market share)&quot;,&quot;pie&quot;:{&quot;semi&quot;:true},&quot;data&quot;:{&quot;categories&quot;:[&quot;Us&quot;,&quot;Rival A&quot;,&quot;Rival B&quot;,&quot;Others&quot;],&quot;series&quot;:[{&quot;name&quot;:&quot;Share&quot;,&quot;values&quot;:[42,28,18,12]}]},&quot;decorations&quot;:{&quot;segmentLabels&quot;:true}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Pareto chart (defect causes)&quot;,&quot;pareto&quot;:true,&quot;data&quot;:{&quot;categories&quot;:[&quot;Scratches&quot;,&quot;Dents&quot;,&quot;Misalign&quot;,&quot;Cracks&quot;,&quot;Paint&quot;,&quot;Other&quot;],&quot;series&quot;:[{&quot;name&quot;:&quot;Defects&quot;,&quot;values&quot;:[120,80,45,30,15,10]}]},&quot;decorations&quot;:{&quot;seriesLabels&quot;:true}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Bump chart (brand rank by year)&quot;,&quot;data&quot;:{&quot;categories&quot;:[&quot;2021&quot;,&quot;2022&quot;,&quot;2023&quot;,&quot;2024&quot;,&quot;2025&quot;],&quot;series&quot;:[{&quot;name&quot;:&quot;Acme&quot;,&quot;values&quot;:[1,2,2,1,1]},{&quot;name&quot;:&quot;Globex&quot;,&quot;values&quot;:[2,1,1,3,2]},{&quot;name&quot;:&quot;Initech&quot;,&quot;values&quot;:[3,3,4,2,3]},{&quot;name&quot;:&quot;Umbrella&quot;,&quot;values&quot;:[4,4,3,4,5]},{&quot;name&quot;:&quot;Soylent&quot;,&quot;values&quot;:[5,5,5,5,4]}]},&quot;decorations&quot;:{&quot;bump&quot;:true}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Horizontal profile chart (line)&quot;,&quot;horizontal&quot;:true,&quot;data&quot;:{&quot;categories&quot;:[&quot;Strategy&quot;,&quot;Execution&quot;,&quot;Culture&quot;,&quot;Innovation&quot;,&quot;Finance&quot;,&quot;Talent&quot;],&quot;series&quot;:[{&quot;name&quot;:&quot;Score&quot;,&quot;values&quot;:[72,58,80,65,90,48]}]},&quot;decorations&quot;:{&quot;segmentLabels&quot;:true,&quot;categoryAxis&quot;:true,&quot;valueAxis&quot;:true,&quot;gridlines&quot;:true}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area&quot;,&quot;width&quot;:480,&quot;height&quot;:300,&quot;title&quot;:&quot;Horizontal profile chart (stacked area)&quot;,&quot;horizontal&quot;:true,&quot;data&quot;:{&quot;categories&quot;:[&quot;North&quot;,&quot;South&quot;,&quot;East&quot;,&quot;West&quot;,&quot;Central&quot;],&quot;series&quot;:[{&quot;name&quot;:&quot;Retail&quot;,&quot;values&quot;:[40,55,30,48,35]},{&quot;name&quot;:&quot;Online&quot;,&quot;values&quot;:[25,20,35,22,30]}]},&quot;decorations&quot;:{&quot;seriesLabels&quot;:true,&quot;categoryAxis&quot;:true,&quot;valueAxis&quot;:true,&quot;gridlines&quot;:true}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treemap&quot;,&quot;width&quot;:480,&quot;height&quot;:300,&quot;title&quot;:&quot;Two-level treemap (region | product)&quot;,&quot;data&quot;:{&quot;categories&quot;:[&quot;EMEA | Cloud&quot;,&quot;EMEA | Licenses&quot;,&quot;EMEA | Services&quot;,&quot;Americas | Cloud&quot;,&quot;Americas | Licenses&quot;,&quot;APAC | Cloud&quot;,&quot;APAC | Hardware&quot;,&quot;APAC | Services&quot;],&quot;series&quot;:[{&quot;name&quot;:&quot;Revenue&quot;,&quot;values&quot;:[60,40,25,80,50,45,30,20]}]},&quot;decorations&quot;:{&quot;segmentLabels&quot;:true}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unburst&quot;,&quot;width&quot;:480,&quot;height&quot;:300,&quot;title&quot;:&quot;Sunburst (region → product)&quot;,&quot;data&quot;:{&quot;categories&quot;:[&quot;EMEA | Cloud&quot;,&quot;EMEA | Licenses&quot;,&quot;EMEA | Services&quot;,&quot;Americas | Cloud&quot;,&quot;Americas | Licenses&quot;,&quot;APAC | Cloud&quot;,&quot;APAC | Hardware&quot;],&quot;series&quot;:[{&quot;name&quot;:&quot;Revenue&quot;,&quot;values&quot;:[60,40,25,80,50,45,30]}]},&quot;decorations&quot;:{&quot;segmentLabels&quot;:true}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violin&quot;,&quot;width&quot;:480,&quot;height&quot;:300,&quot;title&quot;:&quot;Response-time distribution (ms)&quot;,&quot;data&quot;:{&quot;categories&quot;:[&quot;API&quot;,&quot;Web&quot;,&quot;Batch&quot;],&quot;series&quot;:[{&quot;name&quot;:&quot;s1&quot;,&quot;values&quot;:[90,140,300]},{&quot;name&quot;:&quot;s2&quot;,&quot;values&quot;:[94,149,322]},{&quot;name&quot;:&quot;s3&quot;,&quot;values&quot;:[98,158,344]},{&quot;name&quot;:&quot;s4&quot;,&quot;values&quot;:[102,167,366]},{&quot;name&quot;:&quot;s5&quot;,&quot;values&quot;:[106,176,388]},{&quot;name&quot;:&quot;s6&quot;,&quot;values&quot;:[110,185,410]},{&quot;name&quot;:&quot;s7&quot;,&quot;values&quot;:[114,194,432]},{&quot;name&quot;:&quot;s8&quot;,&quot;values&quot;:[118,203,454]},{&quot;name&quot;:&quot;s9&quot;,&quot;values&quot;:[122,212,476]},{&quot;name&quot;:&quot;s10&quot;,&quot;values&quot;:[126,221,498]}]},&quot;decorations&quot;:{&quot;categoryAxis&quot;:true,&quot;valueAxis&quot;:true}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andlestick&quot;,&quot;width&quot;:480,&quot;height&quot;:300,&quot;title&quot;:&quot;Share price — last two weeks&quot;,&quot;data&quot;:{&quot;categories&quot;:[&quot;D1&quot;,&quot;D2&quot;,&quot;D3&quot;,&quot;D4&quot;,&quot;D5&quot;,&quot;D6&quot;,&quot;D7&quot;,&quot;D8&quot;,&quot;D9&quot;,&quot;D10&quot;],&quot;series&quot;:[{&quot;name&quot;:&quot;Open&quot;,&quot;values&quot;:[40,42,45,44,47,46,43,45,48,47]},{&quot;name&quot;:&quot;High&quot;,&quot;values&quot;:[43,46,47,48,49,47,46,49,50,49]},{&quot;name&quot;:&quot;Low&quot;,&quot;values&quot;:[39,41,43,43,45,42,42,44,46,45]},{&quot;name&quot;:&quot;Close&quot;,&quot;values&quot;:[42,45,44,47,46,43,45,48,47,46]}]},&quot;decorations&quot;:{&quot;valueAxis&quot;:true}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gantt&quot;,&quot;width&quot;:560,&quot;height&quot;:300,&quot;title&quot;:&quot;Launch plan — critical path highlighted&quot;,&quot;data&quot;:{&quot;categories&quot;:[&quot;Research&quot;,&quot;Design&quot;,&quot;Build&quot;,&quot;Copywriting&quot;,&quot;QA&quot;,&quot;Launch&quot;],&quot;series&quot;:[{&quot;name&quot;:&quot;Start&quot;,&quot;values&quot;:[1,3,8,3,14,18]},{&quot;name&quot;:&quot;End&quot;,&quot;values&quot;:[3,8,14,5,18,20]},{&quot;name&quot;:&quot;After&quot;,&quot;values&quot;:[null,1,2,1,3,5]}]},&quot;decorations&quot;:{&quot;criticalPath&quot;:true}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oxplot&quot;,&quot;width&quot;:480,&quot;height&quot;:300,&quot;title&quot;:&quot;Assay reproducibility (mean ± SD)&quot;,&quot;data&quot;:{&quot;categories&quot;:[&quot;Lot A&quot;,&quot;Lot B&quot;,&quot;Lot C&quot;],&quot;series&quot;:[{&quot;name&quot;:&quot;r1&quot;,&quot;values&quot;:[95,90,74]},{&quot;name&quot;:&quot;r2&quot;,&quot;values&quot;:[100,93,77]},{&quot;name&quot;:&quot;r3&quot;,&quot;values&quot;:[98,96,80]},{&quot;name&quot;:&quot;r4&quot;,&quot;values&quot;:[96,90,83]},{&quot;name&quot;:&quot;r5&quot;,&quot;values&quot;:[101,93,86]},{&quot;name&quot;:&quot;r6&quot;,&quot;values&quot;:[99,96,89]},{&quot;name&quot;:&quot;r7&quot;,&quot;values&quot;:[97,90,92]},{&quot;name&quot;:&quot;r8&quot;,&quot;values&quot;:[95,93,95]}]},&quot;boxplot&quot;:{&quot;meanSd&quot;:true},&quot;decorations&quot;:{&quot;valueAxis&quot;:true,&quot;segmentLabels&quot;:true}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260,&quot;title&quot;:&quot;KPI sparklines — last 12 weeks&quot;,&quot;data&quot;:{&quot;categories&quot;:[&quot;w1&quot;,&quot;w2&quot;,&quot;w3&quot;,&quot;w4&quot;,&quot;w5&quot;,&quot;w6&quot;,&quot;w7&quot;,&quot;w8&quot;,&quot;w9&quot;,&quot;w10&quot;,&quot;w11&quot;,&quot;w12&quot;],&quot;series&quot;:[{&quot;name&quot;:&quot;Signups&quot;,&quot;values&quot;:[40,44,42,50,48,60,58,72,66,80,78,92]},{&quot;name&quot;:&quot;Revenue&quot;,&quot;values&quot;:[12,13,15,14,18,17,22,25,24,30,34,33]},{&quot;name&quot;:&quot;Churn %&quot;,&quot;values&quot;:[5.1,4.8,4.9,4.4,4.6,4,3.8,3.9,3.3,3.1,2.9,2.7]},{&quot;name&quot;:&quot;NPS&quot;,&quot;values&quot;:[30,32,31,35,38,40,39,44,47,46,52,55]}]},&quot;multiples&quot;:{&quot;columns&quot;:1},&quot;decorations&quot;:{&quot;sparkline&quot;:true}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radar&quot;,&quot;width&quot;:420,&quot;height&quot;:320,&quot;title&quot;:&quot;Monthly sales (radial bars)&quot;,&quot;data&quot;:{&quot;categories&quot;:[&quot;Jan&quot;,&quot;Feb&quot;,&quot;Mar&quot;,&quot;Apr&quot;,&quot;May&quot;,&quot;Jun&quot;,&quot;Jul&quot;,&quot;Aug&quot;],&quot;series&quot;:[{&quot;name&quot;:&quot;Units&quot;,&quot;values&quot;:[40,55,30,70,62,48,80,35]}]},&quot;radar&quot;:{&quot;bars&quot;:true}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radar&quot;,&quot;width&quot;:460,&quot;height&quot;:320,&quot;title&quot;:&quot;Team capability (stacked radar)&quot;,&quot;data&quot;:{&quot;categories&quot;:[&quot;Strategy&quot;,&quot;Delivery&quot;,&quot;Design&quot;,&quot;Data&quot;,&quot;Comms&quot;,&quot;Ops&quot;],&quot;series&quot;:[{&quot;name&quot;:&quot;Alice&quot;,&quot;values&quot;:[4,3,5,2,4,3]},{&quot;name&quot;:&quot;Bob&quot;,&quot;values&quot;:[3,4,2,5,3,4]},{&quot;name&quot;:&quot;Cara&quot;,&quot;values&quot;:[2,3,3,3,5,2]}]},&quot;radar&quot;:{&quot;stacked&quot;:true},&quot;decorations&quot;:{&quot;seriesLabels&quot;:true}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pie&quot;,&quot;width&quot;:460,&quot;height&quot;:320,&quot;title&quot;:&quot;Region share (angle = revenue, radius = margin)&quot;,&quot;data&quot;:{&quot;categories&quot;:[&quot;EMEA&quot;,&quot;Americas&quot;,&quot;APAC&quot;,&quot;LatAm&quot;],&quot;series&quot;:[{&quot;name&quot;:&quot;Revenue&quot;,&quot;values&quot;:[45,30,18,7]},{&quot;name&quot;:&quot;Radius&quot;,&quot;values&quot;:[90,55,70,40]}]},&quot;pie&quot;:{&quot;variableRadius&quot;:true},&quot;decorations&quot;:{&quot;segmentLabels&quot;:true}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heatmap&quot;,&quot;width&quot;:460,&quot;height&quot;:320,&quot;title&quot;:&quot;Correlation matrix — size = magnitude, +/− marks the direction&quot;,&quot;data&quot;:{&quot;categories&quot;:[&quot;Rev&quot;,&quot;Cost&quot;,&quot;Head&quot;,&quot;NPS&quot;,&quot;Churn&quot;],&quot;series&quot;:[{&quot;name&quot;:&quot;Rev&quot;,&quot;values&quot;:[1,0.8,0.6,0.5,-0.7]},{&quot;name&quot;:&quot;Cost&quot;,&quot;values&quot;:[0.8,1,0.7,0.1,-0.3]},{&quot;name&quot;:&quot;Head&quot;,&quot;values&quot;:[0.6,0.7,1,0.2,-0.2]},{&quot;name&quot;:&quot;NPS&quot;,&quot;values&quot;:[0.5,0.1,0.2,1,-0.9]},{&quot;name&quot;:&quot;Churn&quot;,&quot;values&quot;:[-0.7,-0.3,-0.2,-0.9,1]}]},&quot;heatmap&quot;:{&quot;sizeEncode&quot;:true,&quot;mode&quot;:&quot;diverging&quot;,&quot;symbols&quot;:&quot;sign&quot;}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heatmap&quot;,&quot;width&quot;:500,&quot;height&quot;:320,&quot;title&quot;:&quot;Region KPIs (rows clustered)&quot;,&quot;data&quot;:{&quot;categories&quot;:[&quot;Q1&quot;,&quot;Q2&quot;,&quot;Q3&quot;,&quot;Q4&quot;],&quot;series&quot;:[{&quot;name&quot;:&quot;North&quot;,&quot;values&quot;:[80,82,85,88]},{&quot;name&quot;:&quot;South&quot;,&quot;values&quot;:[20,22,19,25]},{&quot;name&quot;:&quot;East&quot;,&quot;values&quot;:[78,80,83,90]},{&quot;name&quot;:&quot;West&quot;,&quot;values&quot;:[22,18,24,21]},{&quot;name&quot;:&quot;Central&quot;,&quot;values&quot;:[50,52,48,55]},{&quot;name&quot;:&quot;Metro&quot;,&quot;values&quot;:[81,79,86,87]}]},&quot;heatmap&quot;:{&quot;cluster&quot;:true},&quot;decorations&quot;:{&quot;segmentLabels&quot;:true}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520,&quot;height&quot;:320,&quot;title&quot;:&quot;Revenue mix (stacked area) + margin %&quot;,&quot;data&quot;:{&quot;categories&quot;:[&quot;Jan&quot;,&quot;Feb&quot;,&quot;Mar&quot;,&quot;Apr&quot;,&quot;May&quot;,&quot;Jun&quot;],&quot;series&quot;:[{&quot;name&quot;:&quot;Cloud&quot;,&quot;values&quot;:[20,24,28,30,35,40]},{&quot;name&quot;:&quot;Licenses&quot;,&quot;values&quot;:[15,14,16,15,17,18]},{&quot;name&quot;:&quot;Services&quot;,&quot;values&quot;:[10,11,12,14,13,15]},{&quot;name&quot;:&quot;Margin %&quot;,&quot;type&quot;:&quot;line&quot;,&quot;values&quot;:[22,24,26,25,28,30]}]},&quot;combo&quot;:{&quot;columns&quot;:&quot;area&quot;},&quot;secondaryAxis&quot;:true,&quot;decorations&quot;:{&quot;seriesLabels&quot;:true}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gantt&quot;,&quot;width&quot;:620,&quot;height&quot;:260,&quot;title&quot;:&quot;Programme plan — cost and effort beside the bars&quot;,&quot;data&quot;:{&quot;categories&quot;:[&quot;Discovery | Ana&quot;,&quot;&gt; Research | Ana&quot;,&quot;&gt; Concept | Ana&quot;,&quot;Delivery | Ben&quot;,&quot;&gt; Build | Ben&quot;,&quot;&gt; QA | Cara&quot;],&quot;series&quot;:[{&quot;name&quot;:&quot;Start&quot;,&quot;values&quot;:[null,0,3,null,5,11]},{&quot;name&quot;:&quot;End&quot;,&quot;values&quot;:[null,3,5,null,11,14]},{&quot;name&quot;:&quot;Column Cost k€&quot;,&quot;values&quot;:[120,45,75,260,190.5,69.5]},{&quot;name&quot;:&quot;Column FTE&quot;,&quot;values&quot;:[2,1,1,3,2,1]}]},&quot;decorations&quot;:{&quot;summaryBars&quot;:true}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gantt&quot;,&quot;width&quot;:560,&quot;height&quot;:240,&quot;title&quot;:&quot;Working-day timeline — weekends carry no width&quot;,&quot;data&quot;:{&quot;categories&quot;:[&quot;Spec&quot;,&quot;Build&quot;,&quot;Review&quot;,&quot;Ship&quot;],&quot;series&quot;:[{&quot;name&quot;:&quot;Start&quot;,&quot;values&quot;:[20458,20461,20468,20473]},{&quot;name&quot;:&quot;End&quot;,&quot;values&quot;:[20461,20468,20473,20475]},{&quot;name&quot;:&quot;Holiday&quot;,&quot;values&quot;:[20466,null,null,null]},{&quot;name&quot;:&quot;After&quot;,&quot;values&quot;:[null,1,2,3]}],&quot;dates&quot;:true},&quot;gantt&quot;:{&quot;workdays&quot;:true}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520,&quot;height&quot;:320,&quot;title&quot;:&quot;Marginal histograms — distribution beside the relationship&quot;,&quot;data&quot;:{&quot;categories&quot;:[&quot;A1&quot;,&quot;A2&quot;,&quot;A3&quot;,&quot;A4&quot;,&quot;A5&quot;,&quot;A6&quot;,&quot;A7&quot;,&quot;A8&quot;,&quot;A9&quot;,&quot;A10&quot;,&quot;A11&quot;,&quot;A12&quot;,&quot;A13&quot;,&quot;A14&quot;,&quot;A15&quot;,&quot;A16&quot;,&quot;A17&quot;,&quot;A18&quot;,&quot;A19&quot;,&quot;A20&quot;,&quot;A21&quot;,&quot;A22&quot;,&quot;A23&quot;,&quot;A24&quot;,&quot;A25&quot;,&quot;A26&quot;,&quot;A27&quot;,&quot;A28&quot;,&quot;A29&quot;,&quot;A30&quot;,&quot;A31&quot;,&quot;A32&quot;,&quot;A33&quot;,&quot;A34&quot;,&quot;A35&quot;,&quot;A36&quot;,&quot;A37&quot;,&quot;A38&quot;,&quot;A39&quot;,&quot;A40&quot;],&quot;series&quot;:[{&quot;name&quot;:&quot;X&quot;,&quot;values&quot;:[18,25,32,39,24,31,38,23,30,37,22,29,36,21,28,35,20,27,34,19,26,33,75,80,55,60,65,70,75,80,55,60,65,70,75,80,55,60,65,70]},{&quot;name&quot;:&quot;Y&quot;,&quot;values&quot;:[22,33,44,29,40,25,36,47,32,43,28,39,24,35,46,31,42,27,38,23,34,45,84,53,56,59,62,65,68,71,74,77,80,83,52,55,58,61,64,67]}]},&quot;decorations&quot;:{&quot;marginals&quot;:&quot;both&quot;,&quot;segmentLabels&quot;:false}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ubble&quot;,&quot;width&quot;:520,&quot;height&quot;:300,&quot;title&quot;:&quot;Overlap relief — markers nudged along Y only, by a disclosed cap&quot;,&quot;data&quot;:{&quot;categories&quot;:[&quot;Alfa&quot;,&quot;Bravo&quot;,&quot;Charlie&quot;,&quot;Delta&quot;,&quot;Echo&quot;,&quot;Foxtrot&quot;,&quot;Golf&quot;,&quot;Hotel&quot;],&quot;series&quot;:[{&quot;name&quot;:&quot;X&quot;,&quot;values&quot;:[30,31,32,30.5,68,69,70,68.5]},{&quot;name&quot;:&quot;Y&quot;,&quot;values&quot;:[40,41,39,40.5,62,61,63,62.5]},{&quot;name&quot;:&quot;Size&quot;,&quot;values&quot;:[70,55,60,45,80,50,65,40]}]},&quot;scatter&quot;:{&quot;spread&quot;:&quot;y&quot;,&quot;spreadLimit&quot;:6}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520,&quot;height&quot;:300,&quot;title&quot;:&quot;Shape per group — the split survives greyscale and color blindness&quot;,&quot;data&quot;:{&quot;categories&quot;:[&quot;Northwind&quot;,&quot;Acme&quot;,&quot;Globex&quot;,&quot;Initech&quot;,&quot;Umbra&quot;,&quot;Soylent&quot;,&quot;Vandelay&quot;,&quot;Hooli&quot;,&quot;Stark&quot;,&quot;Wayne&quot;,&quot;Tyrell&quot;,&quot;Cyberdyne&quot;],&quot;series&quot;:[{&quot;name&quot;:&quot;X&quot;,&quot;values&quot;:[12,18,22,15,44,51,47,55,74,81,78,85]},{&quot;name&quot;:&quot;Y&quot;,&quot;values&quot;:[30,41,25,36,55,48,62,51,72,66,80,74]},{&quot;name&quot;:&quot;Group&quot;,&quot;values&quot;:[1,1,1,1,2,2,2,2,3,3,3,3]}]},&quot;footnote&quot;:&quot;Groups: challengers, contenders, leaders.&quot;,&quot;scatter&quot;:{&quot;markers&quot;:[&quot;circle&quot;,&quot;diamond&quot;,&quot;triangle&quot;]}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500,&quot;height&quot;:300,&quot;title&quot;:&quot;Benchmark markers — consensus per quarter, on the columns' own scale&quot;,&quot;data&quot;:{&quot;categories&quot;:[&quot;Q1&quot;,&quot;Q2&quot;,&quot;Q3&quot;,&quot;Q4&quot;],&quot;series&quot;:[{&quot;name&quot;:&quot;Licenses&quot;,&quot;values&quot;:[28,31,30,36]},{&quot;name&quot;:&quot;Services&quot;,&quot;values&quot;:[12,14,17,15]},{&quot;name&quot;:&quot;Consensus&quot;,&quot;type&quot;:&quot;marker&quot;,&quot;values&quot;:[42,44,50,49]}]},&quot;decorations&quot;:{&quot;totals&quot;:true}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terfall&quot;,&quot;width&quot;:560,&quot;height&quot;:300,&quot;title&quot;:&quot;Bridge with “of which” detail columns — the walk steps over them&quot;,&quot;data&quot;:{&quot;categories&quot;:[&quot;FY23&quot;,&quot;Volume&quot;,&quot;Cost&quot;,&quot;&gt; Labour&quot;,&quot;&gt; Freight&quot;,&quot;&gt; Energy&quot;,&quot;FX&quot;,&quot;FY24&quot;],&quot;series&quot;:[{&quot;name&quot;:&quot;Delta&quot;,&quot;values&quot;:[86,14,-12,-7,-3,-2,-4,0]}]},&quot;waterfall&quot;:{&quot;totalIndices&quot;:[7],&quot;detailGroups&quot;:[{&quot;of&quot;:2,&quot;indices&quot;:[3,4,5]}]},&quot;decorations&quot;:{&quot;categoryAxis&quot;:true}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gantt&quot;,&quot;width&quot;:560,&quot;height&quot;:280,&quot;title&quot;:&quot;Plan grouped into owner lanes — dependencies follow their rows&quot;,&quot;data&quot;:{&quot;categories&quot;:[&quot;Spec | Ana&quot;,&quot;Build | Ben&quot;,&quot;Review | Ana&quot;,&quot;Ship | Ben&quot;,&quot;Handover&quot;],&quot;series&quot;:[{&quot;name&quot;:&quot;Start&quot;,&quot;values&quot;:[20458,20465,20472,20479,20486]},{&quot;name&quot;:&quot;End&quot;,&quot;values&quot;:[20465,20472,20479,20486,20489]},{&quot;name&quot;:&quot;After&quot;,&quot;values&quot;:[null,1,2,3,4]}],&quot;dates&quot;:true},&quot;gantt&quot;:{&quot;lanes&quot;:&quot;owner&quot;},&quot;decorations&quot;:{&quot;summaryBars&quot;:true}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violin&quot;,&quot;render&quot;:&quot;image&quot;,&quot;width&quot;:480,&quot;height&quot;:300,&quot;title&quot;:&quot;Latency distribution (as one picture)&quot;,&quot;data&quot;:{&quot;categories&quot;:[&quot;API&quot;,&quot;Web&quot;,&quot;Batch&quot;],&quot;series&quot;:[{&quot;name&quot;:&quot;s1&quot;,&quot;values&quot;:[95,150,310]},{&quot;name&quot;:&quot;s2&quot;,&quot;values&quot;:[100,158,330]},{&quot;name&quot;:&quot;s3&quot;,&quot;values&quot;:[105,166,350]},{&quot;name&quot;:&quot;s4&quot;,&quot;values&quot;:[110,174,370]},{&quot;name&quot;:&quot;s5&quot;,&quot;values&quot;:[115,182,390]},{&quot;name&quot;:&quot;s6&quot;,&quot;values&quot;:[120,190,410]},{&quot;name&quot;:&quot;s7&quot;,&quot;values&quot;:[125,198,430]},{&quot;name&quot;:&quot;s8&quot;,&quot;values&quot;:[130,206,450]},{&quot;name&quot;:&quot;s9&quot;,&quot;values&quot;:[135,214,470]},{&quot;name&quot;:&quot;s10&quot;,&quot;values&quot;:[140,222,490]}]},&quot;decorations&quot;:{&quot;categoryAxis&quot;:true,&quot;valueAxis&quot;:true}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horizontal&quot;:true,&quot;width&quot;:480,&quot;height&quot;:300,&quot;title&quot;:&quot;Bullet graph — actual vs target, the way one is usually drawn&quot;,&quot;decorations&quot;:{&quot;categoryAxis&quot;:true,&quot;valueAxis&quot;:true,&quot;bands&quot;:[{&quot;axis&quot;:&quot;y&quot;,&quot;from&quot;:0,&quot;to&quot;:55,&quot;label&quot;:&quot;poor&quot;},{&quot;axis&quot;:&quot;y&quot;,&quot;from&quot;:55,&quot;to&quot;:75,&quot;label&quot;:&quot;ok&quot;},{&quot;axis&quot;:&quot;y&quot;,&quot;from&quot;:75,&quot;to&quot;:100,&quot;label&quot;:&quot;good&quot;}]},&quot;data&quot;:{&quot;categories&quot;:[&quot;North&quot;,&quot;South&quot;,&quot;East&quot;],&quot;series&quot;:[{&quot;name&quot;:&quot;Actual&quot;,&quot;values&quot;:[70,55,90]},{&quot;name&quot;:&quot;Target&quot;,&quot;values&quot;:[80,60,85]}]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123</Slides>
  <Notes>123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2026-10-25T00:00:34Z</dcterms:created>
  <dcterms:modified xsi:type="dcterms:W3CDTF">2026-10-25T00:00:34Z</dcterms:modified>
</cp:coreProperties>
</file>